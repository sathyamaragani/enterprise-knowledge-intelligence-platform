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914400" cy="54864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1554480"/>
            <a:ext cx="640080" cy="64008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692640" y="822960"/>
            <a:ext cx="1554480" cy="18288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1554480"/>
            <a:ext cx="365760" cy="82296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194560"/>
            <a:ext cx="274320" cy="82296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2377440"/>
            <a:ext cx="731520" cy="64008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14400" y="5212080"/>
            <a:ext cx="640080" cy="54864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40080" y="5120640"/>
            <a:ext cx="274320" cy="64008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5212080"/>
            <a:ext cx="457200" cy="82296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52176" y="149961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9921240" y="214884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01400" y="77724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08792" y="2313432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86416" y="296265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" y="5696712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1508760" y="516636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507492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18745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Knowledge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Relational, Document, and Vector Data Architecture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Governed, Semantic Enterprise Knowledge Retrieval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4617720"/>
            <a:ext cx="219456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00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</a:t>
            </a:r>
            <a:pPr indent="0" marL="0">
              <a:buNone/>
            </a:pPr>
            <a:r>
              <a:rPr lang="en-US" sz="13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B.Tech CSE (AI &amp; Data Science)  ·  KL University, Hyderabad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Review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Literature 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— SOPs, technical specs, institutional know-how — is scattered across file shares, wikis, and chat logs. Legacy single-database systems can't equally serve structured, semi-structured, and unstructured content, producing two recurring failures: poor discoverability (keyword search misses meaning) and weak governance (access control too permissive or too rigid).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3364992" cy="3520440"/>
          </a:xfrm>
          <a:prstGeom prst="roundRect">
            <a:avLst>
              <a:gd name="adj" fmla="val 217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2222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6517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" y="26334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Paradigms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072384"/>
            <a:ext cx="2962656" cy="0"/>
          </a:xfrm>
          <a:prstGeom prst="line">
            <a:avLst/>
          </a:prstGeom>
          <a:noFill/>
          <a:ln w="12700">
            <a:solidFill>
              <a:srgbClr val="D7DC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278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&amp; Ross (2013)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34472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modeling — strong consistency; rigid schema limits fit for evolving content.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41422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Sadalage &amp; Fowler (2012)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43616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no single DB is optimal; combining stores adds sync overhead.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50566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(2023)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52760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Schema-flexible document storage — weaker joins &amp; transactional guarantees than SQL.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9664" y="2450592"/>
            <a:ext cx="3364992" cy="3520440"/>
          </a:xfrm>
          <a:prstGeom prst="roundRect">
            <a:avLst>
              <a:gd name="adj" fmla="val 217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2222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26517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370832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73168" y="26334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&amp; Retrieval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70832" y="3072384"/>
            <a:ext cx="2962656" cy="0"/>
          </a:xfrm>
          <a:prstGeom prst="line">
            <a:avLst/>
          </a:prstGeom>
          <a:noFill/>
          <a:ln w="12700">
            <a:solidFill>
              <a:srgbClr val="D7D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32278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&amp; Gurevych (2019)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70832" y="34472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— embeddings where similarity maps to vector distance.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70832" y="41422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Malkov &amp; Yashunin (2020)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70832" y="43616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graphs enable efficient ANN search over millions of vectors.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70832" y="50566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0832" y="52760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semantic retrieval feeding relevant context into language tasks.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90688" y="2450592"/>
            <a:ext cx="3364992" cy="3520440"/>
          </a:xfrm>
          <a:prstGeom prst="roundRect">
            <a:avLst>
              <a:gd name="adj" fmla="val 217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2222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91856" y="26517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991856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94192" y="26334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API Security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91856" y="3072384"/>
            <a:ext cx="2962656" cy="0"/>
          </a:xfrm>
          <a:prstGeom prst="line">
            <a:avLst/>
          </a:prstGeom>
          <a:noFill/>
          <a:ln w="12700">
            <a:solidFill>
              <a:srgbClr val="D7DC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91856" y="32278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Ferraiolo et al. (2007)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91856" y="34472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balances expressiveness and administrative simplicity.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91856" y="41422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Hardt, IETF RFC 6749 (2012)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91856" y="43616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— standardized delegated authorization for REST APIs.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91856" y="50566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et al., RFC 7519 (2015)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91856" y="527608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 — compact, self-contained tokens for stateless sessions.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· Machine Learning Project Review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Analysis &amp; Research Gaps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research strand solves one dimension well but leaves the others unaddressed in isolation — no reviewed work integrates storage flexibility, semantic retrieval, and governed access together. That gap defines the space EKIP occupies.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6829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Literature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Solves structure vs. flexibility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Silent on retrieval quality or security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9664" y="224028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236829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Literature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52544" y="271576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Solves lexical vs. semantic matching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52544" y="31546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Assumes an open, ungoverned corpus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90688" y="224028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973568" y="236829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Literature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73568" y="271576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Solves authorization &amp; stateless 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3568" y="31546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Assumes content is already organized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138928" cy="1051560"/>
          </a:xfrm>
          <a:prstGeom prst="roundRect">
            <a:avLst>
              <a:gd name="adj" fmla="val 6087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1422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4105656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governance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98448" y="4379976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enforced per-database, not consistently across relational, document, and vector data.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07024" y="3977640"/>
            <a:ext cx="5138928" cy="1051560"/>
          </a:xfrm>
          <a:prstGeom prst="roundRect">
            <a:avLst>
              <a:gd name="adj" fmla="val 6087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41422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6071616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56832" y="4105656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assumes open corpus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56832" y="4379976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research rarely resolves results against per-user permissions before returning content.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5138928" cy="1051560"/>
          </a:xfrm>
          <a:prstGeom prst="roundRect">
            <a:avLst>
              <a:gd name="adj" fmla="val 6087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3766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98448" y="5340096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canonical linkage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298448" y="5614416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Polyglot-persistence work lacks a concrete strategy for keeping three data stores referentially consistent.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07024" y="5212080"/>
            <a:ext cx="5138928" cy="1051560"/>
          </a:xfrm>
          <a:prstGeom prst="roundRect">
            <a:avLst>
              <a:gd name="adj" fmla="val 6087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1616" y="53766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/>
        </p:spPr>
      </p:sp>
      <p:sp>
        <p:nvSpPr>
          <p:cNvPr id="35" name="Text 33"/>
          <p:cNvSpPr/>
          <p:nvPr/>
        </p:nvSpPr>
        <p:spPr>
          <a:xfrm>
            <a:off x="6071616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56832" y="5340096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hybrid evaluation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56832" y="5614416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studies compare keyword-only, semantic-only, and hybrid re-ranked search within one governed system.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· Machine Learning Project Review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 &amp; Method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unifies relational, document, and vector storage behind one governed API. A canonical document UUID links every record across all three stores; every search result is resolved against the permissions table before it is returned.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579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  →  API Gateway (Auth · Routing · Rate Limiting)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706624"/>
            <a:ext cx="1847088" cy="713232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066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2706624"/>
            <a:ext cx="1847088" cy="713232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7066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706624"/>
            <a:ext cx="1847088" cy="713232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7066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2706624"/>
            <a:ext cx="1847088" cy="713232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7066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23960" y="2706624"/>
            <a:ext cx="1847088" cy="713232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7066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364992" cy="777240"/>
          </a:xfrm>
          <a:prstGeom prst="roundRect">
            <a:avLst>
              <a:gd name="adj" fmla="val 8235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862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788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Permissions · Audit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9664" y="3794760"/>
            <a:ext cx="3364992" cy="777240"/>
          </a:xfrm>
          <a:prstGeom prst="roundRect">
            <a:avLst>
              <a:gd name="adj" fmla="val 8235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38862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52544" y="41788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articles · Versions · Tags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90688" y="3794760"/>
            <a:ext cx="3364992" cy="777240"/>
          </a:xfrm>
          <a:prstGeom prst="roundRect">
            <a:avLst>
              <a:gd name="adj" fmla="val 8235"/>
            </a:avLst>
          </a:prstGeom>
          <a:solidFill>
            <a:srgbClr val="F3F5FC"/>
          </a:solidFill>
          <a:ln w="9525">
            <a:solidFill>
              <a:srgbClr val="D7D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38862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73568" y="41788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for semantic similarity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6451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document UUID links every record across all three stores.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Request Flow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431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JWT sent to /search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2359152" y="5394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</p:spPr>
      </p:sp>
      <p:sp>
        <p:nvSpPr>
          <p:cNvPr id="33" name="Text 31"/>
          <p:cNvSpPr/>
          <p:nvPr/>
        </p:nvSpPr>
        <p:spPr>
          <a:xfrm>
            <a:off x="2432304" y="5431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32304" y="56144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token &amp; role claims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169664" y="5394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242816" y="5431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42816" y="56144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 embeds query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980176" y="5394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</p:spPr>
      </p:sp>
      <p:sp>
        <p:nvSpPr>
          <p:cNvPr id="39" name="Text 37"/>
          <p:cNvSpPr/>
          <p:nvPr/>
        </p:nvSpPr>
        <p:spPr>
          <a:xfrm>
            <a:off x="6053328" y="5431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53328" y="56144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returns top-k chunks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7790688" y="5394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5431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56144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filtered by permissions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9601200" y="5394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</p:spPr>
      </p:sp>
      <p:sp>
        <p:nvSpPr>
          <p:cNvPr id="45" name="Text 43"/>
          <p:cNvSpPr/>
          <p:nvPr/>
        </p:nvSpPr>
        <p:spPr>
          <a:xfrm>
            <a:off x="9674352" y="5431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74352" y="56144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permitted content returned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· Machine Learning Project Review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38928" cy="914400"/>
          </a:xfrm>
          <a:prstGeom prst="roundRect">
            <a:avLst>
              <a:gd name="adj" fmla="val 7000"/>
            </a:avLst>
          </a:prstGeom>
          <a:solidFill>
            <a:srgbClr val="222A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/ Recall@k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020824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benchmarked against keyword-only and semantic-only modes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07024" y="1600200"/>
            <a:ext cx="5138928" cy="914400"/>
          </a:xfrm>
          <a:prstGeom prst="roundRect">
            <a:avLst>
              <a:gd name="adj" fmla="val 7000"/>
            </a:avLst>
          </a:prstGeom>
          <a:solidFill>
            <a:srgbClr val="222A5C"/>
          </a:solidFill>
          <a:ln/>
        </p:spPr>
      </p:sp>
      <p:sp>
        <p:nvSpPr>
          <p:cNvPr id="9" name="Text 7"/>
          <p:cNvSpPr/>
          <p:nvPr/>
        </p:nvSpPr>
        <p:spPr>
          <a:xfrm>
            <a:off x="6108192" y="170992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08192" y="2020824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measured under simulated concurrent load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138928" cy="914400"/>
          </a:xfrm>
          <a:prstGeom prst="roundRect">
            <a:avLst>
              <a:gd name="adj" fmla="val 7000"/>
            </a:avLst>
          </a:prstGeom>
          <a:solidFill>
            <a:srgbClr val="2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80720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Throughput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3118104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served per second as replicas scale horizontally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07024" y="2697480"/>
            <a:ext cx="5138928" cy="914400"/>
          </a:xfrm>
          <a:prstGeom prst="roundRect">
            <a:avLst>
              <a:gd name="adj" fmla="val 7000"/>
            </a:avLst>
          </a:prstGeom>
          <a:solidFill>
            <a:srgbClr val="2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108192" y="280720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Access Compliance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3118104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resolved through the permissions table before return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0515600" cy="0"/>
          </a:xfrm>
          <a:prstGeom prst="line">
            <a:avLst/>
          </a:prstGeom>
          <a:noFill/>
          <a:ln w="12700">
            <a:solidFill>
              <a:srgbClr val="343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unifies relational, document, and vector storage behind a single, secure REST API — closing the gap between governed access and meaning-aware retrieval that isolated prior work leaves open.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212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automatic Q&amp;A over the knowledge base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07024" y="5312664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6108192" y="5212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email, chat, and ticketing systems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696712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596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re-ranking to improve relevance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07024" y="5696712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6108192" y="5596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empirical evaluation on production-scale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Intelligence Platform  ·  Batman  ·  KL University, Hyderabad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2026-08-28T03:11:38Z</dcterms:created>
  <dcterms:modified xsi:type="dcterms:W3CDTF">2026-08-28T03:11:38Z</dcterms:modified>
</cp:coreProperties>
</file>