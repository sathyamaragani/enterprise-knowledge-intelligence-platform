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11827"/>
                </a:solidFill>
                <a:latin typeface="Arial"/>
              </a:defRPr>
            </a:pPr>
            <a:r>
              <a:rPr lang="en-US" sz="1400" b="0" i="0" u="none" strike="noStrike">
                <a:solidFill>
                  <a:srgbClr val="111827"/>
                </a:solidFill>
                <a:latin typeface="Arial"/>
              </a:rPr>
              <a:t>Lines of code per engine package</a:t>
            </a:r>
          </a:p>
        </c:rich>
      </c:tx>
      <c:overlay val="0"/>
    </c:title>
    <c:autoTitleDeleted val="0"/>
    <c:plotArea>
      <c:layout/>
      <c:barChart>
        <c:barDir val="bar"/>
        <c:grouping val="clustered"/>
        <c:varyColors val="0"/>
        <c:ser>
          <c:idx val="0"/>
          <c:order val="0"/>
          <c:tx>
            <c:strRef>
              <c:f>Sheet1!$B$1</c:f>
              <c:strCache>
                <c:ptCount val="1"/>
                <c:pt idx="0">
                  <c:v>Lines of code</c:v>
                </c:pt>
              </c:strCache>
            </c:strRef>
          </c:tx>
          <c:spPr>
            <a:solidFill>
              <a:srgbClr val="4338CA"/>
            </a:solidFill>
            <a:effectLst/>
          </c:spPr>
          <c:invertIfNegative val="0"/>
          <c:dLbls>
            <c:numFmt formatCode="#,##0" sourceLinked="0"/>
            <c:spPr>
              <a:noFill/>
              <a:ln>
                <a:noFill/>
              </a:ln>
              <a:effectLst/>
            </c:spPr>
            <c:txPr>
              <a:bodyPr/>
              <a:lstStyle/>
              <a:p>
                <a:pPr>
                  <a:defRPr sz="1200" b="1" i="0" u="none" strike="noStrike">
                    <a:solidFill>
                      <a:srgbClr val="11182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string</c:v>
                </c:pt>
                <c:pt idx="1">
                  <c:v>engine</c:v>
                </c:pt>
                <c:pt idx="2">
                  <c:v>graph</c:v>
                </c:pt>
                <c:pt idx="3">
                  <c:v>dp</c:v>
                </c:pt>
                <c:pt idx="4">
                  <c:v>randomized</c:v>
                </c:pt>
                <c:pt idx="5">
                  <c:v>approximation</c:v>
                </c:pt>
                <c:pt idx="6">
                  <c:v>core</c:v>
                </c:pt>
              </c:strCache>
            </c:strRef>
          </c:cat>
          <c:val>
            <c:numRef>
              <c:f>Sheet1!$B$2:$B$8</c:f>
              <c:numCache>
                <c:formatCode>General</c:formatCode>
                <c:ptCount val="7"/>
                <c:pt idx="0">
                  <c:v>918</c:v>
                </c:pt>
                <c:pt idx="1">
                  <c:v>841</c:v>
                </c:pt>
                <c:pt idx="2">
                  <c:v>730</c:v>
                </c:pt>
                <c:pt idx="3">
                  <c:v>708</c:v>
                </c:pt>
                <c:pt idx="4">
                  <c:v>412</c:v>
                </c:pt>
                <c:pt idx="5">
                  <c:v>364</c:v>
                </c:pt>
                <c:pt idx="6">
                  <c:v>314</c:v>
                </c:pt>
              </c:numCache>
            </c:numRef>
          </c:val>
          <c:extLst>
            <c:ext xmlns:c16="http://schemas.microsoft.com/office/drawing/2014/chart" uri="{C3380CC4-5D6E-409C-BE32-E72D297353CC}">
              <c16:uniqueId val="{00000000-ABCC-4914-8A96-DCC5A686609F}"/>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11827"/>
                </a:solidFill>
                <a:latin typeface="Consolas"/>
              </a:defRPr>
            </a:pPr>
            <a:endParaRPr lang="en-US"/>
          </a:p>
        </c:txPr>
        <c:crossAx val="2094734552"/>
        <c:crosses val="autoZero"/>
        <c:auto val="1"/>
        <c:lblAlgn val="ctr"/>
        <c:lblOffset val="100"/>
        <c:noMultiLvlLbl val="1"/>
      </c:catAx>
      <c:valAx>
        <c:axId val="2094734552"/>
        <c:scaling>
          <c:orientation val="minMax"/>
          <c:max val="110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11827"/>
                </a:solidFill>
                <a:latin typeface="Arial"/>
              </a:defRPr>
            </a:pPr>
            <a:r>
              <a:rPr lang="en-US" sz="1400" b="0" i="0" u="none" strike="noStrike">
                <a:solidFill>
                  <a:srgbClr val="111827"/>
                </a:solidFill>
                <a:latin typeface="Arial"/>
              </a:rPr>
              <a:t>Exact search time (ms) vs text length</a:t>
            </a:r>
          </a:p>
        </c:rich>
      </c:tx>
      <c:overlay val="0"/>
    </c:title>
    <c:autoTitleDeleted val="0"/>
    <c:plotArea>
      <c:layout/>
      <c:lineChart>
        <c:grouping val="standard"/>
        <c:varyColors val="0"/>
        <c:ser>
          <c:idx val="0"/>
          <c:order val="0"/>
          <c:tx>
            <c:strRef>
              <c:f>Sheet1!$B$1</c:f>
              <c:strCache>
                <c:ptCount val="1"/>
                <c:pt idx="0">
                  <c:v>Naive</c:v>
                </c:pt>
              </c:strCache>
            </c:strRef>
          </c:tx>
          <c:spPr>
            <a:ln w="31750" cap="flat">
              <a:solidFill>
                <a:srgbClr val="DC2626"/>
              </a:solidFill>
              <a:prstDash val="solid"/>
              <a:round/>
            </a:ln>
            <a:effectLst/>
          </c:spPr>
          <c:marker>
            <c:symbol val="circle"/>
            <c:size val="7"/>
            <c:spPr>
              <a:solidFill>
                <a:srgbClr val="DC2626"/>
              </a:solidFill>
              <a:ln w="9525" cap="flat">
                <a:solidFill>
                  <a:srgbClr val="DC2626"/>
                </a:solidFill>
                <a:prstDash val="solid"/>
                <a:round/>
              </a:ln>
              <a:effectLst/>
            </c:spPr>
          </c:marker>
          <c:cat>
            <c:strRef>
              <c:f>Sheet1!$A$2:$A$5</c:f>
              <c:strCache>
                <c:ptCount val="4"/>
                <c:pt idx="0">
                  <c:v>20k</c:v>
                </c:pt>
                <c:pt idx="1">
                  <c:v>40k</c:v>
                </c:pt>
                <c:pt idx="2">
                  <c:v>80k</c:v>
                </c:pt>
                <c:pt idx="3">
                  <c:v>160k</c:v>
                </c:pt>
              </c:strCache>
            </c:strRef>
          </c:cat>
          <c:val>
            <c:numRef>
              <c:f>Sheet1!$B$2:$B$5</c:f>
              <c:numCache>
                <c:formatCode>General</c:formatCode>
                <c:ptCount val="4"/>
                <c:pt idx="0">
                  <c:v>1.64</c:v>
                </c:pt>
                <c:pt idx="1">
                  <c:v>3.23</c:v>
                </c:pt>
                <c:pt idx="2">
                  <c:v>6.78</c:v>
                </c:pt>
                <c:pt idx="3">
                  <c:v>13.68</c:v>
                </c:pt>
              </c:numCache>
            </c:numRef>
          </c:val>
          <c:smooth val="0"/>
          <c:extLst>
            <c:ext xmlns:c16="http://schemas.microsoft.com/office/drawing/2014/chart" uri="{C3380CC4-5D6E-409C-BE32-E72D297353CC}">
              <c16:uniqueId val="{00000000-1891-4C71-BCFF-389202D8B16B}"/>
            </c:ext>
          </c:extLst>
        </c:ser>
        <c:ser>
          <c:idx val="1"/>
          <c:order val="1"/>
          <c:tx>
            <c:strRef>
              <c:f>Sheet1!$C$1</c:f>
              <c:strCache>
                <c:ptCount val="1"/>
                <c:pt idx="0">
                  <c:v>Rabin-Karp</c:v>
                </c:pt>
              </c:strCache>
            </c:strRef>
          </c:tx>
          <c:spPr>
            <a:ln w="31750" cap="flat">
              <a:solidFill>
                <a:srgbClr val="F59E0B"/>
              </a:solidFill>
              <a:prstDash val="solid"/>
              <a:round/>
            </a:ln>
            <a:effectLst/>
          </c:spPr>
          <c:marker>
            <c:symbol val="circle"/>
            <c:size val="7"/>
            <c:spPr>
              <a:solidFill>
                <a:srgbClr val="F59E0B"/>
              </a:solidFill>
              <a:ln w="9525" cap="flat">
                <a:solidFill>
                  <a:srgbClr val="F59E0B"/>
                </a:solidFill>
                <a:prstDash val="solid"/>
                <a:round/>
              </a:ln>
              <a:effectLst/>
            </c:spPr>
          </c:marker>
          <c:cat>
            <c:strRef>
              <c:f>Sheet1!$A$2:$A$5</c:f>
              <c:strCache>
                <c:ptCount val="4"/>
                <c:pt idx="0">
                  <c:v>20k</c:v>
                </c:pt>
                <c:pt idx="1">
                  <c:v>40k</c:v>
                </c:pt>
                <c:pt idx="2">
                  <c:v>80k</c:v>
                </c:pt>
                <c:pt idx="3">
                  <c:v>160k</c:v>
                </c:pt>
              </c:strCache>
            </c:strRef>
          </c:cat>
          <c:val>
            <c:numRef>
              <c:f>Sheet1!$C$2:$C$5</c:f>
              <c:numCache>
                <c:formatCode>General</c:formatCode>
                <c:ptCount val="4"/>
                <c:pt idx="0">
                  <c:v>0.52</c:v>
                </c:pt>
                <c:pt idx="1">
                  <c:v>0.87</c:v>
                </c:pt>
                <c:pt idx="2">
                  <c:v>1.4</c:v>
                </c:pt>
                <c:pt idx="3">
                  <c:v>2.84</c:v>
                </c:pt>
              </c:numCache>
            </c:numRef>
          </c:val>
          <c:smooth val="0"/>
          <c:extLst>
            <c:ext xmlns:c16="http://schemas.microsoft.com/office/drawing/2014/chart" uri="{C3380CC4-5D6E-409C-BE32-E72D297353CC}">
              <c16:uniqueId val="{00000001-1891-4C71-BCFF-389202D8B16B}"/>
            </c:ext>
          </c:extLst>
        </c:ser>
        <c:ser>
          <c:idx val="2"/>
          <c:order val="2"/>
          <c:tx>
            <c:strRef>
              <c:f>Sheet1!$D$1</c:f>
              <c:strCache>
                <c:ptCount val="1"/>
                <c:pt idx="0">
                  <c:v>KMP</c:v>
                </c:pt>
              </c:strCache>
            </c:strRef>
          </c:tx>
          <c:spPr>
            <a:ln w="31750" cap="flat">
              <a:solidFill>
                <a:srgbClr val="4338CA"/>
              </a:solidFill>
              <a:prstDash val="solid"/>
              <a:round/>
            </a:ln>
            <a:effectLst/>
          </c:spPr>
          <c:marker>
            <c:symbol val="circle"/>
            <c:size val="7"/>
            <c:spPr>
              <a:solidFill>
                <a:srgbClr val="4338CA"/>
              </a:solidFill>
              <a:ln w="9525" cap="flat">
                <a:solidFill>
                  <a:srgbClr val="4338CA"/>
                </a:solidFill>
                <a:prstDash val="solid"/>
                <a:round/>
              </a:ln>
              <a:effectLst/>
            </c:spPr>
          </c:marker>
          <c:cat>
            <c:strRef>
              <c:f>Sheet1!$A$2:$A$5</c:f>
              <c:strCache>
                <c:ptCount val="4"/>
                <c:pt idx="0">
                  <c:v>20k</c:v>
                </c:pt>
                <c:pt idx="1">
                  <c:v>40k</c:v>
                </c:pt>
                <c:pt idx="2">
                  <c:v>80k</c:v>
                </c:pt>
                <c:pt idx="3">
                  <c:v>160k</c:v>
                </c:pt>
              </c:strCache>
            </c:strRef>
          </c:cat>
          <c:val>
            <c:numRef>
              <c:f>Sheet1!$D$2:$D$5</c:f>
              <c:numCache>
                <c:formatCode>General</c:formatCode>
                <c:ptCount val="4"/>
                <c:pt idx="0">
                  <c:v>1.1499999999999999</c:v>
                </c:pt>
                <c:pt idx="1">
                  <c:v>0.38</c:v>
                </c:pt>
                <c:pt idx="2">
                  <c:v>0.53</c:v>
                </c:pt>
                <c:pt idx="3">
                  <c:v>1.05</c:v>
                </c:pt>
              </c:numCache>
            </c:numRef>
          </c:val>
          <c:smooth val="0"/>
          <c:extLst>
            <c:ext xmlns:c16="http://schemas.microsoft.com/office/drawing/2014/chart" uri="{C3380CC4-5D6E-409C-BE32-E72D297353CC}">
              <c16:uniqueId val="{00000002-1891-4C71-BCFF-389202D8B16B}"/>
            </c:ext>
          </c:extLst>
        </c:ser>
        <c:ser>
          <c:idx val="3"/>
          <c:order val="3"/>
          <c:tx>
            <c:strRef>
              <c:f>Sheet1!$E$1</c:f>
              <c:strCache>
                <c:ptCount val="1"/>
                <c:pt idx="0">
                  <c:v>Z-algorithm</c:v>
                </c:pt>
              </c:strCache>
            </c:strRef>
          </c:tx>
          <c:spPr>
            <a:ln w="31750" cap="flat">
              <a:solidFill>
                <a:srgbClr val="0891B2"/>
              </a:solidFill>
              <a:prstDash val="solid"/>
              <a:round/>
            </a:ln>
            <a:effectLst/>
          </c:spPr>
          <c:marker>
            <c:symbol val="circle"/>
            <c:size val="7"/>
            <c:spPr>
              <a:solidFill>
                <a:srgbClr val="0891B2"/>
              </a:solidFill>
              <a:ln w="9525" cap="flat">
                <a:solidFill>
                  <a:srgbClr val="0891B2"/>
                </a:solidFill>
                <a:prstDash val="solid"/>
                <a:round/>
              </a:ln>
              <a:effectLst/>
            </c:spPr>
          </c:marker>
          <c:cat>
            <c:strRef>
              <c:f>Sheet1!$A$2:$A$5</c:f>
              <c:strCache>
                <c:ptCount val="4"/>
                <c:pt idx="0">
                  <c:v>20k</c:v>
                </c:pt>
                <c:pt idx="1">
                  <c:v>40k</c:v>
                </c:pt>
                <c:pt idx="2">
                  <c:v>80k</c:v>
                </c:pt>
                <c:pt idx="3">
                  <c:v>160k</c:v>
                </c:pt>
              </c:strCache>
            </c:strRef>
          </c:cat>
          <c:val>
            <c:numRef>
              <c:f>Sheet1!$E$2:$E$5</c:f>
              <c:numCache>
                <c:formatCode>General</c:formatCode>
                <c:ptCount val="4"/>
                <c:pt idx="0">
                  <c:v>0.96</c:v>
                </c:pt>
                <c:pt idx="1">
                  <c:v>1.79</c:v>
                </c:pt>
                <c:pt idx="2">
                  <c:v>0.51</c:v>
                </c:pt>
                <c:pt idx="3">
                  <c:v>1.03</c:v>
                </c:pt>
              </c:numCache>
            </c:numRef>
          </c:val>
          <c:smooth val="0"/>
          <c:extLst>
            <c:ext xmlns:c16="http://schemas.microsoft.com/office/drawing/2014/chart" uri="{C3380CC4-5D6E-409C-BE32-E72D297353CC}">
              <c16:uniqueId val="{00000003-1891-4C71-BCFF-389202D8B16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4B5563"/>
                    </a:solidFill>
                    <a:latin typeface="Arial"/>
                  </a:defRPr>
                </a:pPr>
                <a:r>
                  <a:rPr lang="en-IN" sz="1100" b="0" i="0" u="none" strike="noStrike">
                    <a:solidFill>
                      <a:srgbClr val="4B5563"/>
                    </a:solidFill>
                    <a:latin typeface="Arial"/>
                  </a:rPr>
                  <a:t>text length (characters)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563"/>
                </a:solidFill>
                <a:latin typeface="Arial"/>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556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11827"/>
                </a:solidFill>
                <a:latin typeface="Arial"/>
              </a:defRPr>
            </a:pPr>
            <a:r>
              <a:rPr lang="en-IN" sz="1400" b="0" i="0" u="none" strike="noStrike">
                <a:solidFill>
                  <a:srgbClr val="111827"/>
                </a:solidFill>
                <a:latin typeface="Arial"/>
              </a:rPr>
              <a:t>Multi-pattern search time (ms)</a:t>
            </a:r>
          </a:p>
        </c:rich>
      </c:tx>
      <c:overlay val="0"/>
    </c:title>
    <c:autoTitleDeleted val="0"/>
    <c:plotArea>
      <c:layout/>
      <c:barChart>
        <c:barDir val="col"/>
        <c:grouping val="clustered"/>
        <c:varyColors val="0"/>
        <c:ser>
          <c:idx val="0"/>
          <c:order val="0"/>
          <c:tx>
            <c:strRef>
              <c:f>Sheet1!$B$1</c:f>
              <c:strCache>
                <c:ptCount val="1"/>
                <c:pt idx="0">
                  <c:v>Aho-Corasick</c:v>
                </c:pt>
              </c:strCache>
            </c:strRef>
          </c:tx>
          <c:spPr>
            <a:solidFill>
              <a:srgbClr val="4338CA"/>
            </a:solidFill>
            <a:effectLst/>
          </c:spPr>
          <c:invertIfNegative val="0"/>
          <c:dLbls>
            <c:numFmt formatCode="0.0" sourceLinked="0"/>
            <c:spPr>
              <a:noFill/>
              <a:ln>
                <a:noFill/>
              </a:ln>
              <a:effectLst/>
            </c:spPr>
            <c:txPr>
              <a:bodyPr/>
              <a:lstStyle/>
              <a:p>
                <a:pPr>
                  <a:defRPr sz="1100" b="0" i="0" u="none" strike="noStrike">
                    <a:solidFill>
                      <a:srgbClr val="11182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5 patterns</c:v>
                </c:pt>
                <c:pt idx="1">
                  <c:v>20 patterns</c:v>
                </c:pt>
                <c:pt idx="2">
                  <c:v>80 patterns</c:v>
                </c:pt>
              </c:strCache>
            </c:strRef>
          </c:cat>
          <c:val>
            <c:numRef>
              <c:f>Sheet1!$B$2:$B$4</c:f>
              <c:numCache>
                <c:formatCode>General</c:formatCode>
                <c:ptCount val="3"/>
                <c:pt idx="0">
                  <c:v>5.75</c:v>
                </c:pt>
                <c:pt idx="1">
                  <c:v>6.54</c:v>
                </c:pt>
                <c:pt idx="2">
                  <c:v>7.73</c:v>
                </c:pt>
              </c:numCache>
            </c:numRef>
          </c:val>
          <c:extLst>
            <c:ext xmlns:c16="http://schemas.microsoft.com/office/drawing/2014/chart" uri="{C3380CC4-5D6E-409C-BE32-E72D297353CC}">
              <c16:uniqueId val="{00000000-F5FC-4986-BE8E-7694AAC58BDB}"/>
            </c:ext>
          </c:extLst>
        </c:ser>
        <c:ser>
          <c:idx val="1"/>
          <c:order val="1"/>
          <c:tx>
            <c:strRef>
              <c:f>Sheet1!$C$1</c:f>
              <c:strCache>
                <c:ptCount val="1"/>
                <c:pt idx="0">
                  <c:v>KMP × k</c:v>
                </c:pt>
              </c:strCache>
            </c:strRef>
          </c:tx>
          <c:spPr>
            <a:solidFill>
              <a:srgbClr val="F59E0B"/>
            </a:solidFill>
            <a:effectLst/>
          </c:spPr>
          <c:invertIfNegative val="0"/>
          <c:dLbls>
            <c:numFmt formatCode="0.0" sourceLinked="0"/>
            <c:spPr>
              <a:noFill/>
              <a:ln>
                <a:noFill/>
              </a:ln>
              <a:effectLst/>
            </c:spPr>
            <c:txPr>
              <a:bodyPr/>
              <a:lstStyle/>
              <a:p>
                <a:pPr>
                  <a:defRPr sz="1100" b="0" i="0" u="none" strike="noStrike">
                    <a:solidFill>
                      <a:srgbClr val="11182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5 patterns</c:v>
                </c:pt>
                <c:pt idx="1">
                  <c:v>20 patterns</c:v>
                </c:pt>
                <c:pt idx="2">
                  <c:v>80 patterns</c:v>
                </c:pt>
              </c:strCache>
            </c:strRef>
          </c:cat>
          <c:val>
            <c:numRef>
              <c:f>Sheet1!$C$2:$C$4</c:f>
              <c:numCache>
                <c:formatCode>General</c:formatCode>
                <c:ptCount val="3"/>
                <c:pt idx="0">
                  <c:v>7.5</c:v>
                </c:pt>
                <c:pt idx="1">
                  <c:v>30.15</c:v>
                </c:pt>
                <c:pt idx="2">
                  <c:v>120.25</c:v>
                </c:pt>
              </c:numCache>
            </c:numRef>
          </c:val>
          <c:extLst>
            <c:ext xmlns:c16="http://schemas.microsoft.com/office/drawing/2014/chart" uri="{C3380CC4-5D6E-409C-BE32-E72D297353CC}">
              <c16:uniqueId val="{00000001-F5FC-4986-BE8E-7694AAC58BD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563"/>
                </a:solidFill>
                <a:latin typeface="Arial"/>
              </a:defRPr>
            </a:pPr>
            <a:endParaRPr lang="en-US"/>
          </a:p>
        </c:txPr>
        <c:crossAx val="2094734552"/>
        <c:crosses val="autoZero"/>
        <c:auto val="1"/>
        <c:lblAlgn val="ctr"/>
        <c:lblOffset val="100"/>
        <c:noMultiLvlLbl val="1"/>
      </c:catAx>
      <c:valAx>
        <c:axId val="2094734552"/>
        <c:scaling>
          <c:orientation val="minMax"/>
          <c:max val="14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556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579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TextHack is the Data Structures and Algorithms part of our Enterprise Knowledge Intelligence Platform: an engine of 20 algorithms, written from scratch in Java, that the platform uses for keyword and fuzzy search and for a workbench where users can run the algorithms. The badges are the complexities we will keep coming back 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knowledge lives in documents, and people search it with imperfect queries. The need: the standard database tools only find exact substrings, and scanning once per term does not scale. The three chips at the bottom are the three kinds of query the engine has to handle.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statement. The three cards split it into the three algorithm families the platform actually needs: exact and multi-pattern matching, approximate matching, and graph structure.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objective has a measurable outcome, and every outcome on this slide was delivered. The numbers come from the repository and the test run.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implements the classic published algorithms; this is where each came from and what it contributes. Full references are on the last slides.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existing ways to solve the problem and why each falls short for this project. The third column is important: these textbook pitfalls are exactly the bugs our tests are designed to catch.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 in one sentence: a dependency-free engine that the backend compiles directly, so the same verified code runs in the tests and in production. The six cards are the key features, each with its complexity.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layer: the engine, with no dependencies. Middle: the Spring Boot backend compiles that same source as a second source root; the search service uses it for scoring, and the TextHack controller exposes it. Top: the React frontend. On the right, the engine's own verification, which runs without the platform.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package and its classes. The core package exists because the course bars java.util in the algorithms: IntList replaces ArrayList of Integer, CharMap is the trie child map, and Prng is a seeded generator so any failing random test can be reproduced.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six steps for every module. The key idea is step 2: a simple, obviously correct reference implementation, so step 4 can compare the efficient version against it on thousands of random inputs.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20 algorithms from the TextHack list. Damerau-Levenshtein comes in two variants, OSA and unrestricted, and scheduling in two, list and LPT, which is why the complexity registry has 22 entries.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needs only a JDK: no build tool, no test framework, nothing to download. That was deliberate, so anyone can compile and run the 452 assertions. The platform around it uses Spring Boot and React.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is 31 source files and 4,287 lines across seven packages, with another 3,113 lines of tests. The string and engine packages are the largest because they carry the most algorithms and the query language.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how the engine answers a query on its own. Bottom row: how the platform uses it for search. The scoring numbers are the constants in LexicalScorer: an exact phrase in a title scores 1.0; term coverage is capped at 0.9 so a partial match never ties with the exact phrase; a one-edit fuzzy match earns 0.7 credit and a two-edit match 0.5; terms of three characters or fewer are never fuzzed.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patterns, so the backend uses Aho-Corasick and finds all eleven matches in one pass. Note the nested patterns: "he" inside "she", and "he" and "hers" inside "ushers". The automaton reaches "he" through its output links. The longest repeated substring comes from the suffix array and LCP array.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"recieve the report" against "receive the reports". Levenshtein counts the swapped i and e as two edits, Damerau counts it as one, which is why search uses Damerau. Global alignment covers both whole strings; local alignment drops the trailing s. Right: six documents; Dinic finds two independent citation chains from 0 to 5, and the minimum cut is the two citations leaving document 0.</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workbench shows the engine's complexity registry, all 22 entries, served live from the API. Right: the demo that justifies Miller-Rabin. Carmichael numbers fool a Fermat test, because they satisfy Fermat's little theorem for every coprime base; Miller-Rabin rejects all of them and proves 2^61 − 1 prime exactly.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fuzzy search for "recieve". Plain Levenshtein ranks "relieve" first, one substitution, while the intended "receive" is a transposition that costs two, which motivates Damerau. Right: twelve short jobs and one long job on four machines. List scheduling places the long job last and gets 7; LPT sorts longest first and reaches the optimum of 4.</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with benchmarks.Benchmark, best of five runs after three warm-up rounds, on an AMD Ryzen 7 260 laptop. Left: the adversarial input a^40 b in a run of a's. Naive search grows linearly to 13.7 ms at 160,000 characters; KMP and Z stay near 1 ms. The small sizes are noisy because the JIT is still warming up. Right: Aho-Corasick stays flat as patterns are added, while running KMP once per pattern grows linearly.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benchmark output behind the charts. The growth-ratio columns are the point: suffix array construction roughly doubles when n doubles, which is O(n log n); Levenshtein grows four to six times when both strings double, which is O(n·m).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self-checking suites with 452 assertions and no failures. There is no JUnit: each suite is a plain Java program that prints PASS or FAIL and exits non-zero on failure, and run-tests.sh runs all six even if one fails.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technique is cross-validation against a reference. It already found a real bug, in the test rather than the algorithm: a hand-counted index was wrong, and the evidence was that all four matchers agreed with each other on 4,000 random cases while disagreeing with the constant.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benefits, each tied to something concrete in the implementation.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each algorithm family is used in practice. The first three are live in our platform; the rest are the same algorithms in other domains.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real issue from the build, documented in the complexity reference and test suites.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item is the one algorithm-list item deliberately not done, because it is a data and licensing task. The second is a known ceiling in the platform's search, marked in the code. The rest are algorithmic upgrades.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every objective from the start of the talk was met, with the evidence shown in the results and testing sections.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papers for every algorithm in the engine, plus the textbooks we used.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Useful follow-ups to be ready for: why Damerau and not Levenshtein for search; why Dinic and Edmonds-Karp are both used; how cross-validation found a bug in a test.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6"/>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5486400" cy="320040"/>
          </a:xfrm>
          <a:prstGeom prst="rect">
            <a:avLst/>
          </a:prstGeom>
          <a:noFill/>
          <a:ln/>
        </p:spPr>
        <p:txBody>
          <a:bodyPr wrap="square" lIns="0" tIns="0" rIns="0" bIns="0" rtlCol="0" anchor="t"/>
          <a:lstStyle/>
          <a:p>
            <a:pPr marL="0" indent="0">
              <a:buNone/>
            </a:pPr>
            <a:r>
              <a:rPr lang="en-US" sz="1600" b="1" dirty="0">
                <a:solidFill>
                  <a:srgbClr val="F59E0B"/>
                </a:solidFill>
                <a:latin typeface="Consolas" pitchFamily="34" charset="0"/>
                <a:ea typeface="Consolas" pitchFamily="34" charset="-122"/>
                <a:cs typeface="Consolas" pitchFamily="34" charset="-120"/>
              </a:rPr>
              <a:t>TextHack&gt; find "knowledge"</a:t>
            </a:r>
            <a:endParaRPr lang="en-US" sz="1600" dirty="0"/>
          </a:p>
        </p:txBody>
      </p:sp>
      <p:sp>
        <p:nvSpPr>
          <p:cNvPr id="3" name="Text 1"/>
          <p:cNvSpPr txBox="1"/>
          <p:nvPr/>
        </p:nvSpPr>
        <p:spPr>
          <a:xfrm>
            <a:off x="640080" y="1325880"/>
            <a:ext cx="6400800" cy="1005840"/>
          </a:xfrm>
          <a:prstGeom prst="rect">
            <a:avLst/>
          </a:prstGeom>
          <a:noFill/>
          <a:ln/>
        </p:spPr>
        <p:txBody>
          <a:bodyPr wrap="square" lIns="0" tIns="0" rIns="0" bIns="0" rtlCol="0" anchor="t"/>
          <a:lstStyle/>
          <a:p>
            <a:pPr marL="0" indent="0">
              <a:buNone/>
            </a:pPr>
            <a:r>
              <a:rPr lang="en-US" sz="6000" b="1" dirty="0">
                <a:solidFill>
                  <a:srgbClr val="FFFFFF"/>
                </a:solidFill>
                <a:latin typeface="Calibri" pitchFamily="34" charset="0"/>
                <a:ea typeface="Calibri" pitchFamily="34" charset="-122"/>
                <a:cs typeface="Calibri" pitchFamily="34" charset="-120"/>
              </a:rPr>
              <a:t>TextHack</a:t>
            </a:r>
            <a:endParaRPr lang="en-US" sz="6000" dirty="0"/>
          </a:p>
        </p:txBody>
      </p:sp>
      <p:sp>
        <p:nvSpPr>
          <p:cNvPr id="4" name="Text 2"/>
          <p:cNvSpPr txBox="1"/>
          <p:nvPr/>
        </p:nvSpPr>
        <p:spPr>
          <a:xfrm>
            <a:off x="640080" y="2377440"/>
            <a:ext cx="6309360" cy="914400"/>
          </a:xfrm>
          <a:prstGeom prst="rect">
            <a:avLst/>
          </a:prstGeom>
          <a:noFill/>
          <a:ln/>
        </p:spPr>
        <p:txBody>
          <a:bodyPr wrap="square" lIns="0" tIns="0" rIns="0" bIns="0" rtlCol="0" anchor="t"/>
          <a:lstStyle/>
          <a:p>
            <a:pPr marL="0" indent="0">
              <a:buNone/>
            </a:pPr>
            <a:r>
              <a:rPr lang="en-US" sz="2400" dirty="0">
                <a:solidFill>
                  <a:srgbClr val="C9CEE3"/>
                </a:solidFill>
                <a:latin typeface="Calibri" pitchFamily="34" charset="0"/>
                <a:ea typeface="Calibri" pitchFamily="34" charset="-122"/>
                <a:cs typeface="Calibri" pitchFamily="34" charset="-120"/>
              </a:rPr>
              <a:t>An advanced algorithm engine for enterprise knowledge search</a:t>
            </a:r>
            <a:endParaRPr lang="en-US" sz="2400" dirty="0"/>
          </a:p>
        </p:txBody>
      </p:sp>
      <p:sp>
        <p:nvSpPr>
          <p:cNvPr id="5" name="Text 3"/>
          <p:cNvSpPr txBox="1"/>
          <p:nvPr/>
        </p:nvSpPr>
        <p:spPr>
          <a:xfrm>
            <a:off x="640080" y="3429000"/>
            <a:ext cx="6309360" cy="365760"/>
          </a:xfrm>
          <a:prstGeom prst="rect">
            <a:avLst/>
          </a:prstGeom>
          <a:noFill/>
          <a:ln/>
        </p:spPr>
        <p:txBody>
          <a:bodyPr wrap="square" lIns="0" tIns="0" rIns="0" bIns="0" rtlCol="0" anchor="t"/>
          <a:lstStyle/>
          <a:p>
            <a:pPr marL="0" indent="0">
              <a:buNone/>
            </a:pPr>
            <a:r>
              <a:rPr lang="en-US" sz="1600" b="1" dirty="0">
                <a:solidFill>
                  <a:srgbClr val="F59E0B"/>
                </a:solidFill>
                <a:latin typeface="Calibri" pitchFamily="34" charset="0"/>
                <a:ea typeface="Calibri" pitchFamily="34" charset="-122"/>
                <a:cs typeface="Calibri" pitchFamily="34" charset="-120"/>
              </a:rPr>
              <a:t>Enterprise Knowledge Intelligence Platform · DSA-3 Review</a:t>
            </a:r>
            <a:endParaRPr lang="en-US" sz="1600" dirty="0"/>
          </a:p>
        </p:txBody>
      </p:sp>
      <p:sp>
        <p:nvSpPr>
          <p:cNvPr id="6" name="Text 4"/>
          <p:cNvSpPr txBox="1"/>
          <p:nvPr/>
        </p:nvSpPr>
        <p:spPr>
          <a:xfrm>
            <a:off x="640080" y="4160520"/>
            <a:ext cx="860466" cy="365760"/>
          </a:xfrm>
          <a:prstGeom prst="roundRect">
            <a:avLst>
              <a:gd name="adj" fmla="val 12500"/>
            </a:avLst>
          </a:prstGeom>
          <a:solidFill>
            <a:srgbClr val="161D3F"/>
          </a:solidFill>
          <a:ln w="9525">
            <a:solidFill>
              <a:srgbClr val="2C356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O(n+m)</a:t>
            </a:r>
            <a:endParaRPr lang="en-US" sz="1300" dirty="0"/>
          </a:p>
        </p:txBody>
      </p:sp>
      <p:sp>
        <p:nvSpPr>
          <p:cNvPr id="7" name="Text 5"/>
          <p:cNvSpPr txBox="1"/>
          <p:nvPr/>
        </p:nvSpPr>
        <p:spPr>
          <a:xfrm>
            <a:off x="1628562" y="4160520"/>
            <a:ext cx="860466" cy="365760"/>
          </a:xfrm>
          <a:prstGeom prst="roundRect">
            <a:avLst>
              <a:gd name="adj" fmla="val 12500"/>
            </a:avLst>
          </a:prstGeom>
          <a:solidFill>
            <a:srgbClr val="161D3F"/>
          </a:solidFill>
          <a:ln w="9525">
            <a:solidFill>
              <a:srgbClr val="2C356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O(n+z)</a:t>
            </a:r>
            <a:endParaRPr lang="en-US" sz="1300" dirty="0"/>
          </a:p>
        </p:txBody>
      </p:sp>
      <p:sp>
        <p:nvSpPr>
          <p:cNvPr id="8" name="Text 6"/>
          <p:cNvSpPr txBox="1"/>
          <p:nvPr/>
        </p:nvSpPr>
        <p:spPr>
          <a:xfrm>
            <a:off x="2617044" y="4160520"/>
            <a:ext cx="1263422" cy="365760"/>
          </a:xfrm>
          <a:prstGeom prst="roundRect">
            <a:avLst>
              <a:gd name="adj" fmla="val 12500"/>
            </a:avLst>
          </a:prstGeom>
          <a:solidFill>
            <a:srgbClr val="161D3F"/>
          </a:solidFill>
          <a:ln w="9525">
            <a:solidFill>
              <a:srgbClr val="2C356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O(n log n)</a:t>
            </a:r>
            <a:endParaRPr lang="en-US" sz="1300" dirty="0"/>
          </a:p>
        </p:txBody>
      </p:sp>
      <p:sp>
        <p:nvSpPr>
          <p:cNvPr id="9" name="Text 7"/>
          <p:cNvSpPr txBox="1"/>
          <p:nvPr/>
        </p:nvSpPr>
        <p:spPr>
          <a:xfrm>
            <a:off x="4008482" y="4160520"/>
            <a:ext cx="860466" cy="365760"/>
          </a:xfrm>
          <a:prstGeom prst="roundRect">
            <a:avLst>
              <a:gd name="adj" fmla="val 12500"/>
            </a:avLst>
          </a:prstGeom>
          <a:solidFill>
            <a:srgbClr val="161D3F"/>
          </a:solidFill>
          <a:ln w="9525">
            <a:solidFill>
              <a:srgbClr val="2C356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O(n·m)</a:t>
            </a:r>
            <a:endParaRPr lang="en-US" sz="1300" dirty="0"/>
          </a:p>
        </p:txBody>
      </p:sp>
      <p:sp>
        <p:nvSpPr>
          <p:cNvPr id="10" name="Text 8"/>
          <p:cNvSpPr txBox="1"/>
          <p:nvPr/>
        </p:nvSpPr>
        <p:spPr>
          <a:xfrm>
            <a:off x="4996964" y="4160520"/>
            <a:ext cx="860466" cy="365760"/>
          </a:xfrm>
          <a:prstGeom prst="roundRect">
            <a:avLst>
              <a:gd name="adj" fmla="val 12500"/>
            </a:avLst>
          </a:prstGeom>
          <a:solidFill>
            <a:srgbClr val="161D3F"/>
          </a:solidFill>
          <a:ln w="9525">
            <a:solidFill>
              <a:srgbClr val="2C356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O(V²E)</a:t>
            </a:r>
            <a:endParaRPr lang="en-US" sz="1300" dirty="0"/>
          </a:p>
        </p:txBody>
      </p:sp>
      <p:sp>
        <p:nvSpPr>
          <p:cNvPr id="11" name="Shape 9"/>
          <p:cNvSpPr/>
          <p:nvPr/>
        </p:nvSpPr>
        <p:spPr>
          <a:xfrm>
            <a:off x="7406640" y="1234440"/>
            <a:ext cx="4160520" cy="3611880"/>
          </a:xfrm>
          <a:prstGeom prst="roundRect">
            <a:avLst>
              <a:gd name="adj" fmla="val 2532"/>
            </a:avLst>
          </a:prstGeom>
          <a:solidFill>
            <a:srgbClr val="161D3F"/>
          </a:solidFill>
          <a:ln w="12700">
            <a:solidFill>
              <a:srgbClr val="2C3566"/>
            </a:solidFill>
            <a:prstDash val="solid"/>
          </a:ln>
        </p:spPr>
        <p:txBody>
          <a:bodyPr/>
          <a:lstStyle/>
          <a:p>
            <a:endParaRPr lang="en-IN"/>
          </a:p>
        </p:txBody>
      </p:sp>
      <p:sp>
        <p:nvSpPr>
          <p:cNvPr id="12" name="Text 10"/>
          <p:cNvSpPr txBox="1"/>
          <p:nvPr/>
        </p:nvSpPr>
        <p:spPr>
          <a:xfrm>
            <a:off x="7726680" y="1463040"/>
            <a:ext cx="3566160" cy="320040"/>
          </a:xfrm>
          <a:prstGeom prst="rect">
            <a:avLst/>
          </a:prstGeom>
          <a:noFill/>
          <a:ln/>
        </p:spPr>
        <p:txBody>
          <a:bodyPr wrap="square" lIns="0" tIns="0" rIns="0" bIns="0" rtlCol="0" anchor="t"/>
          <a:lstStyle/>
          <a:p>
            <a:pPr marL="0" indent="0">
              <a:buNone/>
            </a:pPr>
            <a:r>
              <a:rPr lang="en-US" sz="1400" b="1" dirty="0">
                <a:solidFill>
                  <a:srgbClr val="F59E0B"/>
                </a:solidFill>
                <a:latin typeface="Calibri" pitchFamily="34" charset="0"/>
                <a:ea typeface="Calibri" pitchFamily="34" charset="-122"/>
                <a:cs typeface="Calibri" pitchFamily="34" charset="-120"/>
              </a:rPr>
              <a:t>Team</a:t>
            </a:r>
            <a:endParaRPr lang="en-US" sz="1400" dirty="0"/>
          </a:p>
        </p:txBody>
      </p:sp>
      <p:sp>
        <p:nvSpPr>
          <p:cNvPr id="13" name="Text 11"/>
          <p:cNvSpPr txBox="1"/>
          <p:nvPr/>
        </p:nvSpPr>
        <p:spPr>
          <a:xfrm>
            <a:off x="7726680" y="1874520"/>
            <a:ext cx="21945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 Sathya Krishna</a:t>
            </a:r>
            <a:endParaRPr lang="en-US" sz="1600" dirty="0"/>
          </a:p>
        </p:txBody>
      </p:sp>
      <p:sp>
        <p:nvSpPr>
          <p:cNvPr id="14" name="Text 12"/>
          <p:cNvSpPr txBox="1"/>
          <p:nvPr/>
        </p:nvSpPr>
        <p:spPr>
          <a:xfrm>
            <a:off x="9875520" y="1874520"/>
            <a:ext cx="1463040" cy="365760"/>
          </a:xfrm>
          <a:prstGeom prst="rect">
            <a:avLst/>
          </a:prstGeom>
          <a:noFill/>
          <a:ln/>
        </p:spPr>
        <p:txBody>
          <a:bodyPr wrap="square" lIns="0" tIns="0" rIns="0" bIns="0" rtlCol="0" anchor="ctr"/>
          <a:lstStyle/>
          <a:p>
            <a:pPr marL="0" indent="0" algn="r">
              <a:buNone/>
            </a:pPr>
            <a:r>
              <a:rPr lang="en-US" sz="1400" dirty="0">
                <a:solidFill>
                  <a:srgbClr val="C9CEE3"/>
                </a:solidFill>
                <a:latin typeface="Consolas" pitchFamily="34" charset="0"/>
                <a:ea typeface="Consolas" pitchFamily="34" charset="-122"/>
                <a:cs typeface="Consolas" pitchFamily="34" charset="-120"/>
              </a:rPr>
              <a:t>2510080006</a:t>
            </a:r>
            <a:endParaRPr lang="en-US" sz="1400" dirty="0"/>
          </a:p>
        </p:txBody>
      </p:sp>
      <p:sp>
        <p:nvSpPr>
          <p:cNvPr id="15" name="Text 13"/>
          <p:cNvSpPr txBox="1"/>
          <p:nvPr/>
        </p:nvSpPr>
        <p:spPr>
          <a:xfrm>
            <a:off x="7726680" y="2331720"/>
            <a:ext cx="21945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Yashwanth</a:t>
            </a:r>
            <a:endParaRPr lang="en-US" sz="1600" dirty="0"/>
          </a:p>
        </p:txBody>
      </p:sp>
      <p:sp>
        <p:nvSpPr>
          <p:cNvPr id="16" name="Text 14"/>
          <p:cNvSpPr txBox="1"/>
          <p:nvPr/>
        </p:nvSpPr>
        <p:spPr>
          <a:xfrm>
            <a:off x="9875520" y="2331720"/>
            <a:ext cx="1463040" cy="365760"/>
          </a:xfrm>
          <a:prstGeom prst="rect">
            <a:avLst/>
          </a:prstGeom>
          <a:noFill/>
          <a:ln/>
        </p:spPr>
        <p:txBody>
          <a:bodyPr wrap="square" lIns="0" tIns="0" rIns="0" bIns="0" rtlCol="0" anchor="ctr"/>
          <a:lstStyle/>
          <a:p>
            <a:pPr marL="0" indent="0" algn="r">
              <a:buNone/>
            </a:pPr>
            <a:r>
              <a:rPr lang="en-US" sz="1400" dirty="0">
                <a:solidFill>
                  <a:srgbClr val="C9CEE3"/>
                </a:solidFill>
                <a:latin typeface="Consolas" pitchFamily="34" charset="0"/>
                <a:ea typeface="Consolas" pitchFamily="34" charset="-122"/>
                <a:cs typeface="Consolas" pitchFamily="34" charset="-120"/>
              </a:rPr>
              <a:t>2510080001</a:t>
            </a:r>
            <a:endParaRPr lang="en-US" sz="1400" dirty="0"/>
          </a:p>
        </p:txBody>
      </p:sp>
      <p:sp>
        <p:nvSpPr>
          <p:cNvPr id="17" name="Text 15"/>
          <p:cNvSpPr txBox="1"/>
          <p:nvPr/>
        </p:nvSpPr>
        <p:spPr>
          <a:xfrm>
            <a:off x="7726680" y="2788920"/>
            <a:ext cx="21945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Aneeq</a:t>
            </a:r>
            <a:endParaRPr lang="en-US" sz="1600" dirty="0"/>
          </a:p>
        </p:txBody>
      </p:sp>
      <p:sp>
        <p:nvSpPr>
          <p:cNvPr id="18" name="Text 16"/>
          <p:cNvSpPr txBox="1"/>
          <p:nvPr/>
        </p:nvSpPr>
        <p:spPr>
          <a:xfrm>
            <a:off x="9875520" y="2788920"/>
            <a:ext cx="1463040" cy="365760"/>
          </a:xfrm>
          <a:prstGeom prst="rect">
            <a:avLst/>
          </a:prstGeom>
          <a:noFill/>
          <a:ln/>
        </p:spPr>
        <p:txBody>
          <a:bodyPr wrap="square" lIns="0" tIns="0" rIns="0" bIns="0" rtlCol="0" anchor="ctr"/>
          <a:lstStyle/>
          <a:p>
            <a:pPr marL="0" indent="0" algn="r">
              <a:buNone/>
            </a:pPr>
            <a:r>
              <a:rPr lang="en-US" sz="1400" dirty="0">
                <a:solidFill>
                  <a:srgbClr val="C9CEE3"/>
                </a:solidFill>
                <a:latin typeface="Consolas" pitchFamily="34" charset="0"/>
                <a:ea typeface="Consolas" pitchFamily="34" charset="-122"/>
                <a:cs typeface="Consolas" pitchFamily="34" charset="-120"/>
              </a:rPr>
              <a:t>2510080005</a:t>
            </a:r>
            <a:endParaRPr lang="en-US" sz="1400" dirty="0"/>
          </a:p>
        </p:txBody>
      </p:sp>
      <p:sp>
        <p:nvSpPr>
          <p:cNvPr id="19" name="Text 17"/>
          <p:cNvSpPr txBox="1"/>
          <p:nvPr/>
        </p:nvSpPr>
        <p:spPr>
          <a:xfrm>
            <a:off x="7726680" y="3246120"/>
            <a:ext cx="21945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Abhinav</a:t>
            </a:r>
            <a:endParaRPr lang="en-US" sz="1600" dirty="0"/>
          </a:p>
        </p:txBody>
      </p:sp>
      <p:sp>
        <p:nvSpPr>
          <p:cNvPr id="20" name="Text 18"/>
          <p:cNvSpPr txBox="1"/>
          <p:nvPr/>
        </p:nvSpPr>
        <p:spPr>
          <a:xfrm>
            <a:off x="9875520" y="3246120"/>
            <a:ext cx="1463040" cy="365760"/>
          </a:xfrm>
          <a:prstGeom prst="rect">
            <a:avLst/>
          </a:prstGeom>
          <a:noFill/>
          <a:ln/>
        </p:spPr>
        <p:txBody>
          <a:bodyPr wrap="square" lIns="0" tIns="0" rIns="0" bIns="0" rtlCol="0" anchor="ctr"/>
          <a:lstStyle/>
          <a:p>
            <a:pPr marL="0" indent="0" algn="r">
              <a:buNone/>
            </a:pPr>
            <a:r>
              <a:rPr lang="en-US" sz="1400" dirty="0">
                <a:solidFill>
                  <a:srgbClr val="C9CEE3"/>
                </a:solidFill>
                <a:latin typeface="Consolas" pitchFamily="34" charset="0"/>
                <a:ea typeface="Consolas" pitchFamily="34" charset="-122"/>
                <a:cs typeface="Consolas" pitchFamily="34" charset="-120"/>
              </a:rPr>
              <a:t>2510080002</a:t>
            </a:r>
            <a:endParaRPr lang="en-US" sz="1400" dirty="0"/>
          </a:p>
        </p:txBody>
      </p:sp>
      <p:sp>
        <p:nvSpPr>
          <p:cNvPr id="21" name="Text 19"/>
          <p:cNvSpPr txBox="1"/>
          <p:nvPr/>
        </p:nvSpPr>
        <p:spPr>
          <a:xfrm>
            <a:off x="7726680" y="3840480"/>
            <a:ext cx="3566160" cy="320040"/>
          </a:xfrm>
          <a:prstGeom prst="rect">
            <a:avLst/>
          </a:prstGeom>
          <a:noFill/>
          <a:ln/>
        </p:spPr>
        <p:txBody>
          <a:bodyPr wrap="square" lIns="0" tIns="0" rIns="0" bIns="0" rtlCol="0" anchor="t"/>
          <a:lstStyle/>
          <a:p>
            <a:pPr marL="0" indent="0">
              <a:buNone/>
            </a:pPr>
            <a:r>
              <a:rPr lang="en-US" sz="1400" b="1" dirty="0">
                <a:solidFill>
                  <a:srgbClr val="F59E0B"/>
                </a:solidFill>
                <a:latin typeface="Calibri" pitchFamily="34" charset="0"/>
                <a:ea typeface="Calibri" pitchFamily="34" charset="-122"/>
                <a:cs typeface="Calibri" pitchFamily="34" charset="-120"/>
              </a:rPr>
              <a:t>Guide</a:t>
            </a:r>
            <a:endParaRPr lang="en-US" sz="1400" dirty="0"/>
          </a:p>
        </p:txBody>
      </p:sp>
      <p:sp>
        <p:nvSpPr>
          <p:cNvPr id="22" name="Text 20"/>
          <p:cNvSpPr txBox="1"/>
          <p:nvPr/>
        </p:nvSpPr>
        <p:spPr>
          <a:xfrm>
            <a:off x="7726680" y="4206240"/>
            <a:ext cx="3566160" cy="3657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Dr. P. Anitha</a:t>
            </a:r>
            <a:endParaRPr lang="en-US" sz="1600" dirty="0"/>
          </a:p>
        </p:txBody>
      </p:sp>
      <p:sp>
        <p:nvSpPr>
          <p:cNvPr id="23" name="Text 21"/>
          <p:cNvSpPr txBox="1"/>
          <p:nvPr/>
        </p:nvSpPr>
        <p:spPr>
          <a:xfrm>
            <a:off x="640080" y="5989320"/>
            <a:ext cx="10881360" cy="365760"/>
          </a:xfrm>
          <a:prstGeom prst="rect">
            <a:avLst/>
          </a:prstGeom>
          <a:noFill/>
          <a:ln/>
        </p:spPr>
        <p:txBody>
          <a:bodyPr wrap="square" lIns="0" tIns="0" rIns="0" bIns="0" rtlCol="0" anchor="t"/>
          <a:lstStyle/>
          <a:p>
            <a:pPr marL="0" indent="0">
              <a:buNone/>
            </a:pPr>
            <a:r>
              <a:rPr lang="en-US" sz="1500" dirty="0">
                <a:solidFill>
                  <a:srgbClr val="8C93B8"/>
                </a:solidFill>
                <a:latin typeface="Calibri" pitchFamily="34" charset="0"/>
                <a:ea typeface="Calibri" pitchFamily="34" charset="-122"/>
                <a:cs typeface="Calibri" pitchFamily="34" charset="-120"/>
              </a:rPr>
              <a:t>Department of Artificial Intelligence &amp; Data Science · KLH University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INTRODUCTION</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Searching enterprise knowledge is a string problem</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417320"/>
            <a:ext cx="5440680" cy="3291840"/>
          </a:xfrm>
          <a:prstGeom prst="roundRect">
            <a:avLst>
              <a:gd name="adj" fmla="val 2222"/>
            </a:avLst>
          </a:prstGeom>
          <a:solidFill>
            <a:srgbClr val="F4F5F9"/>
          </a:solidFill>
          <a:ln w="12700">
            <a:solidFill>
              <a:srgbClr val="F4F5F9"/>
            </a:solidFill>
            <a:prstDash val="solid"/>
          </a:ln>
        </p:spPr>
        <p:txBody>
          <a:bodyPr/>
          <a:lstStyle/>
          <a:p>
            <a:endParaRPr lang="en-IN"/>
          </a:p>
        </p:txBody>
      </p:sp>
      <p:sp>
        <p:nvSpPr>
          <p:cNvPr id="8" name="Text 5"/>
          <p:cNvSpPr txBox="1"/>
          <p:nvPr/>
        </p:nvSpPr>
        <p:spPr>
          <a:xfrm>
            <a:off x="822960" y="1600200"/>
            <a:ext cx="4937760" cy="365760"/>
          </a:xfrm>
          <a:prstGeom prst="rect">
            <a:avLst/>
          </a:prstGeom>
          <a:noFill/>
          <a:ln/>
        </p:spPr>
        <p:txBody>
          <a:bodyPr wrap="square" lIns="0" tIns="0" rIns="0" bIns="0" rtlCol="0" anchor="t"/>
          <a:lstStyle/>
          <a:p>
            <a:pPr marL="0" indent="0">
              <a:buNone/>
            </a:pPr>
            <a:r>
              <a:rPr lang="en-US" sz="1900" b="1" dirty="0">
                <a:solidFill>
                  <a:srgbClr val="111827"/>
                </a:solidFill>
                <a:latin typeface="Calibri" pitchFamily="34" charset="0"/>
                <a:ea typeface="Calibri" pitchFamily="34" charset="-122"/>
                <a:cs typeface="Calibri" pitchFamily="34" charset="-120"/>
              </a:rPr>
              <a:t>Background</a:t>
            </a:r>
            <a:endParaRPr lang="en-US" sz="1900" dirty="0"/>
          </a:p>
        </p:txBody>
      </p:sp>
      <p:sp>
        <p:nvSpPr>
          <p:cNvPr id="9" name="Text 6"/>
          <p:cNvSpPr txBox="1"/>
          <p:nvPr/>
        </p:nvSpPr>
        <p:spPr>
          <a:xfrm>
            <a:off x="822960" y="2057400"/>
            <a:ext cx="4937760" cy="25603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Organisations keep their knowledge in thousands of documents: policies, handbooks, reports, research.</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Finding the right one depends on text search that copes with how people actually type.</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Real queries contain typos, reordered words and several terms at once, and documents cite one another.</a:t>
            </a:r>
            <a:endParaRPr lang="en-US" sz="1500" dirty="0"/>
          </a:p>
        </p:txBody>
      </p:sp>
      <p:sp>
        <p:nvSpPr>
          <p:cNvPr id="10" name="Shape 7"/>
          <p:cNvSpPr/>
          <p:nvPr/>
        </p:nvSpPr>
        <p:spPr>
          <a:xfrm>
            <a:off x="6199632" y="1417320"/>
            <a:ext cx="5440680" cy="3291840"/>
          </a:xfrm>
          <a:prstGeom prst="roundRect">
            <a:avLst>
              <a:gd name="adj" fmla="val 2222"/>
            </a:avLst>
          </a:prstGeom>
          <a:solidFill>
            <a:srgbClr val="F4F5F9"/>
          </a:solidFill>
          <a:ln w="12700">
            <a:solidFill>
              <a:srgbClr val="F4F5F9"/>
            </a:solidFill>
            <a:prstDash val="solid"/>
          </a:ln>
        </p:spPr>
        <p:txBody>
          <a:bodyPr/>
          <a:lstStyle/>
          <a:p>
            <a:endParaRPr lang="en-IN"/>
          </a:p>
        </p:txBody>
      </p:sp>
      <p:sp>
        <p:nvSpPr>
          <p:cNvPr id="11" name="Text 8"/>
          <p:cNvSpPr txBox="1"/>
          <p:nvPr/>
        </p:nvSpPr>
        <p:spPr>
          <a:xfrm>
            <a:off x="6473952" y="1600200"/>
            <a:ext cx="4937760" cy="365760"/>
          </a:xfrm>
          <a:prstGeom prst="rect">
            <a:avLst/>
          </a:prstGeom>
          <a:noFill/>
          <a:ln/>
        </p:spPr>
        <p:txBody>
          <a:bodyPr wrap="square" lIns="0" tIns="0" rIns="0" bIns="0" rtlCol="0" anchor="t"/>
          <a:lstStyle/>
          <a:p>
            <a:pPr marL="0" indent="0">
              <a:buNone/>
            </a:pPr>
            <a:r>
              <a:rPr lang="en-US" sz="1900" b="1" dirty="0">
                <a:solidFill>
                  <a:srgbClr val="111827"/>
                </a:solidFill>
                <a:latin typeface="Calibri" pitchFamily="34" charset="0"/>
                <a:ea typeface="Calibri" pitchFamily="34" charset="-122"/>
                <a:cs typeface="Calibri" pitchFamily="34" charset="-120"/>
              </a:rPr>
              <a:t>Need for the project</a:t>
            </a:r>
            <a:endParaRPr lang="en-US" sz="1900" dirty="0"/>
          </a:p>
        </p:txBody>
      </p:sp>
      <p:sp>
        <p:nvSpPr>
          <p:cNvPr id="12" name="Text 9"/>
          <p:cNvSpPr txBox="1"/>
          <p:nvPr/>
        </p:nvSpPr>
        <p:spPr>
          <a:xfrm>
            <a:off x="6473952" y="2057400"/>
            <a:ext cx="4937760" cy="25603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Database LIKE / ILIKE matches exact substrings only; one typo returns nothing.</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Scanning once per search term costs O(k·n) for k terms.</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Libraries hide cost and correctness; the course requires building and proving the algorithms.</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How strongly two documents are connected through citations is a graph problem.</a:t>
            </a:r>
            <a:endParaRPr lang="en-US" sz="1500" dirty="0"/>
          </a:p>
        </p:txBody>
      </p:sp>
      <p:sp>
        <p:nvSpPr>
          <p:cNvPr id="13" name="Text 10"/>
          <p:cNvSpPr txBox="1"/>
          <p:nvPr/>
        </p:nvSpPr>
        <p:spPr>
          <a:xfrm>
            <a:off x="548640" y="4983480"/>
            <a:ext cx="10972800" cy="320040"/>
          </a:xfrm>
          <a:prstGeom prst="rect">
            <a:avLst/>
          </a:prstGeom>
          <a:noFill/>
          <a:ln/>
        </p:spPr>
        <p:txBody>
          <a:bodyPr wrap="square" lIns="0" tIns="0" rIns="0" bIns="0" rtlCol="0" anchor="t"/>
          <a:lstStyle/>
          <a:p>
            <a:pPr marL="0" indent="0">
              <a:buNone/>
            </a:pPr>
            <a:r>
              <a:rPr lang="en-US" sz="1500" b="1" dirty="0">
                <a:solidFill>
                  <a:srgbClr val="4B5563"/>
                </a:solidFill>
                <a:latin typeface="Calibri" pitchFamily="34" charset="0"/>
                <a:ea typeface="Calibri" pitchFamily="34" charset="-122"/>
                <a:cs typeface="Calibri" pitchFamily="34" charset="-120"/>
              </a:rPr>
              <a:t>Three kinds of query the engine must answer</a:t>
            </a:r>
            <a:endParaRPr lang="en-US" sz="1500" dirty="0"/>
          </a:p>
        </p:txBody>
      </p:sp>
      <p:sp>
        <p:nvSpPr>
          <p:cNvPr id="14" name="Text 11"/>
          <p:cNvSpPr txBox="1"/>
          <p:nvPr/>
        </p:nvSpPr>
        <p:spPr>
          <a:xfrm>
            <a:off x="548640" y="5394960"/>
            <a:ext cx="3566160" cy="384048"/>
          </a:xfrm>
          <a:prstGeom prst="roundRect">
            <a:avLst>
              <a:gd name="adj" fmla="val 11905"/>
            </a:avLst>
          </a:prstGeom>
          <a:solidFill>
            <a:srgbClr val="0B1026"/>
          </a:solidFill>
          <a:ln w="9525">
            <a:solidFill>
              <a:srgbClr val="0B102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fuzzy "recieve" ~2</a:t>
            </a:r>
            <a:endParaRPr lang="en-US" sz="1300" dirty="0"/>
          </a:p>
        </p:txBody>
      </p:sp>
      <p:sp>
        <p:nvSpPr>
          <p:cNvPr id="15" name="Text 12"/>
          <p:cNvSpPr txBox="1"/>
          <p:nvPr/>
        </p:nvSpPr>
        <p:spPr>
          <a:xfrm>
            <a:off x="548640" y="5852160"/>
            <a:ext cx="3566160" cy="274320"/>
          </a:xfrm>
          <a:prstGeom prst="rect">
            <a:avLst/>
          </a:prstGeom>
          <a:noFill/>
          <a:ln/>
        </p:spPr>
        <p:txBody>
          <a:bodyPr wrap="square" lIns="0" tIns="0" rIns="0" bIns="0" rtlCol="0" anchor="t"/>
          <a:lstStyle/>
          <a:p>
            <a:pPr marL="0" indent="0" algn="ctr">
              <a:buNone/>
            </a:pPr>
            <a:r>
              <a:rPr lang="en-US" sz="1300" dirty="0">
                <a:solidFill>
                  <a:srgbClr val="4B5563"/>
                </a:solidFill>
                <a:latin typeface="Calibri" pitchFamily="34" charset="0"/>
                <a:ea typeface="Calibri" pitchFamily="34" charset="-122"/>
                <a:cs typeface="Calibri" pitchFamily="34" charset="-120"/>
              </a:rPr>
              <a:t>a typo</a:t>
            </a:r>
            <a:endParaRPr lang="en-US" sz="1300" dirty="0"/>
          </a:p>
        </p:txBody>
      </p:sp>
      <p:sp>
        <p:nvSpPr>
          <p:cNvPr id="16" name="Text 13"/>
          <p:cNvSpPr txBox="1"/>
          <p:nvPr/>
        </p:nvSpPr>
        <p:spPr>
          <a:xfrm>
            <a:off x="4297680" y="5394960"/>
            <a:ext cx="3566160" cy="384048"/>
          </a:xfrm>
          <a:prstGeom prst="roundRect">
            <a:avLst>
              <a:gd name="adj" fmla="val 11905"/>
            </a:avLst>
          </a:prstGeom>
          <a:solidFill>
            <a:srgbClr val="0B1026"/>
          </a:solidFill>
          <a:ln w="9525">
            <a:solidFill>
              <a:srgbClr val="0B102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findall "vpn" "laptop" "policy"</a:t>
            </a:r>
            <a:endParaRPr lang="en-US" sz="1300" dirty="0"/>
          </a:p>
        </p:txBody>
      </p:sp>
      <p:sp>
        <p:nvSpPr>
          <p:cNvPr id="17" name="Text 14"/>
          <p:cNvSpPr txBox="1"/>
          <p:nvPr/>
        </p:nvSpPr>
        <p:spPr>
          <a:xfrm>
            <a:off x="4297680" y="5852160"/>
            <a:ext cx="3566160" cy="274320"/>
          </a:xfrm>
          <a:prstGeom prst="rect">
            <a:avLst/>
          </a:prstGeom>
          <a:noFill/>
          <a:ln/>
        </p:spPr>
        <p:txBody>
          <a:bodyPr wrap="square" lIns="0" tIns="0" rIns="0" bIns="0" rtlCol="0" anchor="t"/>
          <a:lstStyle/>
          <a:p>
            <a:pPr marL="0" indent="0" algn="ctr">
              <a:buNone/>
            </a:pPr>
            <a:r>
              <a:rPr lang="en-US" sz="1300" dirty="0">
                <a:solidFill>
                  <a:srgbClr val="4B5563"/>
                </a:solidFill>
                <a:latin typeface="Calibri" pitchFamily="34" charset="0"/>
                <a:ea typeface="Calibri" pitchFamily="34" charset="-122"/>
                <a:cs typeface="Calibri" pitchFamily="34" charset="-120"/>
              </a:rPr>
              <a:t>many terms at once</a:t>
            </a:r>
            <a:endParaRPr lang="en-US" sz="1300" dirty="0"/>
          </a:p>
        </p:txBody>
      </p:sp>
      <p:sp>
        <p:nvSpPr>
          <p:cNvPr id="18" name="Text 15"/>
          <p:cNvSpPr txBox="1"/>
          <p:nvPr/>
        </p:nvSpPr>
        <p:spPr>
          <a:xfrm>
            <a:off x="8046720" y="5394960"/>
            <a:ext cx="3566160" cy="384048"/>
          </a:xfrm>
          <a:prstGeom prst="roundRect">
            <a:avLst>
              <a:gd name="adj" fmla="val 11905"/>
            </a:avLst>
          </a:prstGeom>
          <a:solidFill>
            <a:srgbClr val="0B1026"/>
          </a:solidFill>
          <a:ln w="9525">
            <a:solidFill>
              <a:srgbClr val="0B102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doc 0 → … → doc 5</a:t>
            </a:r>
            <a:endParaRPr lang="en-US" sz="1300" dirty="0"/>
          </a:p>
        </p:txBody>
      </p:sp>
      <p:sp>
        <p:nvSpPr>
          <p:cNvPr id="19" name="Text 16"/>
          <p:cNvSpPr txBox="1"/>
          <p:nvPr/>
        </p:nvSpPr>
        <p:spPr>
          <a:xfrm>
            <a:off x="8046720" y="5852160"/>
            <a:ext cx="3566160" cy="274320"/>
          </a:xfrm>
          <a:prstGeom prst="rect">
            <a:avLst/>
          </a:prstGeom>
          <a:noFill/>
          <a:ln/>
        </p:spPr>
        <p:txBody>
          <a:bodyPr wrap="square" lIns="0" tIns="0" rIns="0" bIns="0" rtlCol="0" anchor="t"/>
          <a:lstStyle/>
          <a:p>
            <a:pPr marL="0" indent="0" algn="ctr">
              <a:buNone/>
            </a:pPr>
            <a:r>
              <a:rPr lang="en-US" sz="1300" dirty="0">
                <a:solidFill>
                  <a:srgbClr val="4B5563"/>
                </a:solidFill>
                <a:latin typeface="Calibri" pitchFamily="34" charset="0"/>
                <a:ea typeface="Calibri" pitchFamily="34" charset="-122"/>
                <a:cs typeface="Calibri" pitchFamily="34" charset="-120"/>
              </a:rPr>
              <a:t>linked documents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PROBLEM STATEMENT</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What we set out to solve</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417320"/>
            <a:ext cx="11091672" cy="2057400"/>
          </a:xfrm>
          <a:prstGeom prst="roundRect">
            <a:avLst>
              <a:gd name="adj" fmla="val 3556"/>
            </a:avLst>
          </a:prstGeom>
          <a:solidFill>
            <a:srgbClr val="0B1026"/>
          </a:solidFill>
          <a:ln w="12700">
            <a:solidFill>
              <a:srgbClr val="0B1026"/>
            </a:solidFill>
            <a:prstDash val="solid"/>
          </a:ln>
        </p:spPr>
        <p:txBody>
          <a:bodyPr/>
          <a:lstStyle/>
          <a:p>
            <a:endParaRPr lang="en-IN"/>
          </a:p>
        </p:txBody>
      </p:sp>
      <p:sp>
        <p:nvSpPr>
          <p:cNvPr id="8" name="Text 5"/>
          <p:cNvSpPr txBox="1"/>
          <p:nvPr/>
        </p:nvSpPr>
        <p:spPr>
          <a:xfrm>
            <a:off x="914400" y="1645920"/>
            <a:ext cx="10332720" cy="164592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Build, from first principles and without library shortcuts, a verified engine of string, dynamic-programming, graph, approximation and randomized algorithms, and use it to make enterprise document search tolerant of typos, fast for many terms at once, and able to analyse citation structure, with the correctness and complexity of every algorithm demonstrated.</a:t>
            </a:r>
            <a:endParaRPr lang="en-US" sz="2000" dirty="0"/>
          </a:p>
        </p:txBody>
      </p:sp>
      <p:sp>
        <p:nvSpPr>
          <p:cNvPr id="9" name="Shape 6"/>
          <p:cNvSpPr/>
          <p:nvPr/>
        </p:nvSpPr>
        <p:spPr>
          <a:xfrm>
            <a:off x="548640" y="3749040"/>
            <a:ext cx="3593592" cy="2468880"/>
          </a:xfrm>
          <a:prstGeom prst="roundRect">
            <a:avLst>
              <a:gd name="adj" fmla="val 2963"/>
            </a:avLst>
          </a:prstGeom>
          <a:solidFill>
            <a:srgbClr val="F4F5F9"/>
          </a:solidFill>
          <a:ln w="12700">
            <a:solidFill>
              <a:srgbClr val="F4F5F9"/>
            </a:solidFill>
            <a:prstDash val="solid"/>
          </a:ln>
        </p:spPr>
        <p:txBody>
          <a:bodyPr/>
          <a:lstStyle/>
          <a:p>
            <a:endParaRPr lang="en-IN"/>
          </a:p>
        </p:txBody>
      </p:sp>
      <p:sp>
        <p:nvSpPr>
          <p:cNvPr id="10" name="Text 7"/>
          <p:cNvSpPr txBox="1"/>
          <p:nvPr/>
        </p:nvSpPr>
        <p:spPr>
          <a:xfrm>
            <a:off x="822960" y="3977640"/>
            <a:ext cx="1650879" cy="310896"/>
          </a:xfrm>
          <a:prstGeom prst="roundRect">
            <a:avLst>
              <a:gd name="adj" fmla="val 14706"/>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O(n+m) · O(n+z)</a:t>
            </a:r>
            <a:endParaRPr lang="en-US" sz="1200" dirty="0"/>
          </a:p>
        </p:txBody>
      </p:sp>
      <p:sp>
        <p:nvSpPr>
          <p:cNvPr id="11" name="Text 8"/>
          <p:cNvSpPr txBox="1"/>
          <p:nvPr/>
        </p:nvSpPr>
        <p:spPr>
          <a:xfrm>
            <a:off x="822960" y="4434840"/>
            <a:ext cx="3063240" cy="41148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Exact and multi-pattern matching</a:t>
            </a:r>
            <a:endParaRPr lang="en-US" sz="1700" dirty="0"/>
          </a:p>
        </p:txBody>
      </p:sp>
      <p:sp>
        <p:nvSpPr>
          <p:cNvPr id="12" name="Text 9"/>
          <p:cNvSpPr txBox="1"/>
          <p:nvPr/>
        </p:nvSpPr>
        <p:spPr>
          <a:xfrm>
            <a:off x="822960" y="4892040"/>
            <a:ext cx="3063240" cy="118872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Find every occurrence of one or many terms in linear time, with no worst-case input.</a:t>
            </a:r>
            <a:endParaRPr lang="en-US" sz="1400" dirty="0"/>
          </a:p>
        </p:txBody>
      </p:sp>
      <p:sp>
        <p:nvSpPr>
          <p:cNvPr id="13" name="Shape 10"/>
          <p:cNvSpPr/>
          <p:nvPr/>
        </p:nvSpPr>
        <p:spPr>
          <a:xfrm>
            <a:off x="4297680" y="3749040"/>
            <a:ext cx="3593592" cy="2468880"/>
          </a:xfrm>
          <a:prstGeom prst="roundRect">
            <a:avLst>
              <a:gd name="adj" fmla="val 2963"/>
            </a:avLst>
          </a:prstGeom>
          <a:solidFill>
            <a:srgbClr val="F4F5F9"/>
          </a:solidFill>
          <a:ln w="12700">
            <a:solidFill>
              <a:srgbClr val="F4F5F9"/>
            </a:solidFill>
            <a:prstDash val="solid"/>
          </a:ln>
        </p:spPr>
        <p:txBody>
          <a:bodyPr/>
          <a:lstStyle/>
          <a:p>
            <a:endParaRPr lang="en-IN"/>
          </a:p>
        </p:txBody>
      </p:sp>
      <p:sp>
        <p:nvSpPr>
          <p:cNvPr id="14" name="Text 11"/>
          <p:cNvSpPr txBox="1"/>
          <p:nvPr/>
        </p:nvSpPr>
        <p:spPr>
          <a:xfrm>
            <a:off x="4572000" y="3977640"/>
            <a:ext cx="813971" cy="310896"/>
          </a:xfrm>
          <a:prstGeom prst="roundRect">
            <a:avLst>
              <a:gd name="adj" fmla="val 14706"/>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O(n·m)</a:t>
            </a:r>
            <a:endParaRPr lang="en-US" sz="1200" dirty="0"/>
          </a:p>
        </p:txBody>
      </p:sp>
      <p:sp>
        <p:nvSpPr>
          <p:cNvPr id="15" name="Text 12"/>
          <p:cNvSpPr txBox="1"/>
          <p:nvPr/>
        </p:nvSpPr>
        <p:spPr>
          <a:xfrm>
            <a:off x="4572000" y="4434840"/>
            <a:ext cx="3063240" cy="41148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Approximate matching</a:t>
            </a:r>
            <a:endParaRPr lang="en-US" sz="1700" dirty="0"/>
          </a:p>
        </p:txBody>
      </p:sp>
      <p:sp>
        <p:nvSpPr>
          <p:cNvPr id="16" name="Text 13"/>
          <p:cNvSpPr txBox="1"/>
          <p:nvPr/>
        </p:nvSpPr>
        <p:spPr>
          <a:xfrm>
            <a:off x="4572000" y="4892040"/>
            <a:ext cx="3063240" cy="118872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Rank near-misses such as "recieve" for "receive", and align two texts to show where they agree.</a:t>
            </a:r>
            <a:endParaRPr lang="en-US" sz="1400" dirty="0"/>
          </a:p>
        </p:txBody>
      </p:sp>
      <p:sp>
        <p:nvSpPr>
          <p:cNvPr id="17" name="Shape 14"/>
          <p:cNvSpPr/>
          <p:nvPr/>
        </p:nvSpPr>
        <p:spPr>
          <a:xfrm>
            <a:off x="8046720" y="3749040"/>
            <a:ext cx="3593592" cy="2468880"/>
          </a:xfrm>
          <a:prstGeom prst="roundRect">
            <a:avLst>
              <a:gd name="adj" fmla="val 2963"/>
            </a:avLst>
          </a:prstGeom>
          <a:solidFill>
            <a:srgbClr val="F4F5F9"/>
          </a:solidFill>
          <a:ln w="12700">
            <a:solidFill>
              <a:srgbClr val="F4F5F9"/>
            </a:solidFill>
            <a:prstDash val="solid"/>
          </a:ln>
        </p:spPr>
        <p:txBody>
          <a:bodyPr/>
          <a:lstStyle/>
          <a:p>
            <a:endParaRPr lang="en-IN"/>
          </a:p>
        </p:txBody>
      </p:sp>
      <p:sp>
        <p:nvSpPr>
          <p:cNvPr id="18" name="Text 15"/>
          <p:cNvSpPr txBox="1"/>
          <p:nvPr/>
        </p:nvSpPr>
        <p:spPr>
          <a:xfrm>
            <a:off x="8321040" y="3977640"/>
            <a:ext cx="1929849" cy="310896"/>
          </a:xfrm>
          <a:prstGeom prst="roundRect">
            <a:avLst>
              <a:gd name="adj" fmla="val 14706"/>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max flow = min cut</a:t>
            </a:r>
            <a:endParaRPr lang="en-US" sz="1200" dirty="0"/>
          </a:p>
        </p:txBody>
      </p:sp>
      <p:sp>
        <p:nvSpPr>
          <p:cNvPr id="19" name="Text 16"/>
          <p:cNvSpPr txBox="1"/>
          <p:nvPr/>
        </p:nvSpPr>
        <p:spPr>
          <a:xfrm>
            <a:off x="8321040" y="4434840"/>
            <a:ext cx="3063240" cy="41148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Structure</a:t>
            </a:r>
            <a:endParaRPr lang="en-US" sz="1700" dirty="0"/>
          </a:p>
        </p:txBody>
      </p:sp>
      <p:sp>
        <p:nvSpPr>
          <p:cNvPr id="20" name="Text 17"/>
          <p:cNvSpPr txBox="1"/>
          <p:nvPr/>
        </p:nvSpPr>
        <p:spPr>
          <a:xfrm>
            <a:off x="8321040" y="4892040"/>
            <a:ext cx="3063240" cy="118872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Measure how many independent citation chains connect two documents, and which citations every chain depends 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OBJECTIVES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Goals and expected outcomes</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4</a:t>
            </a:r>
            <a:endParaRPr lang="en-US" sz="1000" dirty="0"/>
          </a:p>
        </p:txBody>
      </p:sp>
      <p:sp>
        <p:nvSpPr>
          <p:cNvPr id="7" name="Shape 4"/>
          <p:cNvSpPr/>
          <p:nvPr/>
        </p:nvSpPr>
        <p:spPr>
          <a:xfrm>
            <a:off x="548640" y="1417320"/>
            <a:ext cx="3593592" cy="2286000"/>
          </a:xfrm>
          <a:prstGeom prst="roundRect">
            <a:avLst>
              <a:gd name="adj" fmla="val 3200"/>
            </a:avLst>
          </a:prstGeom>
          <a:solidFill>
            <a:srgbClr val="F4F5F9"/>
          </a:solidFill>
          <a:ln w="12700">
            <a:solidFill>
              <a:srgbClr val="F4F5F9"/>
            </a:solidFill>
            <a:prstDash val="solid"/>
          </a:ln>
        </p:spPr>
        <p:txBody>
          <a:bodyPr/>
          <a:lstStyle/>
          <a:p>
            <a:endParaRPr lang="en-IN"/>
          </a:p>
        </p:txBody>
      </p:sp>
      <p:sp>
        <p:nvSpPr>
          <p:cNvPr id="8" name="Text 5"/>
          <p:cNvSpPr txBox="1"/>
          <p:nvPr/>
        </p:nvSpPr>
        <p:spPr>
          <a:xfrm>
            <a:off x="822960" y="1673352"/>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417320" y="1645920"/>
            <a:ext cx="2514600" cy="566928"/>
          </a:xfrm>
          <a:prstGeom prst="rect">
            <a:avLst/>
          </a:prstGeom>
          <a:noFill/>
          <a:ln/>
        </p:spPr>
        <p:txBody>
          <a:bodyPr wrap="square" lIns="0" tIns="0" rIns="0" bIns="0" rtlCol="0" anchor="ctr"/>
          <a:lstStyle/>
          <a:p>
            <a:pPr marL="0" indent="0">
              <a:buNone/>
            </a:pPr>
            <a:r>
              <a:rPr lang="en-US" sz="1600" b="1" dirty="0">
                <a:solidFill>
                  <a:srgbClr val="111827"/>
                </a:solidFill>
                <a:latin typeface="Calibri" pitchFamily="34" charset="0"/>
                <a:ea typeface="Calibri" pitchFamily="34" charset="-122"/>
                <a:cs typeface="Calibri" pitchFamily="34" charset="-120"/>
              </a:rPr>
              <a:t>Implement 20 algorithms from scratch</a:t>
            </a:r>
            <a:endParaRPr lang="en-US" sz="1600" dirty="0"/>
          </a:p>
        </p:txBody>
      </p:sp>
      <p:sp>
        <p:nvSpPr>
          <p:cNvPr id="10" name="Text 7"/>
          <p:cNvSpPr txBox="1"/>
          <p:nvPr/>
        </p:nvSpPr>
        <p:spPr>
          <a:xfrm>
            <a:off x="822960" y="2331720"/>
            <a:ext cx="3063240" cy="6858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No java.util in algorithm code</a:t>
            </a:r>
            <a:endParaRPr lang="en-US" sz="1400" dirty="0"/>
          </a:p>
        </p:txBody>
      </p:sp>
      <p:sp>
        <p:nvSpPr>
          <p:cNvPr id="11" name="Text 8"/>
          <p:cNvSpPr txBox="1"/>
          <p:nvPr/>
        </p:nvSpPr>
        <p:spPr>
          <a:xfrm>
            <a:off x="822960" y="3108960"/>
            <a:ext cx="2131327" cy="292608"/>
          </a:xfrm>
          <a:prstGeom prst="roundRect">
            <a:avLst>
              <a:gd name="adj" fmla="val 15625"/>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31 files · 4,287 lines</a:t>
            </a:r>
            <a:endParaRPr lang="en-US" sz="1100" dirty="0"/>
          </a:p>
        </p:txBody>
      </p:sp>
      <p:sp>
        <p:nvSpPr>
          <p:cNvPr id="12" name="Shape 9"/>
          <p:cNvSpPr/>
          <p:nvPr/>
        </p:nvSpPr>
        <p:spPr>
          <a:xfrm>
            <a:off x="4297680" y="1417320"/>
            <a:ext cx="3593592" cy="2286000"/>
          </a:xfrm>
          <a:prstGeom prst="roundRect">
            <a:avLst>
              <a:gd name="adj" fmla="val 3200"/>
            </a:avLst>
          </a:prstGeom>
          <a:solidFill>
            <a:srgbClr val="F4F5F9"/>
          </a:solidFill>
          <a:ln w="12700">
            <a:solidFill>
              <a:srgbClr val="F4F5F9"/>
            </a:solidFill>
            <a:prstDash val="solid"/>
          </a:ln>
        </p:spPr>
        <p:txBody>
          <a:bodyPr/>
          <a:lstStyle/>
          <a:p>
            <a:endParaRPr lang="en-IN"/>
          </a:p>
        </p:txBody>
      </p:sp>
      <p:sp>
        <p:nvSpPr>
          <p:cNvPr id="13" name="Text 10"/>
          <p:cNvSpPr txBox="1"/>
          <p:nvPr/>
        </p:nvSpPr>
        <p:spPr>
          <a:xfrm>
            <a:off x="4572000" y="1673352"/>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5166360" y="1645920"/>
            <a:ext cx="2514600" cy="566928"/>
          </a:xfrm>
          <a:prstGeom prst="rect">
            <a:avLst/>
          </a:prstGeom>
          <a:noFill/>
          <a:ln/>
        </p:spPr>
        <p:txBody>
          <a:bodyPr wrap="square" lIns="0" tIns="0" rIns="0" bIns="0" rtlCol="0" anchor="ctr"/>
          <a:lstStyle/>
          <a:p>
            <a:pPr marL="0" indent="0">
              <a:buNone/>
            </a:pPr>
            <a:r>
              <a:rPr lang="en-US" sz="1600" b="1" dirty="0">
                <a:solidFill>
                  <a:srgbClr val="111827"/>
                </a:solidFill>
                <a:latin typeface="Calibri" pitchFamily="34" charset="0"/>
                <a:ea typeface="Calibri" pitchFamily="34" charset="-122"/>
                <a:cs typeface="Calibri" pitchFamily="34" charset="-120"/>
              </a:rPr>
              <a:t>Prove correctness with tests</a:t>
            </a:r>
            <a:endParaRPr lang="en-US" sz="1600" dirty="0"/>
          </a:p>
        </p:txBody>
      </p:sp>
      <p:sp>
        <p:nvSpPr>
          <p:cNvPr id="15" name="Text 12"/>
          <p:cNvSpPr txBox="1"/>
          <p:nvPr/>
        </p:nvSpPr>
        <p:spPr>
          <a:xfrm>
            <a:off x="4572000" y="2331720"/>
            <a:ext cx="3063240" cy="6858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Known cases, edge cases, randomised cross-checks</a:t>
            </a:r>
            <a:endParaRPr lang="en-US" sz="1400" dirty="0"/>
          </a:p>
        </p:txBody>
      </p:sp>
      <p:sp>
        <p:nvSpPr>
          <p:cNvPr id="16" name="Text 13"/>
          <p:cNvSpPr txBox="1"/>
          <p:nvPr/>
        </p:nvSpPr>
        <p:spPr>
          <a:xfrm>
            <a:off x="4572000" y="3108960"/>
            <a:ext cx="2557530" cy="292608"/>
          </a:xfrm>
          <a:prstGeom prst="roundRect">
            <a:avLst>
              <a:gd name="adj" fmla="val 15625"/>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452 assertions · 0 failures</a:t>
            </a:r>
            <a:endParaRPr lang="en-US" sz="1100" dirty="0"/>
          </a:p>
        </p:txBody>
      </p:sp>
      <p:sp>
        <p:nvSpPr>
          <p:cNvPr id="17" name="Shape 14"/>
          <p:cNvSpPr/>
          <p:nvPr/>
        </p:nvSpPr>
        <p:spPr>
          <a:xfrm>
            <a:off x="8046720" y="1417320"/>
            <a:ext cx="3593592" cy="2286000"/>
          </a:xfrm>
          <a:prstGeom prst="roundRect">
            <a:avLst>
              <a:gd name="adj" fmla="val 3200"/>
            </a:avLst>
          </a:prstGeom>
          <a:solidFill>
            <a:srgbClr val="F4F5F9"/>
          </a:solidFill>
          <a:ln w="12700">
            <a:solidFill>
              <a:srgbClr val="F4F5F9"/>
            </a:solidFill>
            <a:prstDash val="solid"/>
          </a:ln>
        </p:spPr>
        <p:txBody>
          <a:bodyPr/>
          <a:lstStyle/>
          <a:p>
            <a:endParaRPr lang="en-IN"/>
          </a:p>
        </p:txBody>
      </p:sp>
      <p:sp>
        <p:nvSpPr>
          <p:cNvPr id="18" name="Text 15"/>
          <p:cNvSpPr txBox="1"/>
          <p:nvPr/>
        </p:nvSpPr>
        <p:spPr>
          <a:xfrm>
            <a:off x="8321040" y="1673352"/>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3</a:t>
            </a:r>
            <a:endParaRPr lang="en-US" sz="1600" dirty="0"/>
          </a:p>
        </p:txBody>
      </p:sp>
      <p:sp>
        <p:nvSpPr>
          <p:cNvPr id="19" name="Text 16"/>
          <p:cNvSpPr txBox="1"/>
          <p:nvPr/>
        </p:nvSpPr>
        <p:spPr>
          <a:xfrm>
            <a:off x="8915400" y="1645920"/>
            <a:ext cx="2514600" cy="566928"/>
          </a:xfrm>
          <a:prstGeom prst="rect">
            <a:avLst/>
          </a:prstGeom>
          <a:noFill/>
          <a:ln/>
        </p:spPr>
        <p:txBody>
          <a:bodyPr wrap="square" lIns="0" tIns="0" rIns="0" bIns="0" rtlCol="0" anchor="ctr"/>
          <a:lstStyle/>
          <a:p>
            <a:pPr marL="0" indent="0">
              <a:buNone/>
            </a:pPr>
            <a:r>
              <a:rPr lang="en-US" sz="1600" b="1" dirty="0">
                <a:solidFill>
                  <a:srgbClr val="111827"/>
                </a:solidFill>
                <a:latin typeface="Calibri" pitchFamily="34" charset="0"/>
                <a:ea typeface="Calibri" pitchFamily="34" charset="-122"/>
                <a:cs typeface="Calibri" pitchFamily="34" charset="-120"/>
              </a:rPr>
              <a:t>Document and measure complexity</a:t>
            </a:r>
            <a:endParaRPr lang="en-US" sz="1600" dirty="0"/>
          </a:p>
        </p:txBody>
      </p:sp>
      <p:sp>
        <p:nvSpPr>
          <p:cNvPr id="20" name="Text 17"/>
          <p:cNvSpPr txBox="1"/>
          <p:nvPr/>
        </p:nvSpPr>
        <p:spPr>
          <a:xfrm>
            <a:off x="8321040" y="2331720"/>
            <a:ext cx="3063240" cy="6858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Registry, complexity reference and benchmarks</a:t>
            </a:r>
            <a:endParaRPr lang="en-US" sz="1400" dirty="0"/>
          </a:p>
        </p:txBody>
      </p:sp>
      <p:sp>
        <p:nvSpPr>
          <p:cNvPr id="21" name="Text 18"/>
          <p:cNvSpPr txBox="1"/>
          <p:nvPr/>
        </p:nvSpPr>
        <p:spPr>
          <a:xfrm>
            <a:off x="8321040" y="3108960"/>
            <a:ext cx="1875605" cy="292608"/>
          </a:xfrm>
          <a:prstGeom prst="roundRect">
            <a:avLst>
              <a:gd name="adj" fmla="val 15625"/>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22 registry entries</a:t>
            </a:r>
            <a:endParaRPr lang="en-US" sz="1100" dirty="0"/>
          </a:p>
        </p:txBody>
      </p:sp>
      <p:sp>
        <p:nvSpPr>
          <p:cNvPr id="22" name="Shape 19"/>
          <p:cNvSpPr/>
          <p:nvPr/>
        </p:nvSpPr>
        <p:spPr>
          <a:xfrm>
            <a:off x="548640" y="3904488"/>
            <a:ext cx="3593592" cy="2286000"/>
          </a:xfrm>
          <a:prstGeom prst="roundRect">
            <a:avLst>
              <a:gd name="adj" fmla="val 3200"/>
            </a:avLst>
          </a:prstGeom>
          <a:solidFill>
            <a:srgbClr val="F4F5F9"/>
          </a:solidFill>
          <a:ln w="12700">
            <a:solidFill>
              <a:srgbClr val="F4F5F9"/>
            </a:solidFill>
            <a:prstDash val="solid"/>
          </a:ln>
        </p:spPr>
        <p:txBody>
          <a:bodyPr/>
          <a:lstStyle/>
          <a:p>
            <a:endParaRPr lang="en-IN"/>
          </a:p>
        </p:txBody>
      </p:sp>
      <p:sp>
        <p:nvSpPr>
          <p:cNvPr id="23" name="Text 20"/>
          <p:cNvSpPr txBox="1"/>
          <p:nvPr/>
        </p:nvSpPr>
        <p:spPr>
          <a:xfrm>
            <a:off x="822960" y="416052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4</a:t>
            </a:r>
            <a:endParaRPr lang="en-US" sz="1600" dirty="0"/>
          </a:p>
        </p:txBody>
      </p:sp>
      <p:sp>
        <p:nvSpPr>
          <p:cNvPr id="24" name="Text 21"/>
          <p:cNvSpPr txBox="1"/>
          <p:nvPr/>
        </p:nvSpPr>
        <p:spPr>
          <a:xfrm>
            <a:off x="1417320" y="4133088"/>
            <a:ext cx="2514600" cy="566928"/>
          </a:xfrm>
          <a:prstGeom prst="rect">
            <a:avLst/>
          </a:prstGeom>
          <a:noFill/>
          <a:ln/>
        </p:spPr>
        <p:txBody>
          <a:bodyPr wrap="square" lIns="0" tIns="0" rIns="0" bIns="0" rtlCol="0" anchor="ctr"/>
          <a:lstStyle/>
          <a:p>
            <a:pPr marL="0" indent="0">
              <a:buNone/>
            </a:pPr>
            <a:r>
              <a:rPr lang="en-US" sz="1600" b="1" dirty="0">
                <a:solidFill>
                  <a:srgbClr val="111827"/>
                </a:solidFill>
                <a:latin typeface="Calibri" pitchFamily="34" charset="0"/>
                <a:ea typeface="Calibri" pitchFamily="34" charset="-122"/>
                <a:cs typeface="Calibri" pitchFamily="34" charset="-120"/>
              </a:rPr>
              <a:t>One engine API and query language</a:t>
            </a:r>
            <a:endParaRPr lang="en-US" sz="1600" dirty="0"/>
          </a:p>
        </p:txBody>
      </p:sp>
      <p:sp>
        <p:nvSpPr>
          <p:cNvPr id="25" name="Text 22"/>
          <p:cNvSpPr txBox="1"/>
          <p:nvPr/>
        </p:nvSpPr>
        <p:spPr>
          <a:xfrm>
            <a:off x="822960" y="4818888"/>
            <a:ext cx="3063240" cy="6858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find · findall · fuzzy · similar · prime</a:t>
            </a:r>
            <a:endParaRPr lang="en-US" sz="1400" dirty="0"/>
          </a:p>
        </p:txBody>
      </p:sp>
      <p:sp>
        <p:nvSpPr>
          <p:cNvPr id="26" name="Text 23"/>
          <p:cNvSpPr txBox="1"/>
          <p:nvPr/>
        </p:nvSpPr>
        <p:spPr>
          <a:xfrm>
            <a:off x="822960" y="5596128"/>
            <a:ext cx="1534642" cy="292608"/>
          </a:xfrm>
          <a:prstGeom prst="roundRect">
            <a:avLst>
              <a:gd name="adj" fmla="val 15625"/>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TextHack facade</a:t>
            </a:r>
            <a:endParaRPr lang="en-US" sz="1100" dirty="0"/>
          </a:p>
        </p:txBody>
      </p:sp>
      <p:sp>
        <p:nvSpPr>
          <p:cNvPr id="27" name="Shape 24"/>
          <p:cNvSpPr/>
          <p:nvPr/>
        </p:nvSpPr>
        <p:spPr>
          <a:xfrm>
            <a:off x="4297680" y="3904488"/>
            <a:ext cx="3593592" cy="2286000"/>
          </a:xfrm>
          <a:prstGeom prst="roundRect">
            <a:avLst>
              <a:gd name="adj" fmla="val 3200"/>
            </a:avLst>
          </a:prstGeom>
          <a:solidFill>
            <a:srgbClr val="F4F5F9"/>
          </a:solidFill>
          <a:ln w="12700">
            <a:solidFill>
              <a:srgbClr val="F4F5F9"/>
            </a:solidFill>
            <a:prstDash val="solid"/>
          </a:ln>
        </p:spPr>
        <p:txBody>
          <a:bodyPr/>
          <a:lstStyle/>
          <a:p>
            <a:endParaRPr lang="en-IN"/>
          </a:p>
        </p:txBody>
      </p:sp>
      <p:sp>
        <p:nvSpPr>
          <p:cNvPr id="28" name="Text 25"/>
          <p:cNvSpPr txBox="1"/>
          <p:nvPr/>
        </p:nvSpPr>
        <p:spPr>
          <a:xfrm>
            <a:off x="4572000" y="416052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5</a:t>
            </a:r>
            <a:endParaRPr lang="en-US" sz="1600" dirty="0"/>
          </a:p>
        </p:txBody>
      </p:sp>
      <p:sp>
        <p:nvSpPr>
          <p:cNvPr id="29" name="Text 26"/>
          <p:cNvSpPr txBox="1"/>
          <p:nvPr/>
        </p:nvSpPr>
        <p:spPr>
          <a:xfrm>
            <a:off x="5166360" y="4133088"/>
            <a:ext cx="2514600" cy="566928"/>
          </a:xfrm>
          <a:prstGeom prst="rect">
            <a:avLst/>
          </a:prstGeom>
          <a:noFill/>
          <a:ln/>
        </p:spPr>
        <p:txBody>
          <a:bodyPr wrap="square" lIns="0" tIns="0" rIns="0" bIns="0" rtlCol="0" anchor="ctr"/>
          <a:lstStyle/>
          <a:p>
            <a:pPr marL="0" indent="0">
              <a:buNone/>
            </a:pPr>
            <a:r>
              <a:rPr lang="en-US" sz="1600" b="1" dirty="0">
                <a:solidFill>
                  <a:srgbClr val="111827"/>
                </a:solidFill>
                <a:latin typeface="Calibri" pitchFamily="34" charset="0"/>
                <a:ea typeface="Calibri" pitchFamily="34" charset="-122"/>
                <a:cs typeface="Calibri" pitchFamily="34" charset="-120"/>
              </a:rPr>
              <a:t>Improve the platform's search</a:t>
            </a:r>
            <a:endParaRPr lang="en-US" sz="1600" dirty="0"/>
          </a:p>
        </p:txBody>
      </p:sp>
      <p:sp>
        <p:nvSpPr>
          <p:cNvPr id="30" name="Text 27"/>
          <p:cNvSpPr txBox="1"/>
          <p:nvPr/>
        </p:nvSpPr>
        <p:spPr>
          <a:xfrm>
            <a:off x="4572000" y="4818888"/>
            <a:ext cx="3063240" cy="6858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Keyword and fuzzy scoring in the search backend</a:t>
            </a:r>
            <a:endParaRPr lang="en-US" sz="1400" dirty="0"/>
          </a:p>
        </p:txBody>
      </p:sp>
      <p:sp>
        <p:nvSpPr>
          <p:cNvPr id="31" name="Text 28"/>
          <p:cNvSpPr txBox="1"/>
          <p:nvPr/>
        </p:nvSpPr>
        <p:spPr>
          <a:xfrm>
            <a:off x="4572000" y="5596128"/>
            <a:ext cx="2301808" cy="292608"/>
          </a:xfrm>
          <a:prstGeom prst="roundRect">
            <a:avLst>
              <a:gd name="adj" fmla="val 15625"/>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KMP · Aho-Corasick · OSA</a:t>
            </a:r>
            <a:endParaRPr lang="en-US" sz="1100" dirty="0"/>
          </a:p>
        </p:txBody>
      </p:sp>
      <p:sp>
        <p:nvSpPr>
          <p:cNvPr id="32" name="Shape 29"/>
          <p:cNvSpPr/>
          <p:nvPr/>
        </p:nvSpPr>
        <p:spPr>
          <a:xfrm>
            <a:off x="8046720" y="3904488"/>
            <a:ext cx="3593592" cy="2286000"/>
          </a:xfrm>
          <a:prstGeom prst="roundRect">
            <a:avLst>
              <a:gd name="adj" fmla="val 3200"/>
            </a:avLst>
          </a:prstGeom>
          <a:solidFill>
            <a:srgbClr val="F4F5F9"/>
          </a:solidFill>
          <a:ln w="12700">
            <a:solidFill>
              <a:srgbClr val="F4F5F9"/>
            </a:solidFill>
            <a:prstDash val="solid"/>
          </a:ln>
        </p:spPr>
        <p:txBody>
          <a:bodyPr/>
          <a:lstStyle/>
          <a:p>
            <a:endParaRPr lang="en-IN"/>
          </a:p>
        </p:txBody>
      </p:sp>
      <p:sp>
        <p:nvSpPr>
          <p:cNvPr id="33" name="Text 30"/>
          <p:cNvSpPr txBox="1"/>
          <p:nvPr/>
        </p:nvSpPr>
        <p:spPr>
          <a:xfrm>
            <a:off x="8321040" y="416052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6</a:t>
            </a:r>
            <a:endParaRPr lang="en-US" sz="1600" dirty="0"/>
          </a:p>
        </p:txBody>
      </p:sp>
      <p:sp>
        <p:nvSpPr>
          <p:cNvPr id="34" name="Text 31"/>
          <p:cNvSpPr txBox="1"/>
          <p:nvPr/>
        </p:nvSpPr>
        <p:spPr>
          <a:xfrm>
            <a:off x="8915400" y="4133088"/>
            <a:ext cx="2514600" cy="566928"/>
          </a:xfrm>
          <a:prstGeom prst="rect">
            <a:avLst/>
          </a:prstGeom>
          <a:noFill/>
          <a:ln/>
        </p:spPr>
        <p:txBody>
          <a:bodyPr wrap="square" lIns="0" tIns="0" rIns="0" bIns="0" rtlCol="0" anchor="ctr"/>
          <a:lstStyle/>
          <a:p>
            <a:pPr marL="0" indent="0">
              <a:buNone/>
            </a:pPr>
            <a:r>
              <a:rPr lang="en-US" sz="1600" b="1" dirty="0">
                <a:solidFill>
                  <a:srgbClr val="111827"/>
                </a:solidFill>
                <a:latin typeface="Calibri" pitchFamily="34" charset="0"/>
                <a:ea typeface="Calibri" pitchFamily="34" charset="-122"/>
                <a:cs typeface="Calibri" pitchFamily="34" charset="-120"/>
              </a:rPr>
              <a:t>Let users run the algorithms</a:t>
            </a:r>
            <a:endParaRPr lang="en-US" sz="1600" dirty="0"/>
          </a:p>
        </p:txBody>
      </p:sp>
      <p:sp>
        <p:nvSpPr>
          <p:cNvPr id="35" name="Text 32"/>
          <p:cNvSpPr txBox="1"/>
          <p:nvPr/>
        </p:nvSpPr>
        <p:spPr>
          <a:xfrm>
            <a:off x="8321040" y="4818888"/>
            <a:ext cx="3063240" cy="6858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REST API and a TextHack workbench page</a:t>
            </a:r>
            <a:endParaRPr lang="en-US" sz="1400" dirty="0"/>
          </a:p>
        </p:txBody>
      </p:sp>
      <p:sp>
        <p:nvSpPr>
          <p:cNvPr id="36" name="Text 33"/>
          <p:cNvSpPr txBox="1"/>
          <p:nvPr/>
        </p:nvSpPr>
        <p:spPr>
          <a:xfrm>
            <a:off x="8321040" y="5596128"/>
            <a:ext cx="2131327" cy="292608"/>
          </a:xfrm>
          <a:prstGeom prst="roundRect">
            <a:avLst>
              <a:gd name="adj" fmla="val 15625"/>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4 endpoints · 4 panels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LITERATURE REVIEW</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The classic algorithms we built on</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4626864"/>
        </p:xfrm>
        <a:graphic>
          <a:graphicData uri="http://schemas.openxmlformats.org/drawingml/2006/table">
            <a:tbl>
              <a:tblPr/>
              <a:tblGrid>
                <a:gridCol w="237744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3776472">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Problem</a:t>
                      </a:r>
                      <a:endParaRPr lang="en-US" sz="13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Published work</a:t>
                      </a:r>
                      <a:endParaRPr lang="en-US" sz="13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gives the engine</a:t>
                      </a:r>
                      <a:endParaRPr lang="en-US" sz="13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extLst>
                  <a:ext uri="{0D108BD9-81ED-4DB2-BD59-A6C34878D82A}">
                    <a16:rowId xmlns:a16="http://schemas.microsoft.com/office/drawing/2014/main" val="10000"/>
                  </a:ext>
                </a:extLst>
              </a:tr>
              <a:tr h="713232">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Exact matching</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Knuth, Morris &amp; Pratt (1977); Karp &amp; Rabin (1987); Gusfield, Z-algorithm (1997)</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Linear-time search; Rabin-Karp must verify each hash hit</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1"/>
                  </a:ext>
                </a:extLst>
              </a:tr>
              <a:tr h="54864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Multi-pattern matching</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Aho &amp; Corasick (1975)</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All k patterns in one pass, O(n + z)</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Text indexing</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Manber &amp; Myers, suffix arrays (1993); Kasai et al., LCP (2001)</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Repeated substrings; O(n log n) build, O(n) LCP</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3"/>
                  </a:ext>
                </a:extLst>
              </a:tr>
              <a:tr h="77724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Edit distance and alignment</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Levenshtein (1966); Damerau (1964); Needleman &amp; Wunsch (1970); Smith &amp; Waterman (1981)</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Typo tolerance and global / local alignment, O(n·m)</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13232">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Network flow</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Ford &amp; Fulkerson (1956); Edmonds &amp; Karp (1972); Dinic (1970); Kuhn (1955)</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Citation influence as max flow, bottleneck as min cut</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5"/>
                  </a:ext>
                </a:extLst>
              </a:tr>
              <a:tr h="77724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Approximation and randomization</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Graham (1966, 1969); Miller (1976), Rabin (1980); Carter &amp; Wegman (1979); Vitter (1985)</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Scheduling bounds, primality, universal hashing, sampling</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LITERATURE REVIEW</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Existing approaches and their limitations</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548640" y="1417320"/>
            <a:ext cx="3593592" cy="3657600"/>
          </a:xfrm>
          <a:prstGeom prst="roundRect">
            <a:avLst>
              <a:gd name="adj" fmla="val 2036"/>
            </a:avLst>
          </a:prstGeom>
          <a:solidFill>
            <a:srgbClr val="F4F5F9"/>
          </a:solidFill>
          <a:ln w="12700">
            <a:solidFill>
              <a:srgbClr val="F4F5F9"/>
            </a:solidFill>
            <a:prstDash val="solid"/>
          </a:ln>
        </p:spPr>
        <p:txBody>
          <a:bodyPr/>
          <a:lstStyle/>
          <a:p>
            <a:endParaRPr lang="en-IN"/>
          </a:p>
        </p:txBody>
      </p:sp>
      <p:sp>
        <p:nvSpPr>
          <p:cNvPr id="8" name="Text 5"/>
          <p:cNvSpPr txBox="1"/>
          <p:nvPr/>
        </p:nvSpPr>
        <p:spPr>
          <a:xfrm>
            <a:off x="822960" y="1645920"/>
            <a:ext cx="3063240" cy="411480"/>
          </a:xfrm>
          <a:prstGeom prst="rect">
            <a:avLst/>
          </a:prstGeom>
          <a:noFill/>
          <a:ln/>
        </p:spPr>
        <p:txBody>
          <a:bodyPr wrap="square" lIns="0" tIns="0" rIns="0" bIns="0" rtlCol="0" anchor="t"/>
          <a:lstStyle/>
          <a:p>
            <a:pPr marL="0" indent="0">
              <a:buNone/>
            </a:pPr>
            <a:r>
              <a:rPr lang="en-US" sz="1800" b="1" dirty="0">
                <a:solidFill>
                  <a:srgbClr val="111827"/>
                </a:solidFill>
                <a:latin typeface="Calibri" pitchFamily="34" charset="0"/>
                <a:ea typeface="Calibri" pitchFamily="34" charset="-122"/>
                <a:cs typeface="Calibri" pitchFamily="34" charset="-120"/>
              </a:rPr>
              <a:t>Database pattern matching</a:t>
            </a:r>
            <a:endParaRPr lang="en-US" sz="1800" dirty="0"/>
          </a:p>
        </p:txBody>
      </p:sp>
      <p:sp>
        <p:nvSpPr>
          <p:cNvPr id="9" name="Text 6"/>
          <p:cNvSpPr txBox="1"/>
          <p:nvPr/>
        </p:nvSpPr>
        <p:spPr>
          <a:xfrm>
            <a:off x="822960" y="2103120"/>
            <a:ext cx="3063240" cy="365760"/>
          </a:xfrm>
          <a:prstGeom prst="rect">
            <a:avLst/>
          </a:prstGeom>
          <a:noFill/>
          <a:ln/>
        </p:spPr>
        <p:txBody>
          <a:bodyPr wrap="square" lIns="0" tIns="0" rIns="0" bIns="0" rtlCol="0" anchor="t"/>
          <a:lstStyle/>
          <a:p>
            <a:pPr marL="0" indent="0">
              <a:buNone/>
            </a:pPr>
            <a:r>
              <a:rPr lang="en-US" sz="1300" i="1" dirty="0">
                <a:solidFill>
                  <a:srgbClr val="4B5563"/>
                </a:solidFill>
                <a:latin typeface="Calibri" pitchFamily="34" charset="0"/>
                <a:ea typeface="Calibri" pitchFamily="34" charset="-122"/>
                <a:cs typeface="Calibri" pitchFamily="34" charset="-120"/>
              </a:rPr>
              <a:t>SQL LIKE / ILIKE in PostgreSQL</a:t>
            </a:r>
            <a:endParaRPr lang="en-US" sz="1300" dirty="0"/>
          </a:p>
        </p:txBody>
      </p:sp>
      <p:sp>
        <p:nvSpPr>
          <p:cNvPr id="10" name="Text 7"/>
          <p:cNvSpPr txBox="1"/>
          <p:nvPr/>
        </p:nvSpPr>
        <p:spPr>
          <a:xfrm>
            <a:off x="822960" y="2606040"/>
            <a:ext cx="3063240" cy="23774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Exact substrings only: "recieve" never finds "receive"</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Reordered words do not match</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No relevance ranking</a:t>
            </a:r>
            <a:endParaRPr lang="en-US" sz="1500" dirty="0"/>
          </a:p>
        </p:txBody>
      </p:sp>
      <p:sp>
        <p:nvSpPr>
          <p:cNvPr id="11" name="Shape 8"/>
          <p:cNvSpPr/>
          <p:nvPr/>
        </p:nvSpPr>
        <p:spPr>
          <a:xfrm>
            <a:off x="4297680" y="1417320"/>
            <a:ext cx="3593592" cy="3657600"/>
          </a:xfrm>
          <a:prstGeom prst="roundRect">
            <a:avLst>
              <a:gd name="adj" fmla="val 2036"/>
            </a:avLst>
          </a:prstGeom>
          <a:solidFill>
            <a:srgbClr val="F4F5F9"/>
          </a:solidFill>
          <a:ln w="12700">
            <a:solidFill>
              <a:srgbClr val="F4F5F9"/>
            </a:solidFill>
            <a:prstDash val="solid"/>
          </a:ln>
        </p:spPr>
        <p:txBody>
          <a:bodyPr/>
          <a:lstStyle/>
          <a:p>
            <a:endParaRPr lang="en-IN"/>
          </a:p>
        </p:txBody>
      </p:sp>
      <p:sp>
        <p:nvSpPr>
          <p:cNvPr id="12" name="Text 9"/>
          <p:cNvSpPr txBox="1"/>
          <p:nvPr/>
        </p:nvSpPr>
        <p:spPr>
          <a:xfrm>
            <a:off x="4572000" y="1645920"/>
            <a:ext cx="3063240" cy="411480"/>
          </a:xfrm>
          <a:prstGeom prst="rect">
            <a:avLst/>
          </a:prstGeom>
          <a:noFill/>
          <a:ln/>
        </p:spPr>
        <p:txBody>
          <a:bodyPr wrap="square" lIns="0" tIns="0" rIns="0" bIns="0" rtlCol="0" anchor="t"/>
          <a:lstStyle/>
          <a:p>
            <a:pPr marL="0" indent="0">
              <a:buNone/>
            </a:pPr>
            <a:r>
              <a:rPr lang="en-US" sz="1800" b="1" dirty="0">
                <a:solidFill>
                  <a:srgbClr val="111827"/>
                </a:solidFill>
                <a:latin typeface="Calibri" pitchFamily="34" charset="0"/>
                <a:ea typeface="Calibri" pitchFamily="34" charset="-122"/>
                <a:cs typeface="Calibri" pitchFamily="34" charset="-120"/>
              </a:rPr>
              <a:t>Full-text search engines</a:t>
            </a:r>
            <a:endParaRPr lang="en-US" sz="1800" dirty="0"/>
          </a:p>
        </p:txBody>
      </p:sp>
      <p:sp>
        <p:nvSpPr>
          <p:cNvPr id="13" name="Text 10"/>
          <p:cNvSpPr txBox="1"/>
          <p:nvPr/>
        </p:nvSpPr>
        <p:spPr>
          <a:xfrm>
            <a:off x="4572000" y="2103120"/>
            <a:ext cx="3063240" cy="365760"/>
          </a:xfrm>
          <a:prstGeom prst="rect">
            <a:avLst/>
          </a:prstGeom>
          <a:noFill/>
          <a:ln/>
        </p:spPr>
        <p:txBody>
          <a:bodyPr wrap="square" lIns="0" tIns="0" rIns="0" bIns="0" rtlCol="0" anchor="t"/>
          <a:lstStyle/>
          <a:p>
            <a:pPr marL="0" indent="0">
              <a:buNone/>
            </a:pPr>
            <a:r>
              <a:rPr lang="en-US" sz="1300" i="1" dirty="0">
                <a:solidFill>
                  <a:srgbClr val="4B5563"/>
                </a:solidFill>
                <a:latin typeface="Calibri" pitchFamily="34" charset="0"/>
                <a:ea typeface="Calibri" pitchFamily="34" charset="-122"/>
                <a:cs typeface="Calibri" pitchFamily="34" charset="-120"/>
              </a:rPr>
              <a:t>Apache Lucene / Elasticsearch</a:t>
            </a:r>
            <a:endParaRPr lang="en-US" sz="1300" dirty="0"/>
          </a:p>
        </p:txBody>
      </p:sp>
      <p:sp>
        <p:nvSpPr>
          <p:cNvPr id="14" name="Text 11"/>
          <p:cNvSpPr txBox="1"/>
          <p:nvPr/>
        </p:nvSpPr>
        <p:spPr>
          <a:xfrm>
            <a:off x="4572000" y="2606040"/>
            <a:ext cx="3063240" cy="23774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Fuzzy search exists, but as a large external service</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Algorithms are a black box to the application</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Does not meet the course rule of building algorithms from scratch</a:t>
            </a:r>
            <a:endParaRPr lang="en-US" sz="1500" dirty="0"/>
          </a:p>
        </p:txBody>
      </p:sp>
      <p:sp>
        <p:nvSpPr>
          <p:cNvPr id="15" name="Shape 12"/>
          <p:cNvSpPr/>
          <p:nvPr/>
        </p:nvSpPr>
        <p:spPr>
          <a:xfrm>
            <a:off x="8046720" y="1417320"/>
            <a:ext cx="3593592" cy="3657600"/>
          </a:xfrm>
          <a:prstGeom prst="roundRect">
            <a:avLst>
              <a:gd name="adj" fmla="val 2036"/>
            </a:avLst>
          </a:prstGeom>
          <a:solidFill>
            <a:srgbClr val="F4F5F9"/>
          </a:solidFill>
          <a:ln w="12700">
            <a:solidFill>
              <a:srgbClr val="F4F5F9"/>
            </a:solidFill>
            <a:prstDash val="solid"/>
          </a:ln>
        </p:spPr>
        <p:txBody>
          <a:bodyPr/>
          <a:lstStyle/>
          <a:p>
            <a:endParaRPr lang="en-IN"/>
          </a:p>
        </p:txBody>
      </p:sp>
      <p:sp>
        <p:nvSpPr>
          <p:cNvPr id="16" name="Text 13"/>
          <p:cNvSpPr txBox="1"/>
          <p:nvPr/>
        </p:nvSpPr>
        <p:spPr>
          <a:xfrm>
            <a:off x="8321040" y="1645920"/>
            <a:ext cx="3063240" cy="411480"/>
          </a:xfrm>
          <a:prstGeom prst="rect">
            <a:avLst/>
          </a:prstGeom>
          <a:noFill/>
          <a:ln/>
        </p:spPr>
        <p:txBody>
          <a:bodyPr wrap="square" lIns="0" tIns="0" rIns="0" bIns="0" rtlCol="0" anchor="t"/>
          <a:lstStyle/>
          <a:p>
            <a:pPr marL="0" indent="0">
              <a:buNone/>
            </a:pPr>
            <a:r>
              <a:rPr lang="en-US" sz="1800" b="1" dirty="0">
                <a:solidFill>
                  <a:srgbClr val="111827"/>
                </a:solidFill>
                <a:latin typeface="Calibri" pitchFamily="34" charset="0"/>
                <a:ea typeface="Calibri" pitchFamily="34" charset="-122"/>
                <a:cs typeface="Calibri" pitchFamily="34" charset="-120"/>
              </a:rPr>
              <a:t>Naive textbook code</a:t>
            </a:r>
            <a:endParaRPr lang="en-US" sz="1800" dirty="0"/>
          </a:p>
        </p:txBody>
      </p:sp>
      <p:sp>
        <p:nvSpPr>
          <p:cNvPr id="17" name="Text 14"/>
          <p:cNvSpPr txBox="1"/>
          <p:nvPr/>
        </p:nvSpPr>
        <p:spPr>
          <a:xfrm>
            <a:off x="8321040" y="2103120"/>
            <a:ext cx="3063240" cy="365760"/>
          </a:xfrm>
          <a:prstGeom prst="rect">
            <a:avLst/>
          </a:prstGeom>
          <a:noFill/>
          <a:ln/>
        </p:spPr>
        <p:txBody>
          <a:bodyPr wrap="square" lIns="0" tIns="0" rIns="0" bIns="0" rtlCol="0" anchor="t"/>
          <a:lstStyle/>
          <a:p>
            <a:pPr marL="0" indent="0">
              <a:buNone/>
            </a:pPr>
            <a:r>
              <a:rPr lang="en-US" sz="1300" i="1" dirty="0">
                <a:solidFill>
                  <a:srgbClr val="4B5563"/>
                </a:solidFill>
                <a:latin typeface="Calibri" pitchFamily="34" charset="0"/>
                <a:ea typeface="Calibri" pitchFamily="34" charset="-122"/>
                <a:cs typeface="Calibri" pitchFamily="34" charset="-120"/>
              </a:rPr>
              <a:t>Typical classroom implementations</a:t>
            </a:r>
            <a:endParaRPr lang="en-US" sz="1300" dirty="0"/>
          </a:p>
        </p:txBody>
      </p:sp>
      <p:sp>
        <p:nvSpPr>
          <p:cNvPr id="18" name="Text 15"/>
          <p:cNvSpPr txBox="1"/>
          <p:nvPr/>
        </p:nvSpPr>
        <p:spPr>
          <a:xfrm>
            <a:off x="8321040" y="2606040"/>
            <a:ext cx="3063240" cy="23774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Z-algorithm with a sentinel breaks on text containing it</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Rabin-Karp reporting unverified hash hits</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(a·b) mod m overflowing 64 bits; Fermat tests fooled by Carmichael numbers</a:t>
            </a:r>
            <a:endParaRPr lang="en-US" sz="1500" dirty="0"/>
          </a:p>
        </p:txBody>
      </p:sp>
      <p:sp>
        <p:nvSpPr>
          <p:cNvPr id="19" name="Shape 16"/>
          <p:cNvSpPr/>
          <p:nvPr/>
        </p:nvSpPr>
        <p:spPr>
          <a:xfrm>
            <a:off x="548640" y="5303520"/>
            <a:ext cx="11091672" cy="914400"/>
          </a:xfrm>
          <a:prstGeom prst="roundRect">
            <a:avLst>
              <a:gd name="adj" fmla="val 8000"/>
            </a:avLst>
          </a:prstGeom>
          <a:solidFill>
            <a:srgbClr val="0B1026"/>
          </a:solidFill>
          <a:ln w="12700">
            <a:solidFill>
              <a:srgbClr val="0B1026"/>
            </a:solidFill>
            <a:prstDash val="solid"/>
          </a:ln>
        </p:spPr>
        <p:txBody>
          <a:bodyPr/>
          <a:lstStyle/>
          <a:p>
            <a:endParaRPr lang="en-IN"/>
          </a:p>
        </p:txBody>
      </p:sp>
      <p:sp>
        <p:nvSpPr>
          <p:cNvPr id="20" name="Text 17"/>
          <p:cNvSpPr txBox="1"/>
          <p:nvPr/>
        </p:nvSpPr>
        <p:spPr>
          <a:xfrm>
            <a:off x="868680" y="5303520"/>
            <a:ext cx="10515600" cy="9144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Our approach: build each algorithm ourselves, check it against a simple reference, and run the same verified code in the product.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PROPOSED SYSTEM</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TextHack: one verified engine, used by the whole platform</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7</a:t>
            </a:r>
            <a:endParaRPr lang="en-US" sz="1000" dirty="0"/>
          </a:p>
        </p:txBody>
      </p:sp>
      <p:sp>
        <p:nvSpPr>
          <p:cNvPr id="7" name="Text 4"/>
          <p:cNvSpPr txBox="1"/>
          <p:nvPr/>
        </p:nvSpPr>
        <p:spPr>
          <a:xfrm>
            <a:off x="548640" y="1371600"/>
            <a:ext cx="11064240" cy="868680"/>
          </a:xfrm>
          <a:prstGeom prst="rect">
            <a:avLst/>
          </a:prstGeom>
          <a:noFill/>
          <a:ln/>
        </p:spPr>
        <p:txBody>
          <a:bodyPr wrap="square" lIns="0" tIns="0" rIns="0" bIns="0" rtlCol="0" anchor="t"/>
          <a:lstStyle/>
          <a:p>
            <a:pPr marL="0" indent="0">
              <a:buNone/>
            </a:pPr>
            <a:r>
              <a:rPr lang="en-US" sz="1700" dirty="0">
                <a:solidFill>
                  <a:srgbClr val="4B5563"/>
                </a:solidFill>
                <a:latin typeface="Calibri" pitchFamily="34" charset="0"/>
                <a:ea typeface="Calibri" pitchFamily="34" charset="-122"/>
                <a:cs typeface="Calibri" pitchFamily="34" charset="-120"/>
              </a:rPr>
              <a:t>A dependency-free Java engine of 20 algorithms in five families, behind one facade and a small query language. The platform's Spring Boot backend compiles the same source for keyword and fuzzy search, and a workbench page lets users run the algorithms on their own input.</a:t>
            </a:r>
            <a:endParaRPr lang="en-US" sz="1700" dirty="0"/>
          </a:p>
        </p:txBody>
      </p:sp>
      <p:sp>
        <p:nvSpPr>
          <p:cNvPr id="8" name="Shape 5"/>
          <p:cNvSpPr/>
          <p:nvPr/>
        </p:nvSpPr>
        <p:spPr>
          <a:xfrm>
            <a:off x="548640" y="2468880"/>
            <a:ext cx="3593592" cy="1737360"/>
          </a:xfrm>
          <a:prstGeom prst="roundRect">
            <a:avLst>
              <a:gd name="adj" fmla="val 4211"/>
            </a:avLst>
          </a:prstGeom>
          <a:solidFill>
            <a:srgbClr val="F4F5F9"/>
          </a:solidFill>
          <a:ln w="12700">
            <a:solidFill>
              <a:srgbClr val="F4F5F9"/>
            </a:solidFill>
            <a:prstDash val="solid"/>
          </a:ln>
        </p:spPr>
        <p:txBody>
          <a:bodyPr/>
          <a:lstStyle/>
          <a:p>
            <a:endParaRPr lang="en-IN"/>
          </a:p>
        </p:txBody>
      </p:sp>
      <p:sp>
        <p:nvSpPr>
          <p:cNvPr id="9" name="Text 6"/>
          <p:cNvSpPr txBox="1"/>
          <p:nvPr/>
        </p:nvSpPr>
        <p:spPr>
          <a:xfrm>
            <a:off x="822960" y="2670048"/>
            <a:ext cx="767476"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O(n+m)</a:t>
            </a:r>
            <a:endParaRPr lang="en-US" sz="1100" dirty="0"/>
          </a:p>
        </p:txBody>
      </p:sp>
      <p:sp>
        <p:nvSpPr>
          <p:cNvPr id="10" name="Text 7"/>
          <p:cNvSpPr txBox="1"/>
          <p:nvPr/>
        </p:nvSpPr>
        <p:spPr>
          <a:xfrm>
            <a:off x="822960" y="3035808"/>
            <a:ext cx="3063240" cy="365760"/>
          </a:xfrm>
          <a:prstGeom prst="rect">
            <a:avLst/>
          </a:prstGeom>
          <a:noFill/>
          <a:ln/>
        </p:spPr>
        <p:txBody>
          <a:bodyPr wrap="square" lIns="0" tIns="0" rIns="0" bIns="0" rtlCol="0" anchor="ctr"/>
          <a:lstStyle/>
          <a:p>
            <a:pPr marL="0" indent="0">
              <a:buNone/>
            </a:pPr>
            <a:r>
              <a:rPr lang="en-US" sz="1700" b="1" dirty="0">
                <a:solidFill>
                  <a:srgbClr val="111827"/>
                </a:solidFill>
                <a:latin typeface="Calibri" pitchFamily="34" charset="0"/>
                <a:ea typeface="Calibri" pitchFamily="34" charset="-122"/>
                <a:cs typeface="Calibri" pitchFamily="34" charset="-120"/>
              </a:rPr>
              <a:t>Exact search</a:t>
            </a:r>
            <a:endParaRPr lang="en-US" sz="1700" dirty="0"/>
          </a:p>
        </p:txBody>
      </p:sp>
      <p:sp>
        <p:nvSpPr>
          <p:cNvPr id="11" name="Text 8"/>
          <p:cNvSpPr txBox="1"/>
          <p:nvPr/>
        </p:nvSpPr>
        <p:spPr>
          <a:xfrm>
            <a:off x="822960" y="3429000"/>
            <a:ext cx="3063240" cy="73152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KMP, Z-algorithm and Rabin-Karp, with no pathological input for KMP and Z</a:t>
            </a:r>
            <a:endParaRPr lang="en-US" sz="1400" dirty="0"/>
          </a:p>
        </p:txBody>
      </p:sp>
      <p:sp>
        <p:nvSpPr>
          <p:cNvPr id="12" name="Shape 9"/>
          <p:cNvSpPr/>
          <p:nvPr/>
        </p:nvSpPr>
        <p:spPr>
          <a:xfrm>
            <a:off x="4297680" y="2468880"/>
            <a:ext cx="3593592" cy="1737360"/>
          </a:xfrm>
          <a:prstGeom prst="roundRect">
            <a:avLst>
              <a:gd name="adj" fmla="val 4211"/>
            </a:avLst>
          </a:prstGeom>
          <a:solidFill>
            <a:srgbClr val="F4F5F9"/>
          </a:solidFill>
          <a:ln w="12700">
            <a:solidFill>
              <a:srgbClr val="F4F5F9"/>
            </a:solidFill>
            <a:prstDash val="solid"/>
          </a:ln>
        </p:spPr>
        <p:txBody>
          <a:bodyPr/>
          <a:lstStyle/>
          <a:p>
            <a:endParaRPr lang="en-IN"/>
          </a:p>
        </p:txBody>
      </p:sp>
      <p:sp>
        <p:nvSpPr>
          <p:cNvPr id="13" name="Text 10"/>
          <p:cNvSpPr txBox="1"/>
          <p:nvPr/>
        </p:nvSpPr>
        <p:spPr>
          <a:xfrm>
            <a:off x="4572000" y="2670048"/>
            <a:ext cx="767476"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O(n+z)</a:t>
            </a:r>
            <a:endParaRPr lang="en-US" sz="1100" dirty="0"/>
          </a:p>
        </p:txBody>
      </p:sp>
      <p:sp>
        <p:nvSpPr>
          <p:cNvPr id="14" name="Text 11"/>
          <p:cNvSpPr txBox="1"/>
          <p:nvPr/>
        </p:nvSpPr>
        <p:spPr>
          <a:xfrm>
            <a:off x="4572000" y="3035808"/>
            <a:ext cx="3063240" cy="365760"/>
          </a:xfrm>
          <a:prstGeom prst="rect">
            <a:avLst/>
          </a:prstGeom>
          <a:noFill/>
          <a:ln/>
        </p:spPr>
        <p:txBody>
          <a:bodyPr wrap="square" lIns="0" tIns="0" rIns="0" bIns="0" rtlCol="0" anchor="ctr"/>
          <a:lstStyle/>
          <a:p>
            <a:pPr marL="0" indent="0">
              <a:buNone/>
            </a:pPr>
            <a:r>
              <a:rPr lang="en-US" sz="1700" b="1" dirty="0">
                <a:solidFill>
                  <a:srgbClr val="111827"/>
                </a:solidFill>
                <a:latin typeface="Calibri" pitchFamily="34" charset="0"/>
                <a:ea typeface="Calibri" pitchFamily="34" charset="-122"/>
                <a:cs typeface="Calibri" pitchFamily="34" charset="-120"/>
              </a:rPr>
              <a:t>Many terms in one pass</a:t>
            </a:r>
            <a:endParaRPr lang="en-US" sz="1700" dirty="0"/>
          </a:p>
        </p:txBody>
      </p:sp>
      <p:sp>
        <p:nvSpPr>
          <p:cNvPr id="15" name="Text 12"/>
          <p:cNvSpPr txBox="1"/>
          <p:nvPr/>
        </p:nvSpPr>
        <p:spPr>
          <a:xfrm>
            <a:off x="4572000" y="3429000"/>
            <a:ext cx="3063240" cy="73152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Aho-Corasick automaton with failure and output links</a:t>
            </a:r>
            <a:endParaRPr lang="en-US" sz="1400" dirty="0"/>
          </a:p>
        </p:txBody>
      </p:sp>
      <p:sp>
        <p:nvSpPr>
          <p:cNvPr id="16" name="Shape 13"/>
          <p:cNvSpPr/>
          <p:nvPr/>
        </p:nvSpPr>
        <p:spPr>
          <a:xfrm>
            <a:off x="8046720" y="2468880"/>
            <a:ext cx="3593592" cy="1737360"/>
          </a:xfrm>
          <a:prstGeom prst="roundRect">
            <a:avLst>
              <a:gd name="adj" fmla="val 4211"/>
            </a:avLst>
          </a:prstGeom>
          <a:solidFill>
            <a:srgbClr val="F4F5F9"/>
          </a:solidFill>
          <a:ln w="12700">
            <a:solidFill>
              <a:srgbClr val="F4F5F9"/>
            </a:solidFill>
            <a:prstDash val="solid"/>
          </a:ln>
        </p:spPr>
        <p:txBody>
          <a:bodyPr/>
          <a:lstStyle/>
          <a:p>
            <a:endParaRPr lang="en-IN"/>
          </a:p>
        </p:txBody>
      </p:sp>
      <p:sp>
        <p:nvSpPr>
          <p:cNvPr id="17" name="Text 14"/>
          <p:cNvSpPr txBox="1"/>
          <p:nvPr/>
        </p:nvSpPr>
        <p:spPr>
          <a:xfrm>
            <a:off x="8321040" y="2670048"/>
            <a:ext cx="767476"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O(n·m)</a:t>
            </a:r>
            <a:endParaRPr lang="en-US" sz="1100" dirty="0"/>
          </a:p>
        </p:txBody>
      </p:sp>
      <p:sp>
        <p:nvSpPr>
          <p:cNvPr id="18" name="Text 15"/>
          <p:cNvSpPr txBox="1"/>
          <p:nvPr/>
        </p:nvSpPr>
        <p:spPr>
          <a:xfrm>
            <a:off x="8321040" y="3035808"/>
            <a:ext cx="3063240" cy="365760"/>
          </a:xfrm>
          <a:prstGeom prst="rect">
            <a:avLst/>
          </a:prstGeom>
          <a:noFill/>
          <a:ln/>
        </p:spPr>
        <p:txBody>
          <a:bodyPr wrap="square" lIns="0" tIns="0" rIns="0" bIns="0" rtlCol="0" anchor="ctr"/>
          <a:lstStyle/>
          <a:p>
            <a:pPr marL="0" indent="0">
              <a:buNone/>
            </a:pPr>
            <a:r>
              <a:rPr lang="en-US" sz="1700" b="1" dirty="0">
                <a:solidFill>
                  <a:srgbClr val="111827"/>
                </a:solidFill>
                <a:latin typeface="Calibri" pitchFamily="34" charset="0"/>
                <a:ea typeface="Calibri" pitchFamily="34" charset="-122"/>
                <a:cs typeface="Calibri" pitchFamily="34" charset="-120"/>
              </a:rPr>
              <a:t>Typo tolerance</a:t>
            </a:r>
            <a:endParaRPr lang="en-US" sz="1700" dirty="0"/>
          </a:p>
        </p:txBody>
      </p:sp>
      <p:sp>
        <p:nvSpPr>
          <p:cNvPr id="19" name="Text 16"/>
          <p:cNvSpPr txBox="1"/>
          <p:nvPr/>
        </p:nvSpPr>
        <p:spPr>
          <a:xfrm>
            <a:off x="8321040" y="3429000"/>
            <a:ext cx="3063240" cy="73152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Levenshtein and Damerau-Levenshtein (restricted OSA and unrestricted)</a:t>
            </a:r>
            <a:endParaRPr lang="en-US" sz="1400" dirty="0"/>
          </a:p>
        </p:txBody>
      </p:sp>
      <p:sp>
        <p:nvSpPr>
          <p:cNvPr id="20" name="Shape 17"/>
          <p:cNvSpPr/>
          <p:nvPr/>
        </p:nvSpPr>
        <p:spPr>
          <a:xfrm>
            <a:off x="548640" y="4389120"/>
            <a:ext cx="3593592" cy="1737360"/>
          </a:xfrm>
          <a:prstGeom prst="roundRect">
            <a:avLst>
              <a:gd name="adj" fmla="val 4211"/>
            </a:avLst>
          </a:prstGeom>
          <a:solidFill>
            <a:srgbClr val="F4F5F9"/>
          </a:solidFill>
          <a:ln w="12700">
            <a:solidFill>
              <a:srgbClr val="F4F5F9"/>
            </a:solidFill>
            <a:prstDash val="solid"/>
          </a:ln>
        </p:spPr>
        <p:txBody>
          <a:bodyPr/>
          <a:lstStyle/>
          <a:p>
            <a:endParaRPr lang="en-IN"/>
          </a:p>
        </p:txBody>
      </p:sp>
      <p:sp>
        <p:nvSpPr>
          <p:cNvPr id="21" name="Text 18"/>
          <p:cNvSpPr txBox="1"/>
          <p:nvPr/>
        </p:nvSpPr>
        <p:spPr>
          <a:xfrm>
            <a:off x="822960" y="4590288"/>
            <a:ext cx="767476"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O(n·m)</a:t>
            </a:r>
            <a:endParaRPr lang="en-US" sz="1100" dirty="0"/>
          </a:p>
        </p:txBody>
      </p:sp>
      <p:sp>
        <p:nvSpPr>
          <p:cNvPr id="22" name="Text 19"/>
          <p:cNvSpPr txBox="1"/>
          <p:nvPr/>
        </p:nvSpPr>
        <p:spPr>
          <a:xfrm>
            <a:off x="822960" y="4956048"/>
            <a:ext cx="3063240" cy="365760"/>
          </a:xfrm>
          <a:prstGeom prst="rect">
            <a:avLst/>
          </a:prstGeom>
          <a:noFill/>
          <a:ln/>
        </p:spPr>
        <p:txBody>
          <a:bodyPr wrap="square" lIns="0" tIns="0" rIns="0" bIns="0" rtlCol="0" anchor="ctr"/>
          <a:lstStyle/>
          <a:p>
            <a:pPr marL="0" indent="0">
              <a:buNone/>
            </a:pPr>
            <a:r>
              <a:rPr lang="en-US" sz="1700" b="1" dirty="0">
                <a:solidFill>
                  <a:srgbClr val="111827"/>
                </a:solidFill>
                <a:latin typeface="Calibri" pitchFamily="34" charset="0"/>
                <a:ea typeface="Calibri" pitchFamily="34" charset="-122"/>
                <a:cs typeface="Calibri" pitchFamily="34" charset="-120"/>
              </a:rPr>
              <a:t>Alignment</a:t>
            </a:r>
            <a:endParaRPr lang="en-US" sz="1700" dirty="0"/>
          </a:p>
        </p:txBody>
      </p:sp>
      <p:sp>
        <p:nvSpPr>
          <p:cNvPr id="23" name="Text 20"/>
          <p:cNvSpPr txBox="1"/>
          <p:nvPr/>
        </p:nvSpPr>
        <p:spPr>
          <a:xfrm>
            <a:off x="822960" y="5349240"/>
            <a:ext cx="3063240" cy="73152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Needleman-Wunsch (global) and Smith-Waterman (local)</a:t>
            </a:r>
            <a:endParaRPr lang="en-US" sz="1400" dirty="0"/>
          </a:p>
        </p:txBody>
      </p:sp>
      <p:sp>
        <p:nvSpPr>
          <p:cNvPr id="24" name="Shape 21"/>
          <p:cNvSpPr/>
          <p:nvPr/>
        </p:nvSpPr>
        <p:spPr>
          <a:xfrm>
            <a:off x="4297680" y="4389120"/>
            <a:ext cx="3593592" cy="1737360"/>
          </a:xfrm>
          <a:prstGeom prst="roundRect">
            <a:avLst>
              <a:gd name="adj" fmla="val 4211"/>
            </a:avLst>
          </a:prstGeom>
          <a:solidFill>
            <a:srgbClr val="F4F5F9"/>
          </a:solidFill>
          <a:ln w="12700">
            <a:solidFill>
              <a:srgbClr val="F4F5F9"/>
            </a:solidFill>
            <a:prstDash val="solid"/>
          </a:ln>
        </p:spPr>
        <p:txBody>
          <a:bodyPr/>
          <a:lstStyle/>
          <a:p>
            <a:endParaRPr lang="en-IN"/>
          </a:p>
        </p:txBody>
      </p:sp>
      <p:sp>
        <p:nvSpPr>
          <p:cNvPr id="25" name="Text 22"/>
          <p:cNvSpPr txBox="1"/>
          <p:nvPr/>
        </p:nvSpPr>
        <p:spPr>
          <a:xfrm>
            <a:off x="4572000" y="4590288"/>
            <a:ext cx="767476"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O(V²E)</a:t>
            </a:r>
            <a:endParaRPr lang="en-US" sz="1100" dirty="0"/>
          </a:p>
        </p:txBody>
      </p:sp>
      <p:sp>
        <p:nvSpPr>
          <p:cNvPr id="26" name="Text 23"/>
          <p:cNvSpPr txBox="1"/>
          <p:nvPr/>
        </p:nvSpPr>
        <p:spPr>
          <a:xfrm>
            <a:off x="4572000" y="4956048"/>
            <a:ext cx="3063240" cy="365760"/>
          </a:xfrm>
          <a:prstGeom prst="rect">
            <a:avLst/>
          </a:prstGeom>
          <a:noFill/>
          <a:ln/>
        </p:spPr>
        <p:txBody>
          <a:bodyPr wrap="square" lIns="0" tIns="0" rIns="0" bIns="0" rtlCol="0" anchor="ctr"/>
          <a:lstStyle/>
          <a:p>
            <a:pPr marL="0" indent="0">
              <a:buNone/>
            </a:pPr>
            <a:r>
              <a:rPr lang="en-US" sz="1700" b="1" dirty="0">
                <a:solidFill>
                  <a:srgbClr val="111827"/>
                </a:solidFill>
                <a:latin typeface="Calibri" pitchFamily="34" charset="0"/>
                <a:ea typeface="Calibri" pitchFamily="34" charset="-122"/>
                <a:cs typeface="Calibri" pitchFamily="34" charset="-120"/>
              </a:rPr>
              <a:t>Citation analysis</a:t>
            </a:r>
            <a:endParaRPr lang="en-US" sz="1700" dirty="0"/>
          </a:p>
        </p:txBody>
      </p:sp>
      <p:sp>
        <p:nvSpPr>
          <p:cNvPr id="27" name="Text 24"/>
          <p:cNvSpPr txBox="1"/>
          <p:nvPr/>
        </p:nvSpPr>
        <p:spPr>
          <a:xfrm>
            <a:off x="4572000" y="5349240"/>
            <a:ext cx="3063240" cy="73152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Dinic max flow and the Edmonds-Karp minimum cut</a:t>
            </a:r>
            <a:endParaRPr lang="en-US" sz="1400" dirty="0"/>
          </a:p>
        </p:txBody>
      </p:sp>
      <p:sp>
        <p:nvSpPr>
          <p:cNvPr id="28" name="Shape 25"/>
          <p:cNvSpPr/>
          <p:nvPr/>
        </p:nvSpPr>
        <p:spPr>
          <a:xfrm>
            <a:off x="8046720" y="4389120"/>
            <a:ext cx="3593592" cy="1737360"/>
          </a:xfrm>
          <a:prstGeom prst="roundRect">
            <a:avLst>
              <a:gd name="adj" fmla="val 4211"/>
            </a:avLst>
          </a:prstGeom>
          <a:solidFill>
            <a:srgbClr val="F4F5F9"/>
          </a:solidFill>
          <a:ln w="12700">
            <a:solidFill>
              <a:srgbClr val="F4F5F9"/>
            </a:solidFill>
            <a:prstDash val="solid"/>
          </a:ln>
        </p:spPr>
        <p:txBody>
          <a:bodyPr/>
          <a:lstStyle/>
          <a:p>
            <a:endParaRPr lang="en-IN"/>
          </a:p>
        </p:txBody>
      </p:sp>
      <p:sp>
        <p:nvSpPr>
          <p:cNvPr id="29" name="Text 26"/>
          <p:cNvSpPr txBox="1"/>
          <p:nvPr/>
        </p:nvSpPr>
        <p:spPr>
          <a:xfrm>
            <a:off x="8321040" y="4590288"/>
            <a:ext cx="1278920"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ratio bounds</a:t>
            </a:r>
            <a:endParaRPr lang="en-US" sz="1100" dirty="0"/>
          </a:p>
        </p:txBody>
      </p:sp>
      <p:sp>
        <p:nvSpPr>
          <p:cNvPr id="30" name="Text 27"/>
          <p:cNvSpPr txBox="1"/>
          <p:nvPr/>
        </p:nvSpPr>
        <p:spPr>
          <a:xfrm>
            <a:off x="8321040" y="4956048"/>
            <a:ext cx="3063240" cy="365760"/>
          </a:xfrm>
          <a:prstGeom prst="rect">
            <a:avLst/>
          </a:prstGeom>
          <a:noFill/>
          <a:ln/>
        </p:spPr>
        <p:txBody>
          <a:bodyPr wrap="square" lIns="0" tIns="0" rIns="0" bIns="0" rtlCol="0" anchor="ctr"/>
          <a:lstStyle/>
          <a:p>
            <a:pPr marL="0" indent="0">
              <a:buNone/>
            </a:pPr>
            <a:r>
              <a:rPr lang="en-US" sz="1700" b="1" dirty="0">
                <a:solidFill>
                  <a:srgbClr val="111827"/>
                </a:solidFill>
                <a:latin typeface="Calibri" pitchFamily="34" charset="0"/>
                <a:ea typeface="Calibri" pitchFamily="34" charset="-122"/>
                <a:cs typeface="Calibri" pitchFamily="34" charset="-120"/>
              </a:rPr>
              <a:t>Provable guarantees</a:t>
            </a:r>
            <a:endParaRPr lang="en-US" sz="1700" dirty="0"/>
          </a:p>
        </p:txBody>
      </p:sp>
      <p:sp>
        <p:nvSpPr>
          <p:cNvPr id="31" name="Text 28"/>
          <p:cNvSpPr txBox="1"/>
          <p:nvPr/>
        </p:nvSpPr>
        <p:spPr>
          <a:xfrm>
            <a:off x="8321040" y="5349240"/>
            <a:ext cx="3063240" cy="73152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Miller-Rabin exact for 64-bit, LPT within 4/3, vertex cover within 2×</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SYSTEM ARCHITECTURE</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Where TextHack sits in the platform</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8</a:t>
            </a:r>
            <a:endParaRPr lang="en-US" sz="1000" dirty="0"/>
          </a:p>
        </p:txBody>
      </p:sp>
      <p:sp>
        <p:nvSpPr>
          <p:cNvPr id="7" name="Text 4"/>
          <p:cNvSpPr txBox="1"/>
          <p:nvPr/>
        </p:nvSpPr>
        <p:spPr>
          <a:xfrm>
            <a:off x="548640" y="1371600"/>
            <a:ext cx="2743200" cy="274320"/>
          </a:xfrm>
          <a:prstGeom prst="rect">
            <a:avLst/>
          </a:prstGeom>
          <a:noFill/>
          <a:ln/>
        </p:spPr>
        <p:txBody>
          <a:bodyPr wrap="square" lIns="0" tIns="0" rIns="0" bIns="0" rtlCol="0" anchor="t"/>
          <a:lstStyle/>
          <a:p>
            <a:pPr marL="0" indent="0">
              <a:buNone/>
            </a:pPr>
            <a:r>
              <a:rPr lang="en-US" sz="1200" b="1" dirty="0">
                <a:solidFill>
                  <a:srgbClr val="4B5563"/>
                </a:solidFill>
                <a:latin typeface="Calibri" pitchFamily="34" charset="0"/>
                <a:ea typeface="Calibri" pitchFamily="34" charset="-122"/>
                <a:cs typeface="Calibri" pitchFamily="34" charset="-120"/>
              </a:rPr>
              <a:t>React frontend</a:t>
            </a:r>
            <a:endParaRPr lang="en-US" sz="1200" dirty="0"/>
          </a:p>
        </p:txBody>
      </p:sp>
      <p:sp>
        <p:nvSpPr>
          <p:cNvPr id="8" name="Shape 5"/>
          <p:cNvSpPr/>
          <p:nvPr/>
        </p:nvSpPr>
        <p:spPr>
          <a:xfrm>
            <a:off x="548640" y="1691640"/>
            <a:ext cx="3840480" cy="777240"/>
          </a:xfrm>
          <a:prstGeom prst="roundRect">
            <a:avLst>
              <a:gd name="adj" fmla="val 8235"/>
            </a:avLst>
          </a:prstGeom>
          <a:solidFill>
            <a:srgbClr val="F4F5F9"/>
          </a:solidFill>
          <a:ln w="12700">
            <a:solidFill>
              <a:srgbClr val="DDE1EA"/>
            </a:solidFill>
            <a:prstDash val="solid"/>
          </a:ln>
        </p:spPr>
        <p:txBody>
          <a:bodyPr/>
          <a:lstStyle/>
          <a:p>
            <a:endParaRPr lang="en-IN"/>
          </a:p>
        </p:txBody>
      </p:sp>
      <p:sp>
        <p:nvSpPr>
          <p:cNvPr id="9" name="Text 6"/>
          <p:cNvSpPr txBox="1"/>
          <p:nvPr/>
        </p:nvSpPr>
        <p:spPr>
          <a:xfrm>
            <a:off x="548640" y="1691640"/>
            <a:ext cx="3840480" cy="77724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Search page</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keyword, fuzzy and semantic results</a:t>
            </a:r>
            <a:endParaRPr lang="en-US" sz="1400" dirty="0"/>
          </a:p>
        </p:txBody>
      </p:sp>
      <p:sp>
        <p:nvSpPr>
          <p:cNvPr id="10" name="Shape 7"/>
          <p:cNvSpPr/>
          <p:nvPr/>
        </p:nvSpPr>
        <p:spPr>
          <a:xfrm>
            <a:off x="4663440" y="1691640"/>
            <a:ext cx="3840480" cy="777240"/>
          </a:xfrm>
          <a:prstGeom prst="roundRect">
            <a:avLst>
              <a:gd name="adj" fmla="val 8235"/>
            </a:avLst>
          </a:prstGeom>
          <a:solidFill>
            <a:srgbClr val="F4F5F9"/>
          </a:solidFill>
          <a:ln w="12700">
            <a:solidFill>
              <a:srgbClr val="DDE1EA"/>
            </a:solidFill>
            <a:prstDash val="solid"/>
          </a:ln>
        </p:spPr>
        <p:txBody>
          <a:bodyPr/>
          <a:lstStyle/>
          <a:p>
            <a:endParaRPr lang="en-IN"/>
          </a:p>
        </p:txBody>
      </p:sp>
      <p:sp>
        <p:nvSpPr>
          <p:cNvPr id="11" name="Text 8"/>
          <p:cNvSpPr txBox="1"/>
          <p:nvPr/>
        </p:nvSpPr>
        <p:spPr>
          <a:xfrm>
            <a:off x="4663440" y="1691640"/>
            <a:ext cx="3840480" cy="77724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TextHack workbench</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pattern · similarity · citations · complexity</a:t>
            </a:r>
            <a:endParaRPr lang="en-US" sz="1400" dirty="0"/>
          </a:p>
        </p:txBody>
      </p:sp>
      <p:sp>
        <p:nvSpPr>
          <p:cNvPr id="12" name="Text 9"/>
          <p:cNvSpPr txBox="1"/>
          <p:nvPr/>
        </p:nvSpPr>
        <p:spPr>
          <a:xfrm>
            <a:off x="548640" y="2743200"/>
            <a:ext cx="2743200" cy="274320"/>
          </a:xfrm>
          <a:prstGeom prst="rect">
            <a:avLst/>
          </a:prstGeom>
          <a:noFill/>
          <a:ln/>
        </p:spPr>
        <p:txBody>
          <a:bodyPr wrap="square" lIns="0" tIns="0" rIns="0" bIns="0" rtlCol="0" anchor="t"/>
          <a:lstStyle/>
          <a:p>
            <a:pPr marL="0" indent="0">
              <a:buNone/>
            </a:pPr>
            <a:r>
              <a:rPr lang="en-US" sz="1200" b="1" dirty="0">
                <a:solidFill>
                  <a:srgbClr val="4B5563"/>
                </a:solidFill>
                <a:latin typeface="Calibri" pitchFamily="34" charset="0"/>
                <a:ea typeface="Calibri" pitchFamily="34" charset="-122"/>
                <a:cs typeface="Calibri" pitchFamily="34" charset="-120"/>
              </a:rPr>
              <a:t>Spring Boot backend</a:t>
            </a:r>
            <a:endParaRPr lang="en-US" sz="1200" dirty="0"/>
          </a:p>
        </p:txBody>
      </p:sp>
      <p:sp>
        <p:nvSpPr>
          <p:cNvPr id="13" name="Shape 10"/>
          <p:cNvSpPr/>
          <p:nvPr/>
        </p:nvSpPr>
        <p:spPr>
          <a:xfrm>
            <a:off x="548640" y="3063240"/>
            <a:ext cx="3840480" cy="868680"/>
          </a:xfrm>
          <a:prstGeom prst="roundRect">
            <a:avLst>
              <a:gd name="adj" fmla="val 7368"/>
            </a:avLst>
          </a:prstGeom>
          <a:solidFill>
            <a:srgbClr val="F4F5F9"/>
          </a:solidFill>
          <a:ln w="12700">
            <a:solidFill>
              <a:srgbClr val="DDE1EA"/>
            </a:solidFill>
            <a:prstDash val="solid"/>
          </a:ln>
        </p:spPr>
        <p:txBody>
          <a:bodyPr/>
          <a:lstStyle/>
          <a:p>
            <a:endParaRPr lang="en-IN"/>
          </a:p>
        </p:txBody>
      </p:sp>
      <p:sp>
        <p:nvSpPr>
          <p:cNvPr id="14" name="Text 11"/>
          <p:cNvSpPr txBox="1"/>
          <p:nvPr/>
        </p:nvSpPr>
        <p:spPr>
          <a:xfrm>
            <a:off x="548640" y="3063240"/>
            <a:ext cx="3840480" cy="86868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SearchService + LexicalScorer</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KMP phrase · Aho-Corasick terms · OSA typos</a:t>
            </a:r>
            <a:endParaRPr lang="en-US" sz="1400" dirty="0"/>
          </a:p>
        </p:txBody>
      </p:sp>
      <p:sp>
        <p:nvSpPr>
          <p:cNvPr id="15" name="Shape 12"/>
          <p:cNvSpPr/>
          <p:nvPr/>
        </p:nvSpPr>
        <p:spPr>
          <a:xfrm>
            <a:off x="4663440" y="3063240"/>
            <a:ext cx="3840480" cy="868680"/>
          </a:xfrm>
          <a:prstGeom prst="roundRect">
            <a:avLst>
              <a:gd name="adj" fmla="val 7368"/>
            </a:avLst>
          </a:prstGeom>
          <a:solidFill>
            <a:srgbClr val="F4F5F9"/>
          </a:solidFill>
          <a:ln w="12700">
            <a:solidFill>
              <a:srgbClr val="DDE1EA"/>
            </a:solidFill>
            <a:prstDash val="solid"/>
          </a:ln>
        </p:spPr>
        <p:txBody>
          <a:bodyPr/>
          <a:lstStyle/>
          <a:p>
            <a:endParaRPr lang="en-IN"/>
          </a:p>
        </p:txBody>
      </p:sp>
      <p:sp>
        <p:nvSpPr>
          <p:cNvPr id="16" name="Text 13"/>
          <p:cNvSpPr txBox="1"/>
          <p:nvPr/>
        </p:nvSpPr>
        <p:spPr>
          <a:xfrm>
            <a:off x="4663440" y="3063240"/>
            <a:ext cx="3840480" cy="86868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TextHackController</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POST /api/texthack/pattern · similarity · citations</a:t>
            </a:r>
            <a:endParaRPr lang="en-US" sz="1400" dirty="0"/>
          </a:p>
        </p:txBody>
      </p:sp>
      <p:sp>
        <p:nvSpPr>
          <p:cNvPr id="17" name="Shape 14"/>
          <p:cNvSpPr/>
          <p:nvPr/>
        </p:nvSpPr>
        <p:spPr>
          <a:xfrm>
            <a:off x="2468880" y="2468880"/>
            <a:ext cx="0" cy="594360"/>
          </a:xfrm>
          <a:prstGeom prst="line">
            <a:avLst/>
          </a:prstGeom>
          <a:noFill/>
          <a:ln w="19050">
            <a:solidFill>
              <a:srgbClr val="4B5563"/>
            </a:solidFill>
            <a:prstDash val="solid"/>
            <a:tailEnd type="triangle"/>
          </a:ln>
        </p:spPr>
        <p:txBody>
          <a:bodyPr/>
          <a:lstStyle/>
          <a:p>
            <a:endParaRPr lang="en-IN"/>
          </a:p>
        </p:txBody>
      </p:sp>
      <p:sp>
        <p:nvSpPr>
          <p:cNvPr id="18" name="Shape 15"/>
          <p:cNvSpPr/>
          <p:nvPr/>
        </p:nvSpPr>
        <p:spPr>
          <a:xfrm>
            <a:off x="6583680" y="2468880"/>
            <a:ext cx="0" cy="594360"/>
          </a:xfrm>
          <a:prstGeom prst="line">
            <a:avLst/>
          </a:prstGeom>
          <a:noFill/>
          <a:ln w="19050">
            <a:solidFill>
              <a:srgbClr val="4B5563"/>
            </a:solidFill>
            <a:prstDash val="solid"/>
            <a:tailEnd type="triangle"/>
          </a:ln>
        </p:spPr>
        <p:txBody>
          <a:bodyPr/>
          <a:lstStyle/>
          <a:p>
            <a:endParaRPr lang="en-IN"/>
          </a:p>
        </p:txBody>
      </p:sp>
      <p:sp>
        <p:nvSpPr>
          <p:cNvPr id="19" name="Text 16"/>
          <p:cNvSpPr txBox="1"/>
          <p:nvPr/>
        </p:nvSpPr>
        <p:spPr>
          <a:xfrm>
            <a:off x="548640" y="4206240"/>
            <a:ext cx="7315200" cy="274320"/>
          </a:xfrm>
          <a:prstGeom prst="rect">
            <a:avLst/>
          </a:prstGeom>
          <a:noFill/>
          <a:ln/>
        </p:spPr>
        <p:txBody>
          <a:bodyPr wrap="square" lIns="0" tIns="0" rIns="0" bIns="0" rtlCol="0" anchor="t"/>
          <a:lstStyle/>
          <a:p>
            <a:pPr marL="0" indent="0">
              <a:buNone/>
            </a:pPr>
            <a:r>
              <a:rPr lang="en-US" sz="1200" b="1" dirty="0">
                <a:solidFill>
                  <a:srgbClr val="B45309"/>
                </a:solidFill>
                <a:latin typeface="Calibri" pitchFamily="34" charset="0"/>
                <a:ea typeface="Calibri" pitchFamily="34" charset="-122"/>
                <a:cs typeface="Calibri" pitchFamily="34" charset="-120"/>
              </a:rPr>
              <a:t>TextHack engine (DSA-3, pure Java, no dependencies)</a:t>
            </a:r>
            <a:endParaRPr lang="en-US" sz="1200" dirty="0"/>
          </a:p>
        </p:txBody>
      </p:sp>
      <p:sp>
        <p:nvSpPr>
          <p:cNvPr id="20" name="Shape 17"/>
          <p:cNvSpPr/>
          <p:nvPr/>
        </p:nvSpPr>
        <p:spPr>
          <a:xfrm>
            <a:off x="548640" y="4526280"/>
            <a:ext cx="7955280" cy="1691640"/>
          </a:xfrm>
          <a:prstGeom prst="roundRect">
            <a:avLst>
              <a:gd name="adj" fmla="val 4324"/>
            </a:avLst>
          </a:prstGeom>
          <a:solidFill>
            <a:srgbClr val="0B1026"/>
          </a:solidFill>
          <a:ln w="12700">
            <a:solidFill>
              <a:srgbClr val="0B1026"/>
            </a:solidFill>
            <a:prstDash val="solid"/>
          </a:ln>
        </p:spPr>
        <p:txBody>
          <a:bodyPr/>
          <a:lstStyle/>
          <a:p>
            <a:endParaRPr lang="en-IN"/>
          </a:p>
        </p:txBody>
      </p:sp>
      <p:sp>
        <p:nvSpPr>
          <p:cNvPr id="21" name="Shape 18"/>
          <p:cNvSpPr/>
          <p:nvPr/>
        </p:nvSpPr>
        <p:spPr>
          <a:xfrm>
            <a:off x="731520" y="4663440"/>
            <a:ext cx="7589520" cy="502920"/>
          </a:xfrm>
          <a:prstGeom prst="roundRect">
            <a:avLst>
              <a:gd name="adj" fmla="val 12727"/>
            </a:avLst>
          </a:prstGeom>
          <a:solidFill>
            <a:srgbClr val="0B1026"/>
          </a:solidFill>
          <a:ln w="12700">
            <a:solidFill>
              <a:srgbClr val="0B1026"/>
            </a:solidFill>
            <a:prstDash val="solid"/>
          </a:ln>
        </p:spPr>
        <p:txBody>
          <a:bodyPr/>
          <a:lstStyle/>
          <a:p>
            <a:endParaRPr lang="en-IN"/>
          </a:p>
        </p:txBody>
      </p:sp>
      <p:sp>
        <p:nvSpPr>
          <p:cNvPr id="22" name="Text 19"/>
          <p:cNvSpPr txBox="1"/>
          <p:nvPr/>
        </p:nvSpPr>
        <p:spPr>
          <a:xfrm>
            <a:off x="731520" y="4663440"/>
            <a:ext cx="7589520" cy="502920"/>
          </a:xfrm>
          <a:prstGeom prst="rect">
            <a:avLst/>
          </a:prstGeom>
          <a:noFill/>
          <a:ln/>
        </p:spPr>
        <p:txBody>
          <a:bodyPr wrap="square" lIns="762" tIns="762" rIns="762" bIns="762" rtlCol="0" anchor="ctr"/>
          <a:lstStyle/>
          <a:p>
            <a:pPr marL="0" indent="0" algn="ctr">
              <a:buNone/>
            </a:pPr>
            <a:r>
              <a:rPr lang="en-US" sz="1300" b="1" dirty="0">
                <a:solidFill>
                  <a:srgbClr val="F59E0B"/>
                </a:solidFill>
                <a:latin typeface="Calibri" pitchFamily="34" charset="0"/>
                <a:ea typeface="Calibri" pitchFamily="34" charset="-122"/>
                <a:cs typeface="Calibri" pitchFamily="34" charset="-120"/>
              </a:rPr>
              <a:t>engine: TextHack facade · QueryParser · CitationFlow · ComplexityRegistry</a:t>
            </a:r>
            <a:endParaRPr lang="en-US" sz="1300" dirty="0"/>
          </a:p>
        </p:txBody>
      </p:sp>
      <p:sp>
        <p:nvSpPr>
          <p:cNvPr id="23" name="Text 20"/>
          <p:cNvSpPr txBox="1"/>
          <p:nvPr/>
        </p:nvSpPr>
        <p:spPr>
          <a:xfrm>
            <a:off x="731520" y="5349240"/>
            <a:ext cx="1188720" cy="685800"/>
          </a:xfrm>
          <a:prstGeom prst="roundRect">
            <a:avLst>
              <a:gd name="adj" fmla="val 6667"/>
            </a:avLst>
          </a:prstGeom>
          <a:solidFill>
            <a:srgbClr val="161D3F"/>
          </a:solidFill>
          <a:ln w="9525">
            <a:solidFill>
              <a:srgbClr val="2C3566"/>
            </a:solid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string</a:t>
            </a:r>
            <a:endParaRPr lang="en-US" sz="1200" dirty="0"/>
          </a:p>
        </p:txBody>
      </p:sp>
      <p:sp>
        <p:nvSpPr>
          <p:cNvPr id="24" name="Text 21"/>
          <p:cNvSpPr txBox="1"/>
          <p:nvPr/>
        </p:nvSpPr>
        <p:spPr>
          <a:xfrm>
            <a:off x="2011680" y="5349240"/>
            <a:ext cx="1188720" cy="685800"/>
          </a:xfrm>
          <a:prstGeom prst="roundRect">
            <a:avLst>
              <a:gd name="adj" fmla="val 6667"/>
            </a:avLst>
          </a:prstGeom>
          <a:solidFill>
            <a:srgbClr val="161D3F"/>
          </a:solidFill>
          <a:ln w="9525">
            <a:solidFill>
              <a:srgbClr val="2C3566"/>
            </a:solid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dp</a:t>
            </a:r>
            <a:endParaRPr lang="en-US" sz="1200" dirty="0"/>
          </a:p>
        </p:txBody>
      </p:sp>
      <p:sp>
        <p:nvSpPr>
          <p:cNvPr id="25" name="Text 22"/>
          <p:cNvSpPr txBox="1"/>
          <p:nvPr/>
        </p:nvSpPr>
        <p:spPr>
          <a:xfrm>
            <a:off x="3291840" y="5349240"/>
            <a:ext cx="1188720" cy="685800"/>
          </a:xfrm>
          <a:prstGeom prst="roundRect">
            <a:avLst>
              <a:gd name="adj" fmla="val 6667"/>
            </a:avLst>
          </a:prstGeom>
          <a:solidFill>
            <a:srgbClr val="161D3F"/>
          </a:solidFill>
          <a:ln w="9525">
            <a:solidFill>
              <a:srgbClr val="2C3566"/>
            </a:solid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graph</a:t>
            </a:r>
            <a:endParaRPr lang="en-US" sz="1200" dirty="0"/>
          </a:p>
        </p:txBody>
      </p:sp>
      <p:sp>
        <p:nvSpPr>
          <p:cNvPr id="26" name="Text 23"/>
          <p:cNvSpPr txBox="1"/>
          <p:nvPr/>
        </p:nvSpPr>
        <p:spPr>
          <a:xfrm>
            <a:off x="4572000" y="5349240"/>
            <a:ext cx="1188720" cy="685800"/>
          </a:xfrm>
          <a:prstGeom prst="roundRect">
            <a:avLst>
              <a:gd name="adj" fmla="val 6667"/>
            </a:avLst>
          </a:prstGeom>
          <a:solidFill>
            <a:srgbClr val="161D3F"/>
          </a:solidFill>
          <a:ln w="9525">
            <a:solidFill>
              <a:srgbClr val="2C3566"/>
            </a:solid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approximation</a:t>
            </a:r>
            <a:endParaRPr lang="en-US" sz="1200" dirty="0"/>
          </a:p>
        </p:txBody>
      </p:sp>
      <p:sp>
        <p:nvSpPr>
          <p:cNvPr id="27" name="Text 24"/>
          <p:cNvSpPr txBox="1"/>
          <p:nvPr/>
        </p:nvSpPr>
        <p:spPr>
          <a:xfrm>
            <a:off x="5852160" y="5349240"/>
            <a:ext cx="1188720" cy="685800"/>
          </a:xfrm>
          <a:prstGeom prst="roundRect">
            <a:avLst>
              <a:gd name="adj" fmla="val 6667"/>
            </a:avLst>
          </a:prstGeom>
          <a:solidFill>
            <a:srgbClr val="161D3F"/>
          </a:solidFill>
          <a:ln w="9525">
            <a:solidFill>
              <a:srgbClr val="2C3566"/>
            </a:solid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randomized</a:t>
            </a:r>
            <a:endParaRPr lang="en-US" sz="1200" dirty="0"/>
          </a:p>
        </p:txBody>
      </p:sp>
      <p:sp>
        <p:nvSpPr>
          <p:cNvPr id="28" name="Text 25"/>
          <p:cNvSpPr txBox="1"/>
          <p:nvPr/>
        </p:nvSpPr>
        <p:spPr>
          <a:xfrm>
            <a:off x="7132320" y="5349240"/>
            <a:ext cx="1188720" cy="685800"/>
          </a:xfrm>
          <a:prstGeom prst="roundRect">
            <a:avLst>
              <a:gd name="adj" fmla="val 6667"/>
            </a:avLst>
          </a:prstGeom>
          <a:solidFill>
            <a:srgbClr val="161D3F"/>
          </a:solidFill>
          <a:ln w="9525">
            <a:solidFill>
              <a:srgbClr val="2C3566"/>
            </a:solid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core</a:t>
            </a:r>
            <a:endParaRPr lang="en-US" sz="1200" dirty="0"/>
          </a:p>
        </p:txBody>
      </p:sp>
      <p:sp>
        <p:nvSpPr>
          <p:cNvPr id="29" name="Shape 26"/>
          <p:cNvSpPr/>
          <p:nvPr/>
        </p:nvSpPr>
        <p:spPr>
          <a:xfrm>
            <a:off x="2468880" y="3931920"/>
            <a:ext cx="0" cy="594360"/>
          </a:xfrm>
          <a:prstGeom prst="line">
            <a:avLst/>
          </a:prstGeom>
          <a:noFill/>
          <a:ln w="19050">
            <a:solidFill>
              <a:srgbClr val="4B5563"/>
            </a:solidFill>
            <a:prstDash val="solid"/>
            <a:tailEnd type="triangle"/>
          </a:ln>
        </p:spPr>
        <p:txBody>
          <a:bodyPr/>
          <a:lstStyle/>
          <a:p>
            <a:endParaRPr lang="en-IN"/>
          </a:p>
        </p:txBody>
      </p:sp>
      <p:sp>
        <p:nvSpPr>
          <p:cNvPr id="30" name="Shape 27"/>
          <p:cNvSpPr/>
          <p:nvPr/>
        </p:nvSpPr>
        <p:spPr>
          <a:xfrm>
            <a:off x="6583680" y="3931920"/>
            <a:ext cx="0" cy="594360"/>
          </a:xfrm>
          <a:prstGeom prst="line">
            <a:avLst/>
          </a:prstGeom>
          <a:noFill/>
          <a:ln w="19050">
            <a:solidFill>
              <a:srgbClr val="4B5563"/>
            </a:solidFill>
            <a:prstDash val="solid"/>
            <a:tailEnd type="triangle"/>
          </a:ln>
        </p:spPr>
        <p:txBody>
          <a:bodyPr/>
          <a:lstStyle/>
          <a:p>
            <a:endParaRPr lang="en-IN"/>
          </a:p>
        </p:txBody>
      </p:sp>
      <p:sp>
        <p:nvSpPr>
          <p:cNvPr id="31" name="Text 28"/>
          <p:cNvSpPr txBox="1"/>
          <p:nvPr/>
        </p:nvSpPr>
        <p:spPr>
          <a:xfrm>
            <a:off x="8915400" y="1371600"/>
            <a:ext cx="2834640" cy="274320"/>
          </a:xfrm>
          <a:prstGeom prst="rect">
            <a:avLst/>
          </a:prstGeom>
          <a:noFill/>
          <a:ln/>
        </p:spPr>
        <p:txBody>
          <a:bodyPr wrap="square" lIns="0" tIns="0" rIns="0" bIns="0" rtlCol="0" anchor="t"/>
          <a:lstStyle/>
          <a:p>
            <a:pPr marL="0" indent="0">
              <a:buNone/>
            </a:pPr>
            <a:r>
              <a:rPr lang="en-US" sz="1200" b="1" dirty="0">
                <a:solidFill>
                  <a:srgbClr val="4B5563"/>
                </a:solidFill>
                <a:latin typeface="Calibri" pitchFamily="34" charset="0"/>
                <a:ea typeface="Calibri" pitchFamily="34" charset="-122"/>
                <a:cs typeface="Calibri" pitchFamily="34" charset="-120"/>
              </a:rPr>
              <a:t>Verification (runs without the platform)</a:t>
            </a:r>
            <a:endParaRPr lang="en-US" sz="1200" dirty="0"/>
          </a:p>
        </p:txBody>
      </p:sp>
      <p:sp>
        <p:nvSpPr>
          <p:cNvPr id="32" name="Shape 29"/>
          <p:cNvSpPr/>
          <p:nvPr/>
        </p:nvSpPr>
        <p:spPr>
          <a:xfrm>
            <a:off x="8915400" y="1691640"/>
            <a:ext cx="2724912" cy="777240"/>
          </a:xfrm>
          <a:prstGeom prst="roundRect">
            <a:avLst>
              <a:gd name="adj" fmla="val 8235"/>
            </a:avLst>
          </a:prstGeom>
          <a:solidFill>
            <a:srgbClr val="F4F5F9"/>
          </a:solidFill>
          <a:ln w="12700">
            <a:solidFill>
              <a:srgbClr val="DDE1EA"/>
            </a:solidFill>
            <a:prstDash val="solid"/>
          </a:ln>
        </p:spPr>
        <p:txBody>
          <a:bodyPr/>
          <a:lstStyle/>
          <a:p>
            <a:endParaRPr lang="en-IN"/>
          </a:p>
        </p:txBody>
      </p:sp>
      <p:sp>
        <p:nvSpPr>
          <p:cNvPr id="33" name="Text 30"/>
          <p:cNvSpPr txBox="1"/>
          <p:nvPr/>
        </p:nvSpPr>
        <p:spPr>
          <a:xfrm>
            <a:off x="8915400" y="1691640"/>
            <a:ext cx="2724912" cy="77724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6 test suites</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452 assertions</a:t>
            </a:r>
            <a:endParaRPr lang="en-US" sz="1400" dirty="0"/>
          </a:p>
        </p:txBody>
      </p:sp>
      <p:sp>
        <p:nvSpPr>
          <p:cNvPr id="34" name="Shape 31"/>
          <p:cNvSpPr/>
          <p:nvPr/>
        </p:nvSpPr>
        <p:spPr>
          <a:xfrm>
            <a:off x="8915400" y="2606040"/>
            <a:ext cx="2724912" cy="777240"/>
          </a:xfrm>
          <a:prstGeom prst="roundRect">
            <a:avLst>
              <a:gd name="adj" fmla="val 8235"/>
            </a:avLst>
          </a:prstGeom>
          <a:solidFill>
            <a:srgbClr val="F4F5F9"/>
          </a:solidFill>
          <a:ln w="12700">
            <a:solidFill>
              <a:srgbClr val="DDE1EA"/>
            </a:solidFill>
            <a:prstDash val="solid"/>
          </a:ln>
        </p:spPr>
        <p:txBody>
          <a:bodyPr/>
          <a:lstStyle/>
          <a:p>
            <a:endParaRPr lang="en-IN"/>
          </a:p>
        </p:txBody>
      </p:sp>
      <p:sp>
        <p:nvSpPr>
          <p:cNvPr id="35" name="Text 32"/>
          <p:cNvSpPr txBox="1"/>
          <p:nvPr/>
        </p:nvSpPr>
        <p:spPr>
          <a:xfrm>
            <a:off x="8915400" y="2606040"/>
            <a:ext cx="2724912" cy="77724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Benchmarks</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timings and growth ratios</a:t>
            </a:r>
            <a:endParaRPr lang="en-US" sz="1400" dirty="0"/>
          </a:p>
        </p:txBody>
      </p:sp>
      <p:sp>
        <p:nvSpPr>
          <p:cNvPr id="36" name="Shape 33"/>
          <p:cNvSpPr/>
          <p:nvPr/>
        </p:nvSpPr>
        <p:spPr>
          <a:xfrm>
            <a:off x="8915400" y="3520440"/>
            <a:ext cx="2724912" cy="777240"/>
          </a:xfrm>
          <a:prstGeom prst="roundRect">
            <a:avLst>
              <a:gd name="adj" fmla="val 8235"/>
            </a:avLst>
          </a:prstGeom>
          <a:solidFill>
            <a:srgbClr val="F4F5F9"/>
          </a:solidFill>
          <a:ln w="12700">
            <a:solidFill>
              <a:srgbClr val="DDE1EA"/>
            </a:solidFill>
            <a:prstDash val="solid"/>
          </a:ln>
        </p:spPr>
        <p:txBody>
          <a:bodyPr/>
          <a:lstStyle/>
          <a:p>
            <a:endParaRPr lang="en-IN"/>
          </a:p>
        </p:txBody>
      </p:sp>
      <p:sp>
        <p:nvSpPr>
          <p:cNvPr id="37" name="Text 34"/>
          <p:cNvSpPr txBox="1"/>
          <p:nvPr/>
        </p:nvSpPr>
        <p:spPr>
          <a:xfrm>
            <a:off x="8915400" y="3520440"/>
            <a:ext cx="2724912" cy="77724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Demos</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worked examples per module</a:t>
            </a:r>
            <a:endParaRPr lang="en-US" sz="1400" dirty="0"/>
          </a:p>
        </p:txBody>
      </p:sp>
      <p:sp>
        <p:nvSpPr>
          <p:cNvPr id="38" name="Shape 35"/>
          <p:cNvSpPr/>
          <p:nvPr/>
        </p:nvSpPr>
        <p:spPr>
          <a:xfrm>
            <a:off x="10277856" y="4297680"/>
            <a:ext cx="0" cy="320040"/>
          </a:xfrm>
          <a:prstGeom prst="line">
            <a:avLst/>
          </a:prstGeom>
          <a:noFill/>
          <a:ln w="19050">
            <a:solidFill>
              <a:srgbClr val="4B5563"/>
            </a:solidFill>
            <a:prstDash val="solid"/>
            <a:tailEnd type="triangle"/>
          </a:ln>
        </p:spPr>
        <p:txBody>
          <a:bodyPr/>
          <a:lstStyle/>
          <a:p>
            <a:endParaRPr lang="en-IN"/>
          </a:p>
        </p:txBody>
      </p:sp>
      <p:sp>
        <p:nvSpPr>
          <p:cNvPr id="39" name="Text 36"/>
          <p:cNvSpPr txBox="1"/>
          <p:nvPr/>
        </p:nvSpPr>
        <p:spPr>
          <a:xfrm>
            <a:off x="8915400" y="4663440"/>
            <a:ext cx="2724912" cy="548640"/>
          </a:xfrm>
          <a:prstGeom prst="rect">
            <a:avLst/>
          </a:prstGeom>
          <a:noFill/>
          <a:ln/>
        </p:spPr>
        <p:txBody>
          <a:bodyPr wrap="square" lIns="0" tIns="0" rIns="0" bIns="0" rtlCol="0" anchor="t"/>
          <a:lstStyle/>
          <a:p>
            <a:pPr marL="0" indent="0" algn="ctr">
              <a:buNone/>
            </a:pPr>
            <a:r>
              <a:rPr lang="en-US" sz="1200" dirty="0">
                <a:solidFill>
                  <a:srgbClr val="4B5563"/>
                </a:solidFill>
                <a:latin typeface="Calibri" pitchFamily="34" charset="0"/>
                <a:ea typeface="Calibri" pitchFamily="34" charset="-122"/>
                <a:cs typeface="Calibri" pitchFamily="34" charset="-120"/>
              </a:rPr>
              <a:t>compiled together by run-tests.sh with javac -Xlint:all</a:t>
            </a:r>
            <a:endParaRPr lang="en-US" sz="1200" dirty="0"/>
          </a:p>
        </p:txBody>
      </p:sp>
      <p:sp>
        <p:nvSpPr>
          <p:cNvPr id="40" name="Text 37"/>
          <p:cNvSpPr txBox="1"/>
          <p:nvPr/>
        </p:nvSpPr>
        <p:spPr>
          <a:xfrm>
            <a:off x="8915400" y="5349240"/>
            <a:ext cx="2724912" cy="868680"/>
          </a:xfrm>
          <a:prstGeom prst="rect">
            <a:avLst/>
          </a:prstGeom>
          <a:noFill/>
          <a:ln/>
        </p:spPr>
        <p:txBody>
          <a:bodyPr wrap="square" lIns="0" tIns="0" rIns="0" bIns="0" rtlCol="0" anchor="t"/>
          <a:lstStyle/>
          <a:p>
            <a:pPr marL="0" indent="0">
              <a:buNone/>
            </a:pPr>
            <a:r>
              <a:rPr lang="en-US" sz="1100" i="1" dirty="0">
                <a:solidFill>
                  <a:srgbClr val="4B5563"/>
                </a:solidFill>
                <a:latin typeface="Calibri" pitchFamily="34" charset="0"/>
                <a:ea typeface="Calibri" pitchFamily="34" charset="-122"/>
                <a:cs typeface="Calibri" pitchFamily="34" charset="-120"/>
              </a:rPr>
              <a:t>Search data: document titles and descriptions come from PostgreSQL; MongoDB and Qdrant serve content and semantic vectors.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SYSTEM ARCHITECTURE</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Component description</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773168"/>
        </p:xfrm>
        <a:graphic>
          <a:graphicData uri="http://schemas.openxmlformats.org/drawingml/2006/table">
            <a:tbl>
              <a:tblPr/>
              <a:tblGrid>
                <a:gridCol w="164592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5148072">
                  <a:extLst>
                    <a:ext uri="{9D8B030D-6E8A-4147-A177-3AD203B41FA5}">
                      <a16:colId xmlns:a16="http://schemas.microsoft.com/office/drawing/2014/main" val="20002"/>
                    </a:ext>
                  </a:extLst>
                </a:gridCol>
              </a:tblGrid>
              <a:tr h="36576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Package</a:t>
                      </a:r>
                      <a:endParaRPr lang="en-US" sz="13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Responsibility</a:t>
                      </a:r>
                      <a:endParaRPr lang="en-US" sz="13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Main classes</a:t>
                      </a:r>
                      <a:endParaRPr lang="en-US" sz="13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extLst>
                  <a:ext uri="{0D108BD9-81ED-4DB2-BD59-A6C34878D82A}">
                    <a16:rowId xmlns:a16="http://schemas.microsoft.com/office/drawing/2014/main" val="10000"/>
                  </a:ext>
                </a:extLst>
              </a:tr>
              <a:tr h="566928">
                <a:tc>
                  <a:txBody>
                    <a:bodyPr/>
                    <a:lstStyle/>
                    <a:p>
                      <a:pPr marL="0" indent="0">
                        <a:buNone/>
                      </a:pPr>
                      <a:r>
                        <a:rPr lang="en-US" sz="1100" b="1" dirty="0">
                          <a:solidFill>
                            <a:srgbClr val="111827"/>
                          </a:solidFill>
                          <a:latin typeface="Consolas" pitchFamily="34" charset="0"/>
                          <a:ea typeface="Consolas" pitchFamily="34" charset="-122"/>
                          <a:cs typeface="Consolas" pitchFamily="34" charset="-120"/>
                        </a:rPr>
                        <a:t>core</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Primitives replacing java.util: growable int list, sorted child map, seeded PRNG, matcher contract</a:t>
                      </a:r>
                      <a:endParaRPr lang="en-US" sz="12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100" dirty="0">
                          <a:solidFill>
                            <a:srgbClr val="111827"/>
                          </a:solidFill>
                          <a:latin typeface="Consolas" pitchFamily="34" charset="0"/>
                          <a:ea typeface="Consolas" pitchFamily="34" charset="-122"/>
                          <a:cs typeface="Consolas" pitchFamily="34" charset="-120"/>
                        </a:rPr>
                        <a:t>IntList, CharMap, Prng, StringMatcher</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1"/>
                  </a:ext>
                </a:extLst>
              </a:tr>
              <a:tr h="566928">
                <a:tc>
                  <a:txBody>
                    <a:bodyPr/>
                    <a:lstStyle/>
                    <a:p>
                      <a:pPr marL="0" indent="0">
                        <a:buNone/>
                      </a:pPr>
                      <a:r>
                        <a:rPr lang="en-US" sz="1100" b="1" dirty="0">
                          <a:solidFill>
                            <a:srgbClr val="111827"/>
                          </a:solidFill>
                          <a:latin typeface="Consolas" pitchFamily="34" charset="0"/>
                          <a:ea typeface="Consolas" pitchFamily="34" charset="-122"/>
                          <a:cs typeface="Consolas" pitchFamily="34" charset="-120"/>
                        </a:rPr>
                        <a:t>string</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Exact, multi-pattern and suffix-structure algorithms</a:t>
                      </a:r>
                      <a:endParaRPr lang="en-US" sz="12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100" dirty="0">
                          <a:solidFill>
                            <a:srgbClr val="111827"/>
                          </a:solidFill>
                          <a:latin typeface="Consolas" pitchFamily="34" charset="0"/>
                          <a:ea typeface="Consolas" pitchFamily="34" charset="-122"/>
                          <a:cs typeface="Consolas" pitchFamily="34" charset="-120"/>
                        </a:rPr>
                        <a:t>NaiveSearch, KmpSearch, ZSearch, RabinKarpSearch, AhoCorasick, SuffixArray, LcpArray</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100" b="1" dirty="0">
                          <a:solidFill>
                            <a:srgbClr val="111827"/>
                          </a:solidFill>
                          <a:latin typeface="Consolas" pitchFamily="34" charset="0"/>
                          <a:ea typeface="Consolas" pitchFamily="34" charset="-122"/>
                          <a:cs typeface="Consolas" pitchFamily="34" charset="-120"/>
                        </a:rPr>
                        <a:t>dp</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Edit distance and sequence alignment</a:t>
                      </a:r>
                      <a:endParaRPr lang="en-US" sz="12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100" dirty="0">
                          <a:solidFill>
                            <a:srgbClr val="111827"/>
                          </a:solidFill>
                          <a:latin typeface="Consolas" pitchFamily="34" charset="0"/>
                          <a:ea typeface="Consolas" pitchFamily="34" charset="-122"/>
                          <a:cs typeface="Consolas" pitchFamily="34" charset="-120"/>
                        </a:rPr>
                        <a:t>Levenshtein, DamerauLevenshtein, NeedlemanWunsch, SmithWaterman, Alignment</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3"/>
                  </a:ext>
                </a:extLst>
              </a:tr>
              <a:tr h="566928">
                <a:tc>
                  <a:txBody>
                    <a:bodyPr/>
                    <a:lstStyle/>
                    <a:p>
                      <a:pPr marL="0" indent="0">
                        <a:buNone/>
                      </a:pPr>
                      <a:r>
                        <a:rPr lang="en-US" sz="1100" b="1" dirty="0">
                          <a:solidFill>
                            <a:srgbClr val="111827"/>
                          </a:solidFill>
                          <a:latin typeface="Consolas" pitchFamily="34" charset="0"/>
                          <a:ea typeface="Consolas" pitchFamily="34" charset="-122"/>
                          <a:cs typeface="Consolas" pitchFamily="34" charset="-120"/>
                        </a:rPr>
                        <a:t>graph</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Residual networks, max flow and matching</a:t>
                      </a:r>
                      <a:endParaRPr lang="en-US" sz="12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100" dirty="0">
                          <a:solidFill>
                            <a:srgbClr val="111827"/>
                          </a:solidFill>
                          <a:latin typeface="Consolas" pitchFamily="34" charset="0"/>
                          <a:ea typeface="Consolas" pitchFamily="34" charset="-122"/>
                          <a:cs typeface="Consolas" pitchFamily="34" charset="-120"/>
                        </a:rPr>
                        <a:t>FlowNetwork, FordFulkerson, EdmondsKarp, Dinic, BipartiteMatching</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100" b="1" dirty="0">
                          <a:solidFill>
                            <a:srgbClr val="111827"/>
                          </a:solidFill>
                          <a:latin typeface="Consolas" pitchFamily="34" charset="0"/>
                          <a:ea typeface="Consolas" pitchFamily="34" charset="-122"/>
                          <a:cs typeface="Consolas" pitchFamily="34" charset="-120"/>
                        </a:rPr>
                        <a:t>approximation</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NP-hard problems with proven ratios</a:t>
                      </a:r>
                      <a:endParaRPr lang="en-US" sz="12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100" dirty="0">
                          <a:solidFill>
                            <a:srgbClr val="111827"/>
                          </a:solidFill>
                          <a:latin typeface="Consolas" pitchFamily="34" charset="0"/>
                          <a:ea typeface="Consolas" pitchFamily="34" charset="-122"/>
                          <a:cs typeface="Consolas" pitchFamily="34" charset="-120"/>
                        </a:rPr>
                        <a:t>VertexCover, MakespanScheduling</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5"/>
                  </a:ext>
                </a:extLst>
              </a:tr>
              <a:tr h="502920">
                <a:tc>
                  <a:txBody>
                    <a:bodyPr/>
                    <a:lstStyle/>
                    <a:p>
                      <a:pPr marL="0" indent="0">
                        <a:buNone/>
                      </a:pPr>
                      <a:r>
                        <a:rPr lang="en-US" sz="1100" b="1" dirty="0">
                          <a:solidFill>
                            <a:srgbClr val="111827"/>
                          </a:solidFill>
                          <a:latin typeface="Consolas" pitchFamily="34" charset="0"/>
                          <a:ea typeface="Consolas" pitchFamily="34" charset="-122"/>
                          <a:cs typeface="Consolas" pitchFamily="34" charset="-120"/>
                        </a:rPr>
                        <a:t>randomized</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Primality, hashing and sampling</a:t>
                      </a:r>
                      <a:endParaRPr lang="en-US" sz="12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100" dirty="0">
                          <a:solidFill>
                            <a:srgbClr val="111827"/>
                          </a:solidFill>
                          <a:latin typeface="Consolas" pitchFamily="34" charset="0"/>
                          <a:ea typeface="Consolas" pitchFamily="34" charset="-122"/>
                          <a:cs typeface="Consolas" pitchFamily="34" charset="-120"/>
                        </a:rPr>
                        <a:t>MillerRabin, UniversalHashing, ReservoirSampling</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66928">
                <a:tc>
                  <a:txBody>
                    <a:bodyPr/>
                    <a:lstStyle/>
                    <a:p>
                      <a:pPr marL="0" indent="0">
                        <a:buNone/>
                      </a:pPr>
                      <a:r>
                        <a:rPr lang="en-US" sz="1100" b="1" dirty="0">
                          <a:solidFill>
                            <a:srgbClr val="111827"/>
                          </a:solidFill>
                          <a:latin typeface="Consolas" pitchFamily="34" charset="0"/>
                          <a:ea typeface="Consolas" pitchFamily="34" charset="-122"/>
                          <a:cs typeface="Consolas" pitchFamily="34" charset="-120"/>
                        </a:rPr>
                        <a:t>engine</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One facade, query language, citation analysis, complexity registry</a:t>
                      </a:r>
                      <a:endParaRPr lang="en-US" sz="12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100" dirty="0">
                          <a:solidFill>
                            <a:srgbClr val="111827"/>
                          </a:solidFill>
                          <a:latin typeface="Consolas" pitchFamily="34" charset="0"/>
                          <a:ea typeface="Consolas" pitchFamily="34" charset="-122"/>
                          <a:cs typeface="Consolas" pitchFamily="34" charset="-120"/>
                        </a:rPr>
                        <a:t>TextHack, QueryParser, Query, CitationFlow, ComplexityRegistry</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7"/>
                  </a:ext>
                </a:extLst>
              </a:tr>
              <a:tr h="566928">
                <a:tc>
                  <a:txBody>
                    <a:bodyPr/>
                    <a:lstStyle/>
                    <a:p>
                      <a:pPr marL="0" indent="0">
                        <a:buNone/>
                      </a:pPr>
                      <a:r>
                        <a:rPr lang="en-US" sz="1100" b="1" dirty="0">
                          <a:solidFill>
                            <a:srgbClr val="111827"/>
                          </a:solidFill>
                          <a:latin typeface="Consolas" pitchFamily="34" charset="0"/>
                          <a:ea typeface="Consolas" pitchFamily="34" charset="-122"/>
                          <a:cs typeface="Consolas" pitchFamily="34" charset="-120"/>
                        </a:rPr>
                        <a:t>platform</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Search scoring, REST API and workbench page</a:t>
                      </a:r>
                      <a:endParaRPr lang="en-US" sz="12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100" dirty="0">
                          <a:solidFill>
                            <a:srgbClr val="111827"/>
                          </a:solidFill>
                          <a:latin typeface="Consolas" pitchFamily="34" charset="0"/>
                          <a:ea typeface="Consolas" pitchFamily="34" charset="-122"/>
                          <a:cs typeface="Consolas" pitchFamily="34" charset="-120"/>
                        </a:rPr>
                        <a:t>LexicalScorer, SearchService, TextHackController, TextHackPage</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How every algorithm was built and verified</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548640" y="1463040"/>
            <a:ext cx="1719072" cy="2514600"/>
          </a:xfrm>
          <a:prstGeom prst="roundRect">
            <a:avLst>
              <a:gd name="adj" fmla="val 4255"/>
            </a:avLst>
          </a:prstGeom>
          <a:solidFill>
            <a:srgbClr val="F4F5F9"/>
          </a:solidFill>
          <a:ln w="12700">
            <a:solidFill>
              <a:srgbClr val="F4F5F9"/>
            </a:solidFill>
            <a:prstDash val="solid"/>
          </a:ln>
        </p:spPr>
        <p:txBody>
          <a:bodyPr/>
          <a:lstStyle/>
          <a:p>
            <a:endParaRPr lang="en-IN"/>
          </a:p>
        </p:txBody>
      </p:sp>
      <p:sp>
        <p:nvSpPr>
          <p:cNvPr id="8" name="Text 5"/>
          <p:cNvSpPr txBox="1"/>
          <p:nvPr/>
        </p:nvSpPr>
        <p:spPr>
          <a:xfrm>
            <a:off x="777240" y="164592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777240" y="2240280"/>
            <a:ext cx="1371600" cy="36576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Specify</a:t>
            </a:r>
            <a:endParaRPr lang="en-US" sz="1600" dirty="0"/>
          </a:p>
        </p:txBody>
      </p:sp>
      <p:sp>
        <p:nvSpPr>
          <p:cNvPr id="10" name="Text 7"/>
          <p:cNvSpPr txBox="1"/>
          <p:nvPr/>
        </p:nvSpPr>
        <p:spPr>
          <a:xfrm>
            <a:off x="777240" y="2651760"/>
            <a:ext cx="1325880" cy="1234440"/>
          </a:xfrm>
          <a:prstGeom prst="rect">
            <a:avLst/>
          </a:prstGeom>
          <a:noFill/>
          <a:ln/>
        </p:spPr>
        <p:txBody>
          <a:bodyPr wrap="square" lIns="0" tIns="0" rIns="0" bIns="0" rtlCol="0" anchor="t"/>
          <a:lstStyle/>
          <a:p>
            <a:pPr marL="0" indent="0">
              <a:buNone/>
            </a:pPr>
            <a:r>
              <a:rPr lang="en-US" sz="1200" dirty="0">
                <a:solidFill>
                  <a:srgbClr val="4B5563"/>
                </a:solidFill>
                <a:latin typeface="Calibri" pitchFamily="34" charset="0"/>
                <a:ea typeface="Calibri" pitchFamily="34" charset="-122"/>
                <a:cs typeface="Calibri" pitchFamily="34" charset="-120"/>
              </a:rPr>
              <a:t>Contract: inputs, output order, edge cases, rejected input</a:t>
            </a:r>
            <a:endParaRPr lang="en-US" sz="1200" dirty="0"/>
          </a:p>
        </p:txBody>
      </p:sp>
      <p:sp>
        <p:nvSpPr>
          <p:cNvPr id="11" name="Shape 8"/>
          <p:cNvSpPr/>
          <p:nvPr/>
        </p:nvSpPr>
        <p:spPr>
          <a:xfrm>
            <a:off x="2286000" y="2715768"/>
            <a:ext cx="137160" cy="0"/>
          </a:xfrm>
          <a:prstGeom prst="line">
            <a:avLst/>
          </a:prstGeom>
          <a:noFill/>
          <a:ln w="19050">
            <a:solidFill>
              <a:srgbClr val="4B5563"/>
            </a:solidFill>
            <a:prstDash val="solid"/>
            <a:tailEnd type="triangle"/>
          </a:ln>
        </p:spPr>
        <p:txBody>
          <a:bodyPr/>
          <a:lstStyle/>
          <a:p>
            <a:endParaRPr lang="en-IN"/>
          </a:p>
        </p:txBody>
      </p:sp>
      <p:sp>
        <p:nvSpPr>
          <p:cNvPr id="12" name="Shape 9"/>
          <p:cNvSpPr/>
          <p:nvPr/>
        </p:nvSpPr>
        <p:spPr>
          <a:xfrm>
            <a:off x="2441448" y="1463040"/>
            <a:ext cx="1719072" cy="2514600"/>
          </a:xfrm>
          <a:prstGeom prst="roundRect">
            <a:avLst>
              <a:gd name="adj" fmla="val 4255"/>
            </a:avLst>
          </a:prstGeom>
          <a:solidFill>
            <a:srgbClr val="F4F5F9"/>
          </a:solidFill>
          <a:ln w="12700">
            <a:solidFill>
              <a:srgbClr val="F4F5F9"/>
            </a:solidFill>
            <a:prstDash val="solid"/>
          </a:ln>
        </p:spPr>
        <p:txBody>
          <a:bodyPr/>
          <a:lstStyle/>
          <a:p>
            <a:endParaRPr lang="en-IN"/>
          </a:p>
        </p:txBody>
      </p:sp>
      <p:sp>
        <p:nvSpPr>
          <p:cNvPr id="13" name="Text 10"/>
          <p:cNvSpPr txBox="1"/>
          <p:nvPr/>
        </p:nvSpPr>
        <p:spPr>
          <a:xfrm>
            <a:off x="2670048" y="164592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2670048" y="2240280"/>
            <a:ext cx="1371600" cy="36576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Reference</a:t>
            </a:r>
            <a:endParaRPr lang="en-US" sz="1600" dirty="0"/>
          </a:p>
        </p:txBody>
      </p:sp>
      <p:sp>
        <p:nvSpPr>
          <p:cNvPr id="15" name="Text 12"/>
          <p:cNvSpPr txBox="1"/>
          <p:nvPr/>
        </p:nvSpPr>
        <p:spPr>
          <a:xfrm>
            <a:off x="2670048" y="2651760"/>
            <a:ext cx="1325880" cy="1234440"/>
          </a:xfrm>
          <a:prstGeom prst="rect">
            <a:avLst/>
          </a:prstGeom>
          <a:noFill/>
          <a:ln/>
        </p:spPr>
        <p:txBody>
          <a:bodyPr wrap="square" lIns="0" tIns="0" rIns="0" bIns="0" rtlCol="0" anchor="t"/>
          <a:lstStyle/>
          <a:p>
            <a:pPr marL="0" indent="0">
              <a:buNone/>
            </a:pPr>
            <a:r>
              <a:rPr lang="en-US" sz="1200" dirty="0">
                <a:solidFill>
                  <a:srgbClr val="4B5563"/>
                </a:solidFill>
                <a:latin typeface="Calibri" pitchFamily="34" charset="0"/>
                <a:ea typeface="Calibri" pitchFamily="34" charset="-122"/>
                <a:cs typeface="Calibri" pitchFamily="34" charset="-120"/>
              </a:rPr>
              <a:t>Simple, obviously correct version: naive search, brute-force sort</a:t>
            </a:r>
            <a:endParaRPr lang="en-US" sz="1200" dirty="0"/>
          </a:p>
        </p:txBody>
      </p:sp>
      <p:sp>
        <p:nvSpPr>
          <p:cNvPr id="16" name="Shape 13"/>
          <p:cNvSpPr/>
          <p:nvPr/>
        </p:nvSpPr>
        <p:spPr>
          <a:xfrm>
            <a:off x="4178808" y="2715768"/>
            <a:ext cx="137160" cy="0"/>
          </a:xfrm>
          <a:prstGeom prst="line">
            <a:avLst/>
          </a:prstGeom>
          <a:noFill/>
          <a:ln w="19050">
            <a:solidFill>
              <a:srgbClr val="4B5563"/>
            </a:solidFill>
            <a:prstDash val="solid"/>
            <a:tailEnd type="triangle"/>
          </a:ln>
        </p:spPr>
        <p:txBody>
          <a:bodyPr/>
          <a:lstStyle/>
          <a:p>
            <a:endParaRPr lang="en-IN"/>
          </a:p>
        </p:txBody>
      </p:sp>
      <p:sp>
        <p:nvSpPr>
          <p:cNvPr id="17" name="Shape 14"/>
          <p:cNvSpPr/>
          <p:nvPr/>
        </p:nvSpPr>
        <p:spPr>
          <a:xfrm>
            <a:off x="4334256" y="1463040"/>
            <a:ext cx="1719072" cy="2514600"/>
          </a:xfrm>
          <a:prstGeom prst="roundRect">
            <a:avLst>
              <a:gd name="adj" fmla="val 4255"/>
            </a:avLst>
          </a:prstGeom>
          <a:solidFill>
            <a:srgbClr val="F4F5F9"/>
          </a:solidFill>
          <a:ln w="12700">
            <a:solidFill>
              <a:srgbClr val="F4F5F9"/>
            </a:solidFill>
            <a:prstDash val="solid"/>
          </a:ln>
        </p:spPr>
        <p:txBody>
          <a:bodyPr/>
          <a:lstStyle/>
          <a:p>
            <a:endParaRPr lang="en-IN"/>
          </a:p>
        </p:txBody>
      </p:sp>
      <p:sp>
        <p:nvSpPr>
          <p:cNvPr id="18" name="Text 15"/>
          <p:cNvSpPr txBox="1"/>
          <p:nvPr/>
        </p:nvSpPr>
        <p:spPr>
          <a:xfrm>
            <a:off x="4562856" y="164592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3</a:t>
            </a:r>
            <a:endParaRPr lang="en-US" sz="1600" dirty="0"/>
          </a:p>
        </p:txBody>
      </p:sp>
      <p:sp>
        <p:nvSpPr>
          <p:cNvPr id="19" name="Text 16"/>
          <p:cNvSpPr txBox="1"/>
          <p:nvPr/>
        </p:nvSpPr>
        <p:spPr>
          <a:xfrm>
            <a:off x="4562856" y="2240280"/>
            <a:ext cx="1371600" cy="36576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Implement</a:t>
            </a:r>
            <a:endParaRPr lang="en-US" sz="1600" dirty="0"/>
          </a:p>
        </p:txBody>
      </p:sp>
      <p:sp>
        <p:nvSpPr>
          <p:cNvPr id="20" name="Text 17"/>
          <p:cNvSpPr txBox="1"/>
          <p:nvPr/>
        </p:nvSpPr>
        <p:spPr>
          <a:xfrm>
            <a:off x="4562856" y="2651760"/>
            <a:ext cx="1325880" cy="1234440"/>
          </a:xfrm>
          <a:prstGeom prst="rect">
            <a:avLst/>
          </a:prstGeom>
          <a:noFill/>
          <a:ln/>
        </p:spPr>
        <p:txBody>
          <a:bodyPr wrap="square" lIns="0" tIns="0" rIns="0" bIns="0" rtlCol="0" anchor="t"/>
          <a:lstStyle/>
          <a:p>
            <a:pPr marL="0" indent="0">
              <a:buNone/>
            </a:pPr>
            <a:r>
              <a:rPr lang="en-US" sz="1200" dirty="0">
                <a:solidFill>
                  <a:srgbClr val="4B5563"/>
                </a:solidFill>
                <a:latin typeface="Calibri" pitchFamily="34" charset="0"/>
                <a:ea typeface="Calibri" pitchFamily="34" charset="-122"/>
                <a:cs typeface="Calibri" pitchFamily="34" charset="-120"/>
              </a:rPr>
              <a:t>The efficient algorithm, from scratch, no java.util</a:t>
            </a:r>
            <a:endParaRPr lang="en-US" sz="1200" dirty="0"/>
          </a:p>
        </p:txBody>
      </p:sp>
      <p:sp>
        <p:nvSpPr>
          <p:cNvPr id="21" name="Shape 18"/>
          <p:cNvSpPr/>
          <p:nvPr/>
        </p:nvSpPr>
        <p:spPr>
          <a:xfrm>
            <a:off x="6071616" y="2715768"/>
            <a:ext cx="137160" cy="0"/>
          </a:xfrm>
          <a:prstGeom prst="line">
            <a:avLst/>
          </a:prstGeom>
          <a:noFill/>
          <a:ln w="19050">
            <a:solidFill>
              <a:srgbClr val="4B5563"/>
            </a:solidFill>
            <a:prstDash val="solid"/>
            <a:tailEnd type="triangle"/>
          </a:ln>
        </p:spPr>
        <p:txBody>
          <a:bodyPr/>
          <a:lstStyle/>
          <a:p>
            <a:endParaRPr lang="en-IN"/>
          </a:p>
        </p:txBody>
      </p:sp>
      <p:sp>
        <p:nvSpPr>
          <p:cNvPr id="22" name="Shape 19"/>
          <p:cNvSpPr/>
          <p:nvPr/>
        </p:nvSpPr>
        <p:spPr>
          <a:xfrm>
            <a:off x="6227064" y="1463040"/>
            <a:ext cx="1719072" cy="2514600"/>
          </a:xfrm>
          <a:prstGeom prst="roundRect">
            <a:avLst>
              <a:gd name="adj" fmla="val 4255"/>
            </a:avLst>
          </a:prstGeom>
          <a:solidFill>
            <a:srgbClr val="F4F5F9"/>
          </a:solidFill>
          <a:ln w="12700">
            <a:solidFill>
              <a:srgbClr val="F4F5F9"/>
            </a:solidFill>
            <a:prstDash val="solid"/>
          </a:ln>
        </p:spPr>
        <p:txBody>
          <a:bodyPr/>
          <a:lstStyle/>
          <a:p>
            <a:endParaRPr lang="en-IN"/>
          </a:p>
        </p:txBody>
      </p:sp>
      <p:sp>
        <p:nvSpPr>
          <p:cNvPr id="23" name="Text 20"/>
          <p:cNvSpPr txBox="1"/>
          <p:nvPr/>
        </p:nvSpPr>
        <p:spPr>
          <a:xfrm>
            <a:off x="6455664" y="164592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4</a:t>
            </a:r>
            <a:endParaRPr lang="en-US" sz="1600" dirty="0"/>
          </a:p>
        </p:txBody>
      </p:sp>
      <p:sp>
        <p:nvSpPr>
          <p:cNvPr id="24" name="Text 21"/>
          <p:cNvSpPr txBox="1"/>
          <p:nvPr/>
        </p:nvSpPr>
        <p:spPr>
          <a:xfrm>
            <a:off x="6455664" y="2240280"/>
            <a:ext cx="1371600" cy="36576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Cross-validate</a:t>
            </a:r>
            <a:endParaRPr lang="en-US" sz="1600" dirty="0"/>
          </a:p>
        </p:txBody>
      </p:sp>
      <p:sp>
        <p:nvSpPr>
          <p:cNvPr id="25" name="Text 22"/>
          <p:cNvSpPr txBox="1"/>
          <p:nvPr/>
        </p:nvSpPr>
        <p:spPr>
          <a:xfrm>
            <a:off x="6455664" y="2651760"/>
            <a:ext cx="1325880" cy="1234440"/>
          </a:xfrm>
          <a:prstGeom prst="rect">
            <a:avLst/>
          </a:prstGeom>
          <a:noFill/>
          <a:ln/>
        </p:spPr>
        <p:txBody>
          <a:bodyPr wrap="square" lIns="0" tIns="0" rIns="0" bIns="0" rtlCol="0" anchor="t"/>
          <a:lstStyle/>
          <a:p>
            <a:pPr marL="0" indent="0">
              <a:buNone/>
            </a:pPr>
            <a:r>
              <a:rPr lang="en-US" sz="1200" dirty="0">
                <a:solidFill>
                  <a:srgbClr val="4B5563"/>
                </a:solidFill>
                <a:latin typeface="Calibri" pitchFamily="34" charset="0"/>
                <a:ea typeface="Calibri" pitchFamily="34" charset="-122"/>
                <a:cs typeface="Calibri" pitchFamily="34" charset="-120"/>
              </a:rPr>
              <a:t>Random inputs checked against the reference; fixed edge cases</a:t>
            </a:r>
            <a:endParaRPr lang="en-US" sz="1200" dirty="0"/>
          </a:p>
        </p:txBody>
      </p:sp>
      <p:sp>
        <p:nvSpPr>
          <p:cNvPr id="26" name="Shape 23"/>
          <p:cNvSpPr/>
          <p:nvPr/>
        </p:nvSpPr>
        <p:spPr>
          <a:xfrm>
            <a:off x="7964424" y="2715768"/>
            <a:ext cx="137160" cy="0"/>
          </a:xfrm>
          <a:prstGeom prst="line">
            <a:avLst/>
          </a:prstGeom>
          <a:noFill/>
          <a:ln w="19050">
            <a:solidFill>
              <a:srgbClr val="4B5563"/>
            </a:solidFill>
            <a:prstDash val="solid"/>
            <a:tailEnd type="triangle"/>
          </a:ln>
        </p:spPr>
        <p:txBody>
          <a:bodyPr/>
          <a:lstStyle/>
          <a:p>
            <a:endParaRPr lang="en-IN"/>
          </a:p>
        </p:txBody>
      </p:sp>
      <p:sp>
        <p:nvSpPr>
          <p:cNvPr id="27" name="Shape 24"/>
          <p:cNvSpPr/>
          <p:nvPr/>
        </p:nvSpPr>
        <p:spPr>
          <a:xfrm>
            <a:off x="8119872" y="1463040"/>
            <a:ext cx="1719072" cy="2514600"/>
          </a:xfrm>
          <a:prstGeom prst="roundRect">
            <a:avLst>
              <a:gd name="adj" fmla="val 4255"/>
            </a:avLst>
          </a:prstGeom>
          <a:solidFill>
            <a:srgbClr val="F4F5F9"/>
          </a:solidFill>
          <a:ln w="12700">
            <a:solidFill>
              <a:srgbClr val="F4F5F9"/>
            </a:solidFill>
            <a:prstDash val="solid"/>
          </a:ln>
        </p:spPr>
        <p:txBody>
          <a:bodyPr/>
          <a:lstStyle/>
          <a:p>
            <a:endParaRPr lang="en-IN"/>
          </a:p>
        </p:txBody>
      </p:sp>
      <p:sp>
        <p:nvSpPr>
          <p:cNvPr id="28" name="Text 25"/>
          <p:cNvSpPr txBox="1"/>
          <p:nvPr/>
        </p:nvSpPr>
        <p:spPr>
          <a:xfrm>
            <a:off x="8348472" y="164592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5</a:t>
            </a:r>
            <a:endParaRPr lang="en-US" sz="1600" dirty="0"/>
          </a:p>
        </p:txBody>
      </p:sp>
      <p:sp>
        <p:nvSpPr>
          <p:cNvPr id="29" name="Text 26"/>
          <p:cNvSpPr txBox="1"/>
          <p:nvPr/>
        </p:nvSpPr>
        <p:spPr>
          <a:xfrm>
            <a:off x="8348472" y="2240280"/>
            <a:ext cx="1371600" cy="36576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Measure</a:t>
            </a:r>
            <a:endParaRPr lang="en-US" sz="1600" dirty="0"/>
          </a:p>
        </p:txBody>
      </p:sp>
      <p:sp>
        <p:nvSpPr>
          <p:cNvPr id="30" name="Text 27"/>
          <p:cNvSpPr txBox="1"/>
          <p:nvPr/>
        </p:nvSpPr>
        <p:spPr>
          <a:xfrm>
            <a:off x="8348472" y="2651760"/>
            <a:ext cx="1325880" cy="1234440"/>
          </a:xfrm>
          <a:prstGeom prst="rect">
            <a:avLst/>
          </a:prstGeom>
          <a:noFill/>
          <a:ln/>
        </p:spPr>
        <p:txBody>
          <a:bodyPr wrap="square" lIns="0" tIns="0" rIns="0" bIns="0" rtlCol="0" anchor="t"/>
          <a:lstStyle/>
          <a:p>
            <a:pPr marL="0" indent="0">
              <a:buNone/>
            </a:pPr>
            <a:r>
              <a:rPr lang="en-US" sz="1200" dirty="0">
                <a:solidFill>
                  <a:srgbClr val="4B5563"/>
                </a:solidFill>
                <a:latin typeface="Calibri" pitchFamily="34" charset="0"/>
                <a:ea typeface="Calibri" pitchFamily="34" charset="-122"/>
                <a:cs typeface="Calibri" pitchFamily="34" charset="-120"/>
              </a:rPr>
              <a:t>Complexity documented, benchmarks check growth rates</a:t>
            </a:r>
            <a:endParaRPr lang="en-US" sz="1200" dirty="0"/>
          </a:p>
        </p:txBody>
      </p:sp>
      <p:sp>
        <p:nvSpPr>
          <p:cNvPr id="31" name="Shape 28"/>
          <p:cNvSpPr/>
          <p:nvPr/>
        </p:nvSpPr>
        <p:spPr>
          <a:xfrm>
            <a:off x="9857232" y="2715768"/>
            <a:ext cx="137160" cy="0"/>
          </a:xfrm>
          <a:prstGeom prst="line">
            <a:avLst/>
          </a:prstGeom>
          <a:noFill/>
          <a:ln w="19050">
            <a:solidFill>
              <a:srgbClr val="4B5563"/>
            </a:solidFill>
            <a:prstDash val="solid"/>
            <a:tailEnd type="triangle"/>
          </a:ln>
        </p:spPr>
        <p:txBody>
          <a:bodyPr/>
          <a:lstStyle/>
          <a:p>
            <a:endParaRPr lang="en-IN"/>
          </a:p>
        </p:txBody>
      </p:sp>
      <p:sp>
        <p:nvSpPr>
          <p:cNvPr id="32" name="Shape 29"/>
          <p:cNvSpPr/>
          <p:nvPr/>
        </p:nvSpPr>
        <p:spPr>
          <a:xfrm>
            <a:off x="10012680" y="1463040"/>
            <a:ext cx="1719072" cy="2514600"/>
          </a:xfrm>
          <a:prstGeom prst="roundRect">
            <a:avLst>
              <a:gd name="adj" fmla="val 4255"/>
            </a:avLst>
          </a:prstGeom>
          <a:solidFill>
            <a:srgbClr val="F4F5F9"/>
          </a:solidFill>
          <a:ln w="12700">
            <a:solidFill>
              <a:srgbClr val="F4F5F9"/>
            </a:solidFill>
            <a:prstDash val="solid"/>
          </a:ln>
        </p:spPr>
        <p:txBody>
          <a:bodyPr/>
          <a:lstStyle/>
          <a:p>
            <a:endParaRPr lang="en-IN"/>
          </a:p>
        </p:txBody>
      </p:sp>
      <p:sp>
        <p:nvSpPr>
          <p:cNvPr id="33" name="Text 30"/>
          <p:cNvSpPr txBox="1"/>
          <p:nvPr/>
        </p:nvSpPr>
        <p:spPr>
          <a:xfrm>
            <a:off x="10241280" y="164592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6</a:t>
            </a:r>
            <a:endParaRPr lang="en-US" sz="1600" dirty="0"/>
          </a:p>
        </p:txBody>
      </p:sp>
      <p:sp>
        <p:nvSpPr>
          <p:cNvPr id="34" name="Text 31"/>
          <p:cNvSpPr txBox="1"/>
          <p:nvPr/>
        </p:nvSpPr>
        <p:spPr>
          <a:xfrm>
            <a:off x="10241280" y="2240280"/>
            <a:ext cx="1371600" cy="36576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Integrate</a:t>
            </a:r>
            <a:endParaRPr lang="en-US" sz="1600" dirty="0"/>
          </a:p>
        </p:txBody>
      </p:sp>
      <p:sp>
        <p:nvSpPr>
          <p:cNvPr id="35" name="Text 32"/>
          <p:cNvSpPr txBox="1"/>
          <p:nvPr/>
        </p:nvSpPr>
        <p:spPr>
          <a:xfrm>
            <a:off x="10241280" y="2651760"/>
            <a:ext cx="1325880" cy="1234440"/>
          </a:xfrm>
          <a:prstGeom prst="rect">
            <a:avLst/>
          </a:prstGeom>
          <a:noFill/>
          <a:ln/>
        </p:spPr>
        <p:txBody>
          <a:bodyPr wrap="square" lIns="0" tIns="0" rIns="0" bIns="0" rtlCol="0" anchor="t"/>
          <a:lstStyle/>
          <a:p>
            <a:pPr marL="0" indent="0">
              <a:buNone/>
            </a:pPr>
            <a:r>
              <a:rPr lang="en-US" sz="1200" dirty="0">
                <a:solidFill>
                  <a:srgbClr val="4B5563"/>
                </a:solidFill>
                <a:latin typeface="Calibri" pitchFamily="34" charset="0"/>
                <a:ea typeface="Calibri" pitchFamily="34" charset="-122"/>
                <a:cs typeface="Calibri" pitchFamily="34" charset="-120"/>
              </a:rPr>
              <a:t>Engine → backend scoring → REST API → workbench page</a:t>
            </a:r>
            <a:endParaRPr lang="en-US" sz="1200" dirty="0"/>
          </a:p>
        </p:txBody>
      </p:sp>
      <p:sp>
        <p:nvSpPr>
          <p:cNvPr id="36" name="Text 33"/>
          <p:cNvSpPr txBox="1"/>
          <p:nvPr/>
        </p:nvSpPr>
        <p:spPr>
          <a:xfrm>
            <a:off x="548640" y="4251960"/>
            <a:ext cx="10972800" cy="32004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Techniques used</a:t>
            </a:r>
            <a:endParaRPr lang="en-US" sz="1700" dirty="0"/>
          </a:p>
        </p:txBody>
      </p:sp>
      <p:sp>
        <p:nvSpPr>
          <p:cNvPr id="37" name="Text 34"/>
          <p:cNvSpPr txBox="1"/>
          <p:nvPr/>
        </p:nvSpPr>
        <p:spPr>
          <a:xfrm>
            <a:off x="548640" y="4709160"/>
            <a:ext cx="1743869"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failure function</a:t>
            </a:r>
            <a:endParaRPr lang="en-US" sz="1200" dirty="0"/>
          </a:p>
        </p:txBody>
      </p:sp>
      <p:sp>
        <p:nvSpPr>
          <p:cNvPr id="38" name="Text 35"/>
          <p:cNvSpPr txBox="1"/>
          <p:nvPr/>
        </p:nvSpPr>
        <p:spPr>
          <a:xfrm>
            <a:off x="2438813" y="4709160"/>
            <a:ext cx="2208818"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rolling hash + verify</a:t>
            </a:r>
            <a:endParaRPr lang="en-US" sz="1200" dirty="0"/>
          </a:p>
        </p:txBody>
      </p:sp>
      <p:sp>
        <p:nvSpPr>
          <p:cNvPr id="39" name="Text 36"/>
          <p:cNvSpPr txBox="1"/>
          <p:nvPr/>
        </p:nvSpPr>
        <p:spPr>
          <a:xfrm>
            <a:off x="4793936" y="4709160"/>
            <a:ext cx="2766757"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trie + failure/output links</a:t>
            </a:r>
            <a:endParaRPr lang="en-US" sz="1200" dirty="0"/>
          </a:p>
        </p:txBody>
      </p:sp>
      <p:sp>
        <p:nvSpPr>
          <p:cNvPr id="40" name="Text 37"/>
          <p:cNvSpPr txBox="1"/>
          <p:nvPr/>
        </p:nvSpPr>
        <p:spPr>
          <a:xfrm>
            <a:off x="7706997" y="4709160"/>
            <a:ext cx="3138717"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prefix doubling + counting sort</a:t>
            </a:r>
            <a:endParaRPr lang="en-US" sz="1200" dirty="0"/>
          </a:p>
        </p:txBody>
      </p:sp>
      <p:sp>
        <p:nvSpPr>
          <p:cNvPr id="41" name="Text 38"/>
          <p:cNvSpPr txBox="1"/>
          <p:nvPr/>
        </p:nvSpPr>
        <p:spPr>
          <a:xfrm>
            <a:off x="548640" y="5148072"/>
            <a:ext cx="1650879"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Kasai LCP carry</a:t>
            </a:r>
            <a:endParaRPr lang="en-US" sz="1200" dirty="0"/>
          </a:p>
        </p:txBody>
      </p:sp>
      <p:sp>
        <p:nvSpPr>
          <p:cNvPr id="42" name="Text 39"/>
          <p:cNvSpPr txBox="1"/>
          <p:nvPr/>
        </p:nvSpPr>
        <p:spPr>
          <a:xfrm>
            <a:off x="2345823" y="5148072"/>
            <a:ext cx="1557890"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rolling-row DP</a:t>
            </a:r>
            <a:endParaRPr lang="en-US" sz="1200" dirty="0"/>
          </a:p>
        </p:txBody>
      </p:sp>
      <p:sp>
        <p:nvSpPr>
          <p:cNvPr id="43" name="Text 40"/>
          <p:cNvSpPr txBox="1"/>
          <p:nvPr/>
        </p:nvSpPr>
        <p:spPr>
          <a:xfrm>
            <a:off x="4050017" y="5148072"/>
            <a:ext cx="1929849"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traceback matrices</a:t>
            </a:r>
            <a:endParaRPr lang="en-US" sz="1200" dirty="0"/>
          </a:p>
        </p:txBody>
      </p:sp>
      <p:sp>
        <p:nvSpPr>
          <p:cNvPr id="44" name="Text 41"/>
          <p:cNvSpPr txBox="1"/>
          <p:nvPr/>
        </p:nvSpPr>
        <p:spPr>
          <a:xfrm>
            <a:off x="6126170" y="5148072"/>
            <a:ext cx="1650879"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residual graphs</a:t>
            </a:r>
            <a:endParaRPr lang="en-US" sz="1200" dirty="0"/>
          </a:p>
        </p:txBody>
      </p:sp>
      <p:sp>
        <p:nvSpPr>
          <p:cNvPr id="45" name="Text 42"/>
          <p:cNvSpPr txBox="1"/>
          <p:nvPr/>
        </p:nvSpPr>
        <p:spPr>
          <a:xfrm>
            <a:off x="7923353" y="5148072"/>
            <a:ext cx="3045727"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BFS level graphs + current arc</a:t>
            </a:r>
            <a:endParaRPr lang="en-US" sz="1200" dirty="0"/>
          </a:p>
        </p:txBody>
      </p:sp>
      <p:sp>
        <p:nvSpPr>
          <p:cNvPr id="46" name="Text 43"/>
          <p:cNvSpPr txBox="1"/>
          <p:nvPr/>
        </p:nvSpPr>
        <p:spPr>
          <a:xfrm>
            <a:off x="548640" y="5586984"/>
            <a:ext cx="1557890"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heapsort (LPT)</a:t>
            </a:r>
            <a:endParaRPr lang="en-US" sz="1200" dirty="0"/>
          </a:p>
        </p:txBody>
      </p:sp>
      <p:sp>
        <p:nvSpPr>
          <p:cNvPr id="47" name="Text 44"/>
          <p:cNvSpPr txBox="1"/>
          <p:nvPr/>
        </p:nvSpPr>
        <p:spPr>
          <a:xfrm>
            <a:off x="2252834" y="5586984"/>
            <a:ext cx="2394798"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Russian-peasant mod-mul</a:t>
            </a:r>
            <a:endParaRPr lang="en-US" sz="1200" dirty="0"/>
          </a:p>
        </p:txBody>
      </p:sp>
      <p:sp>
        <p:nvSpPr>
          <p:cNvPr id="48" name="Text 45"/>
          <p:cNvSpPr txBox="1"/>
          <p:nvPr/>
        </p:nvSpPr>
        <p:spPr>
          <a:xfrm>
            <a:off x="4793936" y="5586984"/>
            <a:ext cx="2115829"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Algorithm R sampling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The 20 algorithms, in five families</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548640" y="1417320"/>
            <a:ext cx="2103120" cy="4846320"/>
          </a:xfrm>
          <a:prstGeom prst="roundRect">
            <a:avLst>
              <a:gd name="adj" fmla="val 3478"/>
            </a:avLst>
          </a:prstGeom>
          <a:solidFill>
            <a:srgbClr val="F4F5F9"/>
          </a:solidFill>
          <a:ln w="12700">
            <a:solidFill>
              <a:srgbClr val="F4F5F9"/>
            </a:solidFill>
            <a:prstDash val="solid"/>
          </a:ln>
        </p:spPr>
        <p:txBody>
          <a:bodyPr/>
          <a:lstStyle/>
          <a:p>
            <a:endParaRPr lang="en-IN"/>
          </a:p>
        </p:txBody>
      </p:sp>
      <p:sp>
        <p:nvSpPr>
          <p:cNvPr id="8" name="Text 5"/>
          <p:cNvSpPr txBox="1"/>
          <p:nvPr/>
        </p:nvSpPr>
        <p:spPr>
          <a:xfrm>
            <a:off x="713232" y="1572768"/>
            <a:ext cx="1783080" cy="566928"/>
          </a:xfrm>
          <a:prstGeom prst="rect">
            <a:avLst/>
          </a:prstGeom>
          <a:noFill/>
          <a:ln/>
        </p:spPr>
        <p:txBody>
          <a:bodyPr wrap="square" lIns="0" tIns="0" rIns="0" bIns="0" rtlCol="0" anchor="t"/>
          <a:lstStyle/>
          <a:p>
            <a:pPr marL="0" indent="0">
              <a:buNone/>
            </a:pPr>
            <a:r>
              <a:rPr lang="en-US" sz="1600" b="1" dirty="0">
                <a:solidFill>
                  <a:srgbClr val="B45309"/>
                </a:solidFill>
                <a:latin typeface="Calibri" pitchFamily="34" charset="0"/>
                <a:ea typeface="Calibri" pitchFamily="34" charset="-122"/>
                <a:cs typeface="Calibri" pitchFamily="34" charset="-120"/>
              </a:rPr>
              <a:t>String</a:t>
            </a:r>
            <a:endParaRPr lang="en-US" sz="1600" dirty="0"/>
          </a:p>
        </p:txBody>
      </p:sp>
      <p:sp>
        <p:nvSpPr>
          <p:cNvPr id="9" name="Text 6"/>
          <p:cNvSpPr txBox="1"/>
          <p:nvPr/>
        </p:nvSpPr>
        <p:spPr>
          <a:xfrm>
            <a:off x="713232" y="2240280"/>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Naive search</a:t>
            </a:r>
            <a:endParaRPr lang="en-US" sz="1300" dirty="0"/>
          </a:p>
        </p:txBody>
      </p:sp>
      <p:sp>
        <p:nvSpPr>
          <p:cNvPr id="10" name="Text 7"/>
          <p:cNvSpPr txBox="1"/>
          <p:nvPr/>
        </p:nvSpPr>
        <p:spPr>
          <a:xfrm>
            <a:off x="713232" y="2487168"/>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O(n·m)</a:t>
            </a:r>
            <a:endParaRPr lang="en-US" sz="1100" dirty="0"/>
          </a:p>
        </p:txBody>
      </p:sp>
      <p:sp>
        <p:nvSpPr>
          <p:cNvPr id="11" name="Text 8"/>
          <p:cNvSpPr txBox="1"/>
          <p:nvPr/>
        </p:nvSpPr>
        <p:spPr>
          <a:xfrm>
            <a:off x="713232" y="2807208"/>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KMP</a:t>
            </a:r>
            <a:endParaRPr lang="en-US" sz="1300" dirty="0"/>
          </a:p>
        </p:txBody>
      </p:sp>
      <p:sp>
        <p:nvSpPr>
          <p:cNvPr id="12" name="Text 9"/>
          <p:cNvSpPr txBox="1"/>
          <p:nvPr/>
        </p:nvSpPr>
        <p:spPr>
          <a:xfrm>
            <a:off x="713232" y="3054096"/>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O(n+m)</a:t>
            </a:r>
            <a:endParaRPr lang="en-US" sz="1100" dirty="0"/>
          </a:p>
        </p:txBody>
      </p:sp>
      <p:sp>
        <p:nvSpPr>
          <p:cNvPr id="13" name="Text 10"/>
          <p:cNvSpPr txBox="1"/>
          <p:nvPr/>
        </p:nvSpPr>
        <p:spPr>
          <a:xfrm>
            <a:off x="713232" y="3374136"/>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Z-algorithm</a:t>
            </a:r>
            <a:endParaRPr lang="en-US" sz="1300" dirty="0"/>
          </a:p>
        </p:txBody>
      </p:sp>
      <p:sp>
        <p:nvSpPr>
          <p:cNvPr id="14" name="Text 11"/>
          <p:cNvSpPr txBox="1"/>
          <p:nvPr/>
        </p:nvSpPr>
        <p:spPr>
          <a:xfrm>
            <a:off x="713232" y="3621024"/>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O(n+m)</a:t>
            </a:r>
            <a:endParaRPr lang="en-US" sz="1100" dirty="0"/>
          </a:p>
        </p:txBody>
      </p:sp>
      <p:sp>
        <p:nvSpPr>
          <p:cNvPr id="15" name="Text 12"/>
          <p:cNvSpPr txBox="1"/>
          <p:nvPr/>
        </p:nvSpPr>
        <p:spPr>
          <a:xfrm>
            <a:off x="713232" y="3941064"/>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Rabin-Karp</a:t>
            </a:r>
            <a:endParaRPr lang="en-US" sz="1300" dirty="0"/>
          </a:p>
        </p:txBody>
      </p:sp>
      <p:sp>
        <p:nvSpPr>
          <p:cNvPr id="16" name="Text 13"/>
          <p:cNvSpPr txBox="1"/>
          <p:nvPr/>
        </p:nvSpPr>
        <p:spPr>
          <a:xfrm>
            <a:off x="713232" y="4187952"/>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O(n+m) exp.</a:t>
            </a:r>
            <a:endParaRPr lang="en-US" sz="1100" dirty="0"/>
          </a:p>
        </p:txBody>
      </p:sp>
      <p:sp>
        <p:nvSpPr>
          <p:cNvPr id="17" name="Text 14"/>
          <p:cNvSpPr txBox="1"/>
          <p:nvPr/>
        </p:nvSpPr>
        <p:spPr>
          <a:xfrm>
            <a:off x="713232" y="4507992"/>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Aho-Corasick</a:t>
            </a:r>
            <a:endParaRPr lang="en-US" sz="1300" dirty="0"/>
          </a:p>
        </p:txBody>
      </p:sp>
      <p:sp>
        <p:nvSpPr>
          <p:cNvPr id="18" name="Text 15"/>
          <p:cNvSpPr txBox="1"/>
          <p:nvPr/>
        </p:nvSpPr>
        <p:spPr>
          <a:xfrm>
            <a:off x="713232" y="4754880"/>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O(n+z)</a:t>
            </a:r>
            <a:endParaRPr lang="en-US" sz="1100" dirty="0"/>
          </a:p>
        </p:txBody>
      </p:sp>
      <p:sp>
        <p:nvSpPr>
          <p:cNvPr id="19" name="Text 16"/>
          <p:cNvSpPr txBox="1"/>
          <p:nvPr/>
        </p:nvSpPr>
        <p:spPr>
          <a:xfrm>
            <a:off x="713232" y="5074920"/>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Suffix array</a:t>
            </a:r>
            <a:endParaRPr lang="en-US" sz="1300" dirty="0"/>
          </a:p>
        </p:txBody>
      </p:sp>
      <p:sp>
        <p:nvSpPr>
          <p:cNvPr id="20" name="Text 17"/>
          <p:cNvSpPr txBox="1"/>
          <p:nvPr/>
        </p:nvSpPr>
        <p:spPr>
          <a:xfrm>
            <a:off x="713232" y="5321808"/>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 log n)</a:t>
            </a:r>
            <a:endParaRPr lang="en-US" sz="1100" dirty="0"/>
          </a:p>
        </p:txBody>
      </p:sp>
      <p:sp>
        <p:nvSpPr>
          <p:cNvPr id="21" name="Text 18"/>
          <p:cNvSpPr txBox="1"/>
          <p:nvPr/>
        </p:nvSpPr>
        <p:spPr>
          <a:xfrm>
            <a:off x="713232" y="5641848"/>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LCP (Kasai)</a:t>
            </a:r>
            <a:endParaRPr lang="en-US" sz="1300" dirty="0"/>
          </a:p>
        </p:txBody>
      </p:sp>
      <p:sp>
        <p:nvSpPr>
          <p:cNvPr id="22" name="Text 19"/>
          <p:cNvSpPr txBox="1"/>
          <p:nvPr/>
        </p:nvSpPr>
        <p:spPr>
          <a:xfrm>
            <a:off x="713232" y="5888736"/>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a:t>
            </a:r>
            <a:endParaRPr lang="en-US" sz="1100" dirty="0"/>
          </a:p>
        </p:txBody>
      </p:sp>
      <p:sp>
        <p:nvSpPr>
          <p:cNvPr id="23" name="Shape 20"/>
          <p:cNvSpPr/>
          <p:nvPr/>
        </p:nvSpPr>
        <p:spPr>
          <a:xfrm>
            <a:off x="2798064" y="1417320"/>
            <a:ext cx="2103120" cy="4846320"/>
          </a:xfrm>
          <a:prstGeom prst="roundRect">
            <a:avLst>
              <a:gd name="adj" fmla="val 3478"/>
            </a:avLst>
          </a:prstGeom>
          <a:solidFill>
            <a:srgbClr val="F4F5F9"/>
          </a:solidFill>
          <a:ln w="12700">
            <a:solidFill>
              <a:srgbClr val="F4F5F9"/>
            </a:solidFill>
            <a:prstDash val="solid"/>
          </a:ln>
        </p:spPr>
        <p:txBody>
          <a:bodyPr/>
          <a:lstStyle/>
          <a:p>
            <a:endParaRPr lang="en-IN"/>
          </a:p>
        </p:txBody>
      </p:sp>
      <p:sp>
        <p:nvSpPr>
          <p:cNvPr id="24" name="Text 21"/>
          <p:cNvSpPr txBox="1"/>
          <p:nvPr/>
        </p:nvSpPr>
        <p:spPr>
          <a:xfrm>
            <a:off x="2962656" y="1572768"/>
            <a:ext cx="1783080" cy="566928"/>
          </a:xfrm>
          <a:prstGeom prst="rect">
            <a:avLst/>
          </a:prstGeom>
          <a:noFill/>
          <a:ln/>
        </p:spPr>
        <p:txBody>
          <a:bodyPr wrap="square" lIns="0" tIns="0" rIns="0" bIns="0" rtlCol="0" anchor="t"/>
          <a:lstStyle/>
          <a:p>
            <a:pPr marL="0" indent="0">
              <a:buNone/>
            </a:pPr>
            <a:r>
              <a:rPr lang="en-US" sz="1600" b="1" dirty="0">
                <a:solidFill>
                  <a:srgbClr val="B45309"/>
                </a:solidFill>
                <a:latin typeface="Calibri" pitchFamily="34" charset="0"/>
                <a:ea typeface="Calibri" pitchFamily="34" charset="-122"/>
                <a:cs typeface="Calibri" pitchFamily="34" charset="-120"/>
              </a:rPr>
              <a:t>Dynamic programming</a:t>
            </a:r>
            <a:endParaRPr lang="en-US" sz="1600" dirty="0"/>
          </a:p>
        </p:txBody>
      </p:sp>
      <p:sp>
        <p:nvSpPr>
          <p:cNvPr id="25" name="Text 22"/>
          <p:cNvSpPr txBox="1"/>
          <p:nvPr/>
        </p:nvSpPr>
        <p:spPr>
          <a:xfrm>
            <a:off x="2962656" y="2240280"/>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Levenshtein</a:t>
            </a:r>
            <a:endParaRPr lang="en-US" sz="1300" dirty="0"/>
          </a:p>
        </p:txBody>
      </p:sp>
      <p:sp>
        <p:nvSpPr>
          <p:cNvPr id="26" name="Text 23"/>
          <p:cNvSpPr txBox="1"/>
          <p:nvPr/>
        </p:nvSpPr>
        <p:spPr>
          <a:xfrm>
            <a:off x="2962656" y="2487168"/>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O(n·m)</a:t>
            </a:r>
            <a:endParaRPr lang="en-US" sz="1100" dirty="0"/>
          </a:p>
        </p:txBody>
      </p:sp>
      <p:sp>
        <p:nvSpPr>
          <p:cNvPr id="27" name="Text 24"/>
          <p:cNvSpPr txBox="1"/>
          <p:nvPr/>
        </p:nvSpPr>
        <p:spPr>
          <a:xfrm>
            <a:off x="2962656" y="2807208"/>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Damerau-Lev. (+OSA)</a:t>
            </a:r>
            <a:endParaRPr lang="en-US" sz="1300" dirty="0"/>
          </a:p>
        </p:txBody>
      </p:sp>
      <p:sp>
        <p:nvSpPr>
          <p:cNvPr id="28" name="Text 25"/>
          <p:cNvSpPr txBox="1"/>
          <p:nvPr/>
        </p:nvSpPr>
        <p:spPr>
          <a:xfrm>
            <a:off x="2962656" y="3054096"/>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O(n·m)</a:t>
            </a:r>
            <a:endParaRPr lang="en-US" sz="1100" dirty="0"/>
          </a:p>
        </p:txBody>
      </p:sp>
      <p:sp>
        <p:nvSpPr>
          <p:cNvPr id="29" name="Text 26"/>
          <p:cNvSpPr txBox="1"/>
          <p:nvPr/>
        </p:nvSpPr>
        <p:spPr>
          <a:xfrm>
            <a:off x="2962656" y="3374136"/>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Needleman-Wunsch</a:t>
            </a:r>
            <a:endParaRPr lang="en-US" sz="1300" dirty="0"/>
          </a:p>
        </p:txBody>
      </p:sp>
      <p:sp>
        <p:nvSpPr>
          <p:cNvPr id="30" name="Text 27"/>
          <p:cNvSpPr txBox="1"/>
          <p:nvPr/>
        </p:nvSpPr>
        <p:spPr>
          <a:xfrm>
            <a:off x="2962656" y="3621024"/>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O(n·m)</a:t>
            </a:r>
            <a:endParaRPr lang="en-US" sz="1100" dirty="0"/>
          </a:p>
        </p:txBody>
      </p:sp>
      <p:sp>
        <p:nvSpPr>
          <p:cNvPr id="31" name="Text 28"/>
          <p:cNvSpPr txBox="1"/>
          <p:nvPr/>
        </p:nvSpPr>
        <p:spPr>
          <a:xfrm>
            <a:off x="2962656" y="3941064"/>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Smith-Waterman</a:t>
            </a:r>
            <a:endParaRPr lang="en-US" sz="1300" dirty="0"/>
          </a:p>
        </p:txBody>
      </p:sp>
      <p:sp>
        <p:nvSpPr>
          <p:cNvPr id="32" name="Text 29"/>
          <p:cNvSpPr txBox="1"/>
          <p:nvPr/>
        </p:nvSpPr>
        <p:spPr>
          <a:xfrm>
            <a:off x="2962656" y="4187952"/>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O(n·m)</a:t>
            </a:r>
            <a:endParaRPr lang="en-US" sz="1100" dirty="0"/>
          </a:p>
        </p:txBody>
      </p:sp>
      <p:sp>
        <p:nvSpPr>
          <p:cNvPr id="33" name="Shape 30"/>
          <p:cNvSpPr/>
          <p:nvPr/>
        </p:nvSpPr>
        <p:spPr>
          <a:xfrm>
            <a:off x="5047488" y="1417320"/>
            <a:ext cx="2103120" cy="4846320"/>
          </a:xfrm>
          <a:prstGeom prst="roundRect">
            <a:avLst>
              <a:gd name="adj" fmla="val 3478"/>
            </a:avLst>
          </a:prstGeom>
          <a:solidFill>
            <a:srgbClr val="F4F5F9"/>
          </a:solidFill>
          <a:ln w="12700">
            <a:solidFill>
              <a:srgbClr val="F4F5F9"/>
            </a:solidFill>
            <a:prstDash val="solid"/>
          </a:ln>
        </p:spPr>
        <p:txBody>
          <a:bodyPr/>
          <a:lstStyle/>
          <a:p>
            <a:endParaRPr lang="en-IN"/>
          </a:p>
        </p:txBody>
      </p:sp>
      <p:sp>
        <p:nvSpPr>
          <p:cNvPr id="34" name="Text 31"/>
          <p:cNvSpPr txBox="1"/>
          <p:nvPr/>
        </p:nvSpPr>
        <p:spPr>
          <a:xfrm>
            <a:off x="5212080" y="1572768"/>
            <a:ext cx="1783080" cy="566928"/>
          </a:xfrm>
          <a:prstGeom prst="rect">
            <a:avLst/>
          </a:prstGeom>
          <a:noFill/>
          <a:ln/>
        </p:spPr>
        <p:txBody>
          <a:bodyPr wrap="square" lIns="0" tIns="0" rIns="0" bIns="0" rtlCol="0" anchor="t"/>
          <a:lstStyle/>
          <a:p>
            <a:pPr marL="0" indent="0">
              <a:buNone/>
            </a:pPr>
            <a:r>
              <a:rPr lang="en-US" sz="1600" b="1" dirty="0">
                <a:solidFill>
                  <a:srgbClr val="B45309"/>
                </a:solidFill>
                <a:latin typeface="Calibri" pitchFamily="34" charset="0"/>
                <a:ea typeface="Calibri" pitchFamily="34" charset="-122"/>
                <a:cs typeface="Calibri" pitchFamily="34" charset="-120"/>
              </a:rPr>
              <a:t>Network flow</a:t>
            </a:r>
            <a:endParaRPr lang="en-US" sz="1600" dirty="0"/>
          </a:p>
        </p:txBody>
      </p:sp>
      <p:sp>
        <p:nvSpPr>
          <p:cNvPr id="35" name="Text 32"/>
          <p:cNvSpPr txBox="1"/>
          <p:nvPr/>
        </p:nvSpPr>
        <p:spPr>
          <a:xfrm>
            <a:off x="5212080" y="2240280"/>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Ford-Fulkerson</a:t>
            </a:r>
            <a:endParaRPr lang="en-US" sz="1300" dirty="0"/>
          </a:p>
        </p:txBody>
      </p:sp>
      <p:sp>
        <p:nvSpPr>
          <p:cNvPr id="36" name="Text 33"/>
          <p:cNvSpPr txBox="1"/>
          <p:nvPr/>
        </p:nvSpPr>
        <p:spPr>
          <a:xfrm>
            <a:off x="5212080" y="2487168"/>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O(E·f)</a:t>
            </a:r>
            <a:endParaRPr lang="en-US" sz="1100" dirty="0"/>
          </a:p>
        </p:txBody>
      </p:sp>
      <p:sp>
        <p:nvSpPr>
          <p:cNvPr id="37" name="Text 34"/>
          <p:cNvSpPr txBox="1"/>
          <p:nvPr/>
        </p:nvSpPr>
        <p:spPr>
          <a:xfrm>
            <a:off x="5212080" y="2807208"/>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Edmonds-Karp</a:t>
            </a:r>
            <a:endParaRPr lang="en-US" sz="1300" dirty="0"/>
          </a:p>
        </p:txBody>
      </p:sp>
      <p:sp>
        <p:nvSpPr>
          <p:cNvPr id="38" name="Text 35"/>
          <p:cNvSpPr txBox="1"/>
          <p:nvPr/>
        </p:nvSpPr>
        <p:spPr>
          <a:xfrm>
            <a:off x="5212080" y="3054096"/>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O(V·E²)</a:t>
            </a:r>
            <a:endParaRPr lang="en-US" sz="1100" dirty="0"/>
          </a:p>
        </p:txBody>
      </p:sp>
      <p:sp>
        <p:nvSpPr>
          <p:cNvPr id="39" name="Text 36"/>
          <p:cNvSpPr txBox="1"/>
          <p:nvPr/>
        </p:nvSpPr>
        <p:spPr>
          <a:xfrm>
            <a:off x="5212080" y="3374136"/>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Dinic</a:t>
            </a:r>
            <a:endParaRPr lang="en-US" sz="1300" dirty="0"/>
          </a:p>
        </p:txBody>
      </p:sp>
      <p:sp>
        <p:nvSpPr>
          <p:cNvPr id="40" name="Text 37"/>
          <p:cNvSpPr txBox="1"/>
          <p:nvPr/>
        </p:nvSpPr>
        <p:spPr>
          <a:xfrm>
            <a:off x="5212080" y="3621024"/>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O(V²·E)</a:t>
            </a:r>
            <a:endParaRPr lang="en-US" sz="1100" dirty="0"/>
          </a:p>
        </p:txBody>
      </p:sp>
      <p:sp>
        <p:nvSpPr>
          <p:cNvPr id="41" name="Text 38"/>
          <p:cNvSpPr txBox="1"/>
          <p:nvPr/>
        </p:nvSpPr>
        <p:spPr>
          <a:xfrm>
            <a:off x="5212080" y="3941064"/>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Bipartite matching</a:t>
            </a:r>
            <a:endParaRPr lang="en-US" sz="1300" dirty="0"/>
          </a:p>
        </p:txBody>
      </p:sp>
      <p:sp>
        <p:nvSpPr>
          <p:cNvPr id="42" name="Text 39"/>
          <p:cNvSpPr txBox="1"/>
          <p:nvPr/>
        </p:nvSpPr>
        <p:spPr>
          <a:xfrm>
            <a:off x="5212080" y="4187952"/>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O(V·E)</a:t>
            </a:r>
            <a:endParaRPr lang="en-US" sz="1100" dirty="0"/>
          </a:p>
        </p:txBody>
      </p:sp>
      <p:sp>
        <p:nvSpPr>
          <p:cNvPr id="43" name="Shape 40"/>
          <p:cNvSpPr/>
          <p:nvPr/>
        </p:nvSpPr>
        <p:spPr>
          <a:xfrm>
            <a:off x="7296912" y="1417320"/>
            <a:ext cx="2103120" cy="4846320"/>
          </a:xfrm>
          <a:prstGeom prst="roundRect">
            <a:avLst>
              <a:gd name="adj" fmla="val 3478"/>
            </a:avLst>
          </a:prstGeom>
          <a:solidFill>
            <a:srgbClr val="F4F5F9"/>
          </a:solidFill>
          <a:ln w="12700">
            <a:solidFill>
              <a:srgbClr val="F4F5F9"/>
            </a:solidFill>
            <a:prstDash val="solid"/>
          </a:ln>
        </p:spPr>
        <p:txBody>
          <a:bodyPr/>
          <a:lstStyle/>
          <a:p>
            <a:endParaRPr lang="en-IN"/>
          </a:p>
        </p:txBody>
      </p:sp>
      <p:sp>
        <p:nvSpPr>
          <p:cNvPr id="44" name="Text 41"/>
          <p:cNvSpPr txBox="1"/>
          <p:nvPr/>
        </p:nvSpPr>
        <p:spPr>
          <a:xfrm>
            <a:off x="7461504" y="1572768"/>
            <a:ext cx="1783080" cy="566928"/>
          </a:xfrm>
          <a:prstGeom prst="rect">
            <a:avLst/>
          </a:prstGeom>
          <a:noFill/>
          <a:ln/>
        </p:spPr>
        <p:txBody>
          <a:bodyPr wrap="square" lIns="0" tIns="0" rIns="0" bIns="0" rtlCol="0" anchor="t"/>
          <a:lstStyle/>
          <a:p>
            <a:pPr marL="0" indent="0">
              <a:buNone/>
            </a:pPr>
            <a:r>
              <a:rPr lang="en-US" sz="1600" b="1" dirty="0">
                <a:solidFill>
                  <a:srgbClr val="B45309"/>
                </a:solidFill>
                <a:latin typeface="Calibri" pitchFamily="34" charset="0"/>
                <a:ea typeface="Calibri" pitchFamily="34" charset="-122"/>
                <a:cs typeface="Calibri" pitchFamily="34" charset="-120"/>
              </a:rPr>
              <a:t>Approximation</a:t>
            </a:r>
            <a:endParaRPr lang="en-US" sz="1600" dirty="0"/>
          </a:p>
        </p:txBody>
      </p:sp>
      <p:sp>
        <p:nvSpPr>
          <p:cNvPr id="45" name="Text 42"/>
          <p:cNvSpPr txBox="1"/>
          <p:nvPr/>
        </p:nvSpPr>
        <p:spPr>
          <a:xfrm>
            <a:off x="7461504" y="2240280"/>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Vertex cover</a:t>
            </a:r>
            <a:endParaRPr lang="en-US" sz="1300" dirty="0"/>
          </a:p>
        </p:txBody>
      </p:sp>
      <p:sp>
        <p:nvSpPr>
          <p:cNvPr id="46" name="Text 43"/>
          <p:cNvSpPr txBox="1"/>
          <p:nvPr/>
        </p:nvSpPr>
        <p:spPr>
          <a:xfrm>
            <a:off x="7461504" y="2487168"/>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ratio 2</a:t>
            </a:r>
            <a:endParaRPr lang="en-US" sz="1100" dirty="0"/>
          </a:p>
        </p:txBody>
      </p:sp>
      <p:sp>
        <p:nvSpPr>
          <p:cNvPr id="47" name="Text 44"/>
          <p:cNvSpPr txBox="1"/>
          <p:nvPr/>
        </p:nvSpPr>
        <p:spPr>
          <a:xfrm>
            <a:off x="7461504" y="2807208"/>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List scheduling</a:t>
            </a:r>
            <a:endParaRPr lang="en-US" sz="1300" dirty="0"/>
          </a:p>
        </p:txBody>
      </p:sp>
      <p:sp>
        <p:nvSpPr>
          <p:cNvPr id="48" name="Text 45"/>
          <p:cNvSpPr txBox="1"/>
          <p:nvPr/>
        </p:nvSpPr>
        <p:spPr>
          <a:xfrm>
            <a:off x="7461504" y="3054096"/>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2 − 1/m</a:t>
            </a:r>
            <a:endParaRPr lang="en-US" sz="1100" dirty="0"/>
          </a:p>
        </p:txBody>
      </p:sp>
      <p:sp>
        <p:nvSpPr>
          <p:cNvPr id="49" name="Text 46"/>
          <p:cNvSpPr txBox="1"/>
          <p:nvPr/>
        </p:nvSpPr>
        <p:spPr>
          <a:xfrm>
            <a:off x="7461504" y="3374136"/>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LPT scheduling</a:t>
            </a:r>
            <a:endParaRPr lang="en-US" sz="1300" dirty="0"/>
          </a:p>
        </p:txBody>
      </p:sp>
      <p:sp>
        <p:nvSpPr>
          <p:cNvPr id="50" name="Text 47"/>
          <p:cNvSpPr txBox="1"/>
          <p:nvPr/>
        </p:nvSpPr>
        <p:spPr>
          <a:xfrm>
            <a:off x="7461504" y="3621024"/>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4/3 − 1/3m</a:t>
            </a:r>
            <a:endParaRPr lang="en-US" sz="1100" dirty="0"/>
          </a:p>
        </p:txBody>
      </p:sp>
      <p:sp>
        <p:nvSpPr>
          <p:cNvPr id="51" name="Shape 48"/>
          <p:cNvSpPr/>
          <p:nvPr/>
        </p:nvSpPr>
        <p:spPr>
          <a:xfrm>
            <a:off x="9546336" y="1417320"/>
            <a:ext cx="2103120" cy="4846320"/>
          </a:xfrm>
          <a:prstGeom prst="roundRect">
            <a:avLst>
              <a:gd name="adj" fmla="val 3478"/>
            </a:avLst>
          </a:prstGeom>
          <a:solidFill>
            <a:srgbClr val="F4F5F9"/>
          </a:solidFill>
          <a:ln w="12700">
            <a:solidFill>
              <a:srgbClr val="F4F5F9"/>
            </a:solidFill>
            <a:prstDash val="solid"/>
          </a:ln>
        </p:spPr>
        <p:txBody>
          <a:bodyPr/>
          <a:lstStyle/>
          <a:p>
            <a:endParaRPr lang="en-IN"/>
          </a:p>
        </p:txBody>
      </p:sp>
      <p:sp>
        <p:nvSpPr>
          <p:cNvPr id="52" name="Text 49"/>
          <p:cNvSpPr txBox="1"/>
          <p:nvPr/>
        </p:nvSpPr>
        <p:spPr>
          <a:xfrm>
            <a:off x="9710928" y="1572768"/>
            <a:ext cx="1783080" cy="566928"/>
          </a:xfrm>
          <a:prstGeom prst="rect">
            <a:avLst/>
          </a:prstGeom>
          <a:noFill/>
          <a:ln/>
        </p:spPr>
        <p:txBody>
          <a:bodyPr wrap="square" lIns="0" tIns="0" rIns="0" bIns="0" rtlCol="0" anchor="t"/>
          <a:lstStyle/>
          <a:p>
            <a:pPr marL="0" indent="0">
              <a:buNone/>
            </a:pPr>
            <a:r>
              <a:rPr lang="en-US" sz="1600" b="1" dirty="0">
                <a:solidFill>
                  <a:srgbClr val="B45309"/>
                </a:solidFill>
                <a:latin typeface="Calibri" pitchFamily="34" charset="0"/>
                <a:ea typeface="Calibri" pitchFamily="34" charset="-122"/>
                <a:cs typeface="Calibri" pitchFamily="34" charset="-120"/>
              </a:rPr>
              <a:t>Randomized</a:t>
            </a:r>
            <a:endParaRPr lang="en-US" sz="1600" dirty="0"/>
          </a:p>
        </p:txBody>
      </p:sp>
      <p:sp>
        <p:nvSpPr>
          <p:cNvPr id="53" name="Text 50"/>
          <p:cNvSpPr txBox="1"/>
          <p:nvPr/>
        </p:nvSpPr>
        <p:spPr>
          <a:xfrm>
            <a:off x="9710928" y="2240280"/>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Miller-Rabin</a:t>
            </a:r>
            <a:endParaRPr lang="en-US" sz="1300" dirty="0"/>
          </a:p>
        </p:txBody>
      </p:sp>
      <p:sp>
        <p:nvSpPr>
          <p:cNvPr id="54" name="Text 51"/>
          <p:cNvSpPr txBox="1"/>
          <p:nvPr/>
        </p:nvSpPr>
        <p:spPr>
          <a:xfrm>
            <a:off x="9710928" y="2487168"/>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O(k log³n)</a:t>
            </a:r>
            <a:endParaRPr lang="en-US" sz="1100" dirty="0"/>
          </a:p>
        </p:txBody>
      </p:sp>
      <p:sp>
        <p:nvSpPr>
          <p:cNvPr id="55" name="Text 52"/>
          <p:cNvSpPr txBox="1"/>
          <p:nvPr/>
        </p:nvSpPr>
        <p:spPr>
          <a:xfrm>
            <a:off x="9710928" y="2807208"/>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Universal hashing</a:t>
            </a:r>
            <a:endParaRPr lang="en-US" sz="1300" dirty="0"/>
          </a:p>
        </p:txBody>
      </p:sp>
      <p:sp>
        <p:nvSpPr>
          <p:cNvPr id="56" name="Text 53"/>
          <p:cNvSpPr txBox="1"/>
          <p:nvPr/>
        </p:nvSpPr>
        <p:spPr>
          <a:xfrm>
            <a:off x="9710928" y="3054096"/>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O(1)</a:t>
            </a:r>
            <a:endParaRPr lang="en-US" sz="1100" dirty="0"/>
          </a:p>
        </p:txBody>
      </p:sp>
      <p:sp>
        <p:nvSpPr>
          <p:cNvPr id="57" name="Text 54"/>
          <p:cNvSpPr txBox="1"/>
          <p:nvPr/>
        </p:nvSpPr>
        <p:spPr>
          <a:xfrm>
            <a:off x="9710928" y="3374136"/>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Reservoir sampling</a:t>
            </a:r>
            <a:endParaRPr lang="en-US" sz="1300" dirty="0"/>
          </a:p>
        </p:txBody>
      </p:sp>
      <p:sp>
        <p:nvSpPr>
          <p:cNvPr id="58" name="Text 55"/>
          <p:cNvSpPr txBox="1"/>
          <p:nvPr/>
        </p:nvSpPr>
        <p:spPr>
          <a:xfrm>
            <a:off x="9710928" y="3621024"/>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TOOLS &amp; TECHNOLOGIES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Languages, tools and requirements</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12</a:t>
            </a:r>
            <a:endParaRPr lang="en-US" sz="1000" dirty="0"/>
          </a:p>
        </p:txBody>
      </p:sp>
      <p:sp>
        <p:nvSpPr>
          <p:cNvPr id="7" name="Shape 4"/>
          <p:cNvSpPr/>
          <p:nvPr/>
        </p:nvSpPr>
        <p:spPr>
          <a:xfrm>
            <a:off x="548640" y="1417320"/>
            <a:ext cx="5440680" cy="4800600"/>
          </a:xfrm>
          <a:prstGeom prst="roundRect">
            <a:avLst>
              <a:gd name="adj" fmla="val 1524"/>
            </a:avLst>
          </a:prstGeom>
          <a:solidFill>
            <a:srgbClr val="F4F5F9"/>
          </a:solidFill>
          <a:ln w="12700">
            <a:solidFill>
              <a:srgbClr val="F4F5F9"/>
            </a:solidFill>
            <a:prstDash val="solid"/>
          </a:ln>
        </p:spPr>
        <p:txBody>
          <a:bodyPr/>
          <a:lstStyle/>
          <a:p>
            <a:endParaRPr lang="en-IN"/>
          </a:p>
        </p:txBody>
      </p:sp>
      <p:sp>
        <p:nvSpPr>
          <p:cNvPr id="8" name="Text 5"/>
          <p:cNvSpPr txBox="1"/>
          <p:nvPr/>
        </p:nvSpPr>
        <p:spPr>
          <a:xfrm>
            <a:off x="822960" y="1600200"/>
            <a:ext cx="4937760" cy="365760"/>
          </a:xfrm>
          <a:prstGeom prst="rect">
            <a:avLst/>
          </a:prstGeom>
          <a:noFill/>
          <a:ln/>
        </p:spPr>
        <p:txBody>
          <a:bodyPr wrap="square" lIns="0" tIns="0" rIns="0" bIns="0" rtlCol="0" anchor="t"/>
          <a:lstStyle/>
          <a:p>
            <a:pPr marL="0" indent="0">
              <a:buNone/>
            </a:pPr>
            <a:r>
              <a:rPr lang="en-US" sz="1900" b="1" dirty="0">
                <a:solidFill>
                  <a:srgbClr val="111827"/>
                </a:solidFill>
                <a:latin typeface="Calibri" pitchFamily="34" charset="0"/>
                <a:ea typeface="Calibri" pitchFamily="34" charset="-122"/>
                <a:cs typeface="Calibri" pitchFamily="34" charset="-120"/>
              </a:rPr>
              <a:t>Languages and tools</a:t>
            </a:r>
            <a:endParaRPr lang="en-US" sz="1900" dirty="0"/>
          </a:p>
        </p:txBody>
      </p:sp>
      <p:sp>
        <p:nvSpPr>
          <p:cNvPr id="9" name="Text 6"/>
          <p:cNvSpPr txBox="1"/>
          <p:nvPr/>
        </p:nvSpPr>
        <p:spPr>
          <a:xfrm>
            <a:off x="822960" y="2103120"/>
            <a:ext cx="1783080" cy="310896"/>
          </a:xfrm>
          <a:prstGeom prst="roundRect">
            <a:avLst>
              <a:gd name="adj" fmla="val 14706"/>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Java 21</a:t>
            </a:r>
            <a:endParaRPr lang="en-US" sz="1200" dirty="0"/>
          </a:p>
        </p:txBody>
      </p:sp>
      <p:sp>
        <p:nvSpPr>
          <p:cNvPr id="10" name="Text 7"/>
          <p:cNvSpPr txBox="1"/>
          <p:nvPr/>
        </p:nvSpPr>
        <p:spPr>
          <a:xfrm>
            <a:off x="2743200" y="2084832"/>
            <a:ext cx="3108960" cy="566928"/>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Engine, tests, benchmarks; also verified on Java 25</a:t>
            </a:r>
            <a:endParaRPr lang="en-US" sz="1300" dirty="0"/>
          </a:p>
        </p:txBody>
      </p:sp>
      <p:sp>
        <p:nvSpPr>
          <p:cNvPr id="11" name="Text 8"/>
          <p:cNvSpPr txBox="1"/>
          <p:nvPr/>
        </p:nvSpPr>
        <p:spPr>
          <a:xfrm>
            <a:off x="822960" y="2770632"/>
            <a:ext cx="1783080" cy="310896"/>
          </a:xfrm>
          <a:prstGeom prst="roundRect">
            <a:avLst>
              <a:gd name="adj" fmla="val 14706"/>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javac + sh</a:t>
            </a:r>
            <a:endParaRPr lang="en-US" sz="1200" dirty="0"/>
          </a:p>
        </p:txBody>
      </p:sp>
      <p:sp>
        <p:nvSpPr>
          <p:cNvPr id="12" name="Text 9"/>
          <p:cNvSpPr txBox="1"/>
          <p:nvPr/>
        </p:nvSpPr>
        <p:spPr>
          <a:xfrm>
            <a:off x="2743200" y="2752344"/>
            <a:ext cx="3108960" cy="566928"/>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run-tests.sh compiles with -Xlint:all; no Maven or JUnit</a:t>
            </a:r>
            <a:endParaRPr lang="en-US" sz="1300" dirty="0"/>
          </a:p>
        </p:txBody>
      </p:sp>
      <p:sp>
        <p:nvSpPr>
          <p:cNvPr id="13" name="Text 10"/>
          <p:cNvSpPr txBox="1"/>
          <p:nvPr/>
        </p:nvSpPr>
        <p:spPr>
          <a:xfrm>
            <a:off x="822960" y="3438144"/>
            <a:ext cx="1783080" cy="310896"/>
          </a:xfrm>
          <a:prstGeom prst="roundRect">
            <a:avLst>
              <a:gd name="adj" fmla="val 14706"/>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Spring Boot 3.4</a:t>
            </a:r>
            <a:endParaRPr lang="en-US" sz="1200" dirty="0"/>
          </a:p>
        </p:txBody>
      </p:sp>
      <p:sp>
        <p:nvSpPr>
          <p:cNvPr id="14" name="Text 11"/>
          <p:cNvSpPr txBox="1"/>
          <p:nvPr/>
        </p:nvSpPr>
        <p:spPr>
          <a:xfrm>
            <a:off x="2743200" y="3419856"/>
            <a:ext cx="3108960" cy="566928"/>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Backend compiles the engine as a second source root</a:t>
            </a:r>
            <a:endParaRPr lang="en-US" sz="1300" dirty="0"/>
          </a:p>
        </p:txBody>
      </p:sp>
      <p:sp>
        <p:nvSpPr>
          <p:cNvPr id="15" name="Text 12"/>
          <p:cNvSpPr txBox="1"/>
          <p:nvPr/>
        </p:nvSpPr>
        <p:spPr>
          <a:xfrm>
            <a:off x="822960" y="4105656"/>
            <a:ext cx="1783080" cy="310896"/>
          </a:xfrm>
          <a:prstGeom prst="roundRect">
            <a:avLst>
              <a:gd name="adj" fmla="val 14706"/>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React 19 + Vite</a:t>
            </a:r>
            <a:endParaRPr lang="en-US" sz="1200" dirty="0"/>
          </a:p>
        </p:txBody>
      </p:sp>
      <p:sp>
        <p:nvSpPr>
          <p:cNvPr id="16" name="Text 13"/>
          <p:cNvSpPr txBox="1"/>
          <p:nvPr/>
        </p:nvSpPr>
        <p:spPr>
          <a:xfrm>
            <a:off x="2743200" y="4087368"/>
            <a:ext cx="3108960" cy="566928"/>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TextHack workbench and search pages</a:t>
            </a:r>
            <a:endParaRPr lang="en-US" sz="1300" dirty="0"/>
          </a:p>
        </p:txBody>
      </p:sp>
      <p:sp>
        <p:nvSpPr>
          <p:cNvPr id="17" name="Text 14"/>
          <p:cNvSpPr txBox="1"/>
          <p:nvPr/>
        </p:nvSpPr>
        <p:spPr>
          <a:xfrm>
            <a:off x="822960" y="4773168"/>
            <a:ext cx="1783080" cy="310896"/>
          </a:xfrm>
          <a:prstGeom prst="roundRect">
            <a:avLst>
              <a:gd name="adj" fmla="val 14706"/>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Git · GitHub Actions</a:t>
            </a:r>
            <a:endParaRPr lang="en-US" sz="1200" dirty="0"/>
          </a:p>
        </p:txBody>
      </p:sp>
      <p:sp>
        <p:nvSpPr>
          <p:cNvPr id="18" name="Text 15"/>
          <p:cNvSpPr txBox="1"/>
          <p:nvPr/>
        </p:nvSpPr>
        <p:spPr>
          <a:xfrm>
            <a:off x="2743200" y="4754880"/>
            <a:ext cx="3108960" cy="566928"/>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Version control; CI runs the DSA-3 suites</a:t>
            </a:r>
            <a:endParaRPr lang="en-US" sz="1300" dirty="0"/>
          </a:p>
        </p:txBody>
      </p:sp>
      <p:sp>
        <p:nvSpPr>
          <p:cNvPr id="19" name="Text 16"/>
          <p:cNvSpPr txBox="1"/>
          <p:nvPr/>
        </p:nvSpPr>
        <p:spPr>
          <a:xfrm>
            <a:off x="822960" y="5440680"/>
            <a:ext cx="1783080" cy="310896"/>
          </a:xfrm>
          <a:prstGeom prst="roundRect">
            <a:avLst>
              <a:gd name="adj" fmla="val 14706"/>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Docker</a:t>
            </a:r>
            <a:endParaRPr lang="en-US" sz="1200" dirty="0"/>
          </a:p>
        </p:txBody>
      </p:sp>
      <p:sp>
        <p:nvSpPr>
          <p:cNvPr id="20" name="Text 17"/>
          <p:cNvSpPr txBox="1"/>
          <p:nvPr/>
        </p:nvSpPr>
        <p:spPr>
          <a:xfrm>
            <a:off x="2743200" y="5422392"/>
            <a:ext cx="3108960" cy="566928"/>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Runs the full platform with its databases</a:t>
            </a:r>
            <a:endParaRPr lang="en-US" sz="1300" dirty="0"/>
          </a:p>
        </p:txBody>
      </p:sp>
      <p:sp>
        <p:nvSpPr>
          <p:cNvPr id="21" name="Shape 18"/>
          <p:cNvSpPr/>
          <p:nvPr/>
        </p:nvSpPr>
        <p:spPr>
          <a:xfrm>
            <a:off x="6199632" y="1417320"/>
            <a:ext cx="5440680" cy="2286000"/>
          </a:xfrm>
          <a:prstGeom prst="roundRect">
            <a:avLst>
              <a:gd name="adj" fmla="val 3200"/>
            </a:avLst>
          </a:prstGeom>
          <a:solidFill>
            <a:srgbClr val="F4F5F9"/>
          </a:solidFill>
          <a:ln w="12700">
            <a:solidFill>
              <a:srgbClr val="F4F5F9"/>
            </a:solidFill>
            <a:prstDash val="solid"/>
          </a:ln>
        </p:spPr>
        <p:txBody>
          <a:bodyPr/>
          <a:lstStyle/>
          <a:p>
            <a:endParaRPr lang="en-IN"/>
          </a:p>
        </p:txBody>
      </p:sp>
      <p:sp>
        <p:nvSpPr>
          <p:cNvPr id="22" name="Text 19"/>
          <p:cNvSpPr txBox="1"/>
          <p:nvPr/>
        </p:nvSpPr>
        <p:spPr>
          <a:xfrm>
            <a:off x="6473952" y="1600200"/>
            <a:ext cx="4937760" cy="365760"/>
          </a:xfrm>
          <a:prstGeom prst="rect">
            <a:avLst/>
          </a:prstGeom>
          <a:noFill/>
          <a:ln/>
        </p:spPr>
        <p:txBody>
          <a:bodyPr wrap="square" lIns="0" tIns="0" rIns="0" bIns="0" rtlCol="0" anchor="t"/>
          <a:lstStyle/>
          <a:p>
            <a:pPr marL="0" indent="0">
              <a:buNone/>
            </a:pPr>
            <a:r>
              <a:rPr lang="en-US" sz="1900" b="1" dirty="0">
                <a:solidFill>
                  <a:srgbClr val="111827"/>
                </a:solidFill>
                <a:latin typeface="Calibri" pitchFamily="34" charset="0"/>
                <a:ea typeface="Calibri" pitchFamily="34" charset="-122"/>
                <a:cs typeface="Calibri" pitchFamily="34" charset="-120"/>
              </a:rPr>
              <a:t>Software requirements</a:t>
            </a:r>
            <a:endParaRPr lang="en-US" sz="1900" dirty="0"/>
          </a:p>
        </p:txBody>
      </p:sp>
      <p:sp>
        <p:nvSpPr>
          <p:cNvPr id="23" name="Text 20"/>
          <p:cNvSpPr txBox="1"/>
          <p:nvPr/>
        </p:nvSpPr>
        <p:spPr>
          <a:xfrm>
            <a:off x="6473952" y="2057400"/>
            <a:ext cx="4937760" cy="15544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Engine: any JDK 21 or later; Windows, Linux or macOS</a:t>
            </a:r>
            <a:endParaRPr lang="en-US" sz="1400" dirty="0"/>
          </a:p>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Full platform: Docker, Node.js 20+, a modern browser</a:t>
            </a:r>
            <a:endParaRPr lang="en-US" sz="1400" dirty="0"/>
          </a:p>
        </p:txBody>
      </p:sp>
      <p:sp>
        <p:nvSpPr>
          <p:cNvPr id="24" name="Shape 21"/>
          <p:cNvSpPr/>
          <p:nvPr/>
        </p:nvSpPr>
        <p:spPr>
          <a:xfrm>
            <a:off x="6199632" y="3931920"/>
            <a:ext cx="5440680" cy="2286000"/>
          </a:xfrm>
          <a:prstGeom prst="roundRect">
            <a:avLst>
              <a:gd name="adj" fmla="val 3200"/>
            </a:avLst>
          </a:prstGeom>
          <a:solidFill>
            <a:srgbClr val="F4F5F9"/>
          </a:solidFill>
          <a:ln w="12700">
            <a:solidFill>
              <a:srgbClr val="F4F5F9"/>
            </a:solidFill>
            <a:prstDash val="solid"/>
          </a:ln>
        </p:spPr>
        <p:txBody>
          <a:bodyPr/>
          <a:lstStyle/>
          <a:p>
            <a:endParaRPr lang="en-IN"/>
          </a:p>
        </p:txBody>
      </p:sp>
      <p:sp>
        <p:nvSpPr>
          <p:cNvPr id="25" name="Text 22"/>
          <p:cNvSpPr txBox="1"/>
          <p:nvPr/>
        </p:nvSpPr>
        <p:spPr>
          <a:xfrm>
            <a:off x="6473952" y="4114800"/>
            <a:ext cx="4937760" cy="365760"/>
          </a:xfrm>
          <a:prstGeom prst="rect">
            <a:avLst/>
          </a:prstGeom>
          <a:noFill/>
          <a:ln/>
        </p:spPr>
        <p:txBody>
          <a:bodyPr wrap="square" lIns="0" tIns="0" rIns="0" bIns="0" rtlCol="0" anchor="t"/>
          <a:lstStyle/>
          <a:p>
            <a:pPr marL="0" indent="0">
              <a:buNone/>
            </a:pPr>
            <a:r>
              <a:rPr lang="en-US" sz="1900" b="1" dirty="0">
                <a:solidFill>
                  <a:srgbClr val="111827"/>
                </a:solidFill>
                <a:latin typeface="Calibri" pitchFamily="34" charset="0"/>
                <a:ea typeface="Calibri" pitchFamily="34" charset="-122"/>
                <a:cs typeface="Calibri" pitchFamily="34" charset="-120"/>
              </a:rPr>
              <a:t>Hardware requirements</a:t>
            </a:r>
            <a:endParaRPr lang="en-US" sz="1900" dirty="0"/>
          </a:p>
        </p:txBody>
      </p:sp>
      <p:sp>
        <p:nvSpPr>
          <p:cNvPr id="26" name="Text 23"/>
          <p:cNvSpPr txBox="1"/>
          <p:nvPr/>
        </p:nvSpPr>
        <p:spPr>
          <a:xfrm>
            <a:off x="6473952" y="4572000"/>
            <a:ext cx="4937760" cy="15544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Engine: any dual-core machine with 4 GB RAM</a:t>
            </a:r>
            <a:endParaRPr lang="en-US" sz="1400" dirty="0"/>
          </a:p>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Benchmarks in this review: AMD Ryzen 7 260 laptop, Windows 11</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IMPLEMENTATION</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Modules developed</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13</a:t>
            </a:r>
            <a:endParaRPr lang="en-US" sz="1000" dirty="0"/>
          </a:p>
        </p:txBody>
      </p:sp>
      <p:graphicFrame>
        <p:nvGraphicFramePr>
          <p:cNvPr id="7" name="Chart 0"/>
          <p:cNvGraphicFramePr/>
          <p:nvPr/>
        </p:nvGraphicFramePr>
        <p:xfrm>
          <a:off x="548640" y="1371600"/>
          <a:ext cx="6583680" cy="489204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4"/>
          <p:cNvSpPr/>
          <p:nvPr/>
        </p:nvSpPr>
        <p:spPr>
          <a:xfrm>
            <a:off x="7498080" y="1417320"/>
            <a:ext cx="4142232" cy="841248"/>
          </a:xfrm>
          <a:prstGeom prst="roundRect">
            <a:avLst>
              <a:gd name="adj" fmla="val 8696"/>
            </a:avLst>
          </a:prstGeom>
          <a:solidFill>
            <a:srgbClr val="F4F5F9"/>
          </a:solidFill>
          <a:ln w="12700">
            <a:solidFill>
              <a:srgbClr val="F4F5F9"/>
            </a:solidFill>
            <a:prstDash val="solid"/>
          </a:ln>
        </p:spPr>
        <p:txBody>
          <a:bodyPr/>
          <a:lstStyle/>
          <a:p>
            <a:endParaRPr lang="en-IN"/>
          </a:p>
        </p:txBody>
      </p:sp>
      <p:sp>
        <p:nvSpPr>
          <p:cNvPr id="9" name="Text 5"/>
          <p:cNvSpPr txBox="1"/>
          <p:nvPr/>
        </p:nvSpPr>
        <p:spPr>
          <a:xfrm>
            <a:off x="7726680" y="1417320"/>
            <a:ext cx="1417320" cy="841248"/>
          </a:xfrm>
          <a:prstGeom prst="rect">
            <a:avLst/>
          </a:prstGeom>
          <a:noFill/>
          <a:ln/>
        </p:spPr>
        <p:txBody>
          <a:bodyPr wrap="square" lIns="0" tIns="0" rIns="0" bIns="0" rtlCol="0" anchor="ctr"/>
          <a:lstStyle/>
          <a:p>
            <a:pPr marL="0" indent="0">
              <a:buNone/>
            </a:pPr>
            <a:r>
              <a:rPr lang="en-US" sz="3000" b="1" dirty="0">
                <a:solidFill>
                  <a:srgbClr val="4338CA"/>
                </a:solidFill>
                <a:latin typeface="Calibri" pitchFamily="34" charset="0"/>
                <a:ea typeface="Calibri" pitchFamily="34" charset="-122"/>
                <a:cs typeface="Calibri" pitchFamily="34" charset="-120"/>
              </a:rPr>
              <a:t>31</a:t>
            </a:r>
            <a:endParaRPr lang="en-US" sz="3000" dirty="0"/>
          </a:p>
        </p:txBody>
      </p:sp>
      <p:sp>
        <p:nvSpPr>
          <p:cNvPr id="10" name="Text 6"/>
          <p:cNvSpPr txBox="1"/>
          <p:nvPr/>
        </p:nvSpPr>
        <p:spPr>
          <a:xfrm>
            <a:off x="9144000" y="1417320"/>
            <a:ext cx="2377440" cy="841248"/>
          </a:xfrm>
          <a:prstGeom prst="rect">
            <a:avLst/>
          </a:prstGeom>
          <a:noFill/>
          <a:ln/>
        </p:spPr>
        <p:txBody>
          <a:bodyPr wrap="square" lIns="0" tIns="0" rIns="0" bIns="0" rtlCol="0" anchor="ctr"/>
          <a:lstStyle/>
          <a:p>
            <a:pPr marL="0" indent="0">
              <a:buNone/>
            </a:pPr>
            <a:r>
              <a:rPr lang="en-US" sz="1500" dirty="0">
                <a:solidFill>
                  <a:srgbClr val="111827"/>
                </a:solidFill>
                <a:latin typeface="Calibri" pitchFamily="34" charset="0"/>
                <a:ea typeface="Calibri" pitchFamily="34" charset="-122"/>
                <a:cs typeface="Calibri" pitchFamily="34" charset="-120"/>
              </a:rPr>
              <a:t>engine source files</a:t>
            </a:r>
            <a:endParaRPr lang="en-US" sz="1500" dirty="0"/>
          </a:p>
        </p:txBody>
      </p:sp>
      <p:sp>
        <p:nvSpPr>
          <p:cNvPr id="11" name="Shape 7"/>
          <p:cNvSpPr/>
          <p:nvPr/>
        </p:nvSpPr>
        <p:spPr>
          <a:xfrm>
            <a:off x="7498080" y="2395728"/>
            <a:ext cx="4142232" cy="841248"/>
          </a:xfrm>
          <a:prstGeom prst="roundRect">
            <a:avLst>
              <a:gd name="adj" fmla="val 8696"/>
            </a:avLst>
          </a:prstGeom>
          <a:solidFill>
            <a:srgbClr val="F4F5F9"/>
          </a:solidFill>
          <a:ln w="12700">
            <a:solidFill>
              <a:srgbClr val="F4F5F9"/>
            </a:solidFill>
            <a:prstDash val="solid"/>
          </a:ln>
        </p:spPr>
        <p:txBody>
          <a:bodyPr/>
          <a:lstStyle/>
          <a:p>
            <a:endParaRPr lang="en-IN"/>
          </a:p>
        </p:txBody>
      </p:sp>
      <p:sp>
        <p:nvSpPr>
          <p:cNvPr id="12" name="Text 8"/>
          <p:cNvSpPr txBox="1"/>
          <p:nvPr/>
        </p:nvSpPr>
        <p:spPr>
          <a:xfrm>
            <a:off x="7726680" y="2395728"/>
            <a:ext cx="1417320" cy="841248"/>
          </a:xfrm>
          <a:prstGeom prst="rect">
            <a:avLst/>
          </a:prstGeom>
          <a:noFill/>
          <a:ln/>
        </p:spPr>
        <p:txBody>
          <a:bodyPr wrap="square" lIns="0" tIns="0" rIns="0" bIns="0" rtlCol="0" anchor="ctr"/>
          <a:lstStyle/>
          <a:p>
            <a:pPr marL="0" indent="0">
              <a:buNone/>
            </a:pPr>
            <a:r>
              <a:rPr lang="en-US" sz="3000" b="1" dirty="0">
                <a:solidFill>
                  <a:srgbClr val="4338CA"/>
                </a:solidFill>
                <a:latin typeface="Calibri" pitchFamily="34" charset="0"/>
                <a:ea typeface="Calibri" pitchFamily="34" charset="-122"/>
                <a:cs typeface="Calibri" pitchFamily="34" charset="-120"/>
              </a:rPr>
              <a:t>4,287</a:t>
            </a:r>
            <a:endParaRPr lang="en-US" sz="3000" dirty="0"/>
          </a:p>
        </p:txBody>
      </p:sp>
      <p:sp>
        <p:nvSpPr>
          <p:cNvPr id="13" name="Text 9"/>
          <p:cNvSpPr txBox="1"/>
          <p:nvPr/>
        </p:nvSpPr>
        <p:spPr>
          <a:xfrm>
            <a:off x="9144000" y="2395728"/>
            <a:ext cx="2377440" cy="841248"/>
          </a:xfrm>
          <a:prstGeom prst="rect">
            <a:avLst/>
          </a:prstGeom>
          <a:noFill/>
          <a:ln/>
        </p:spPr>
        <p:txBody>
          <a:bodyPr wrap="square" lIns="0" tIns="0" rIns="0" bIns="0" rtlCol="0" anchor="ctr"/>
          <a:lstStyle/>
          <a:p>
            <a:pPr marL="0" indent="0">
              <a:buNone/>
            </a:pPr>
            <a:r>
              <a:rPr lang="en-US" sz="1500" dirty="0">
                <a:solidFill>
                  <a:srgbClr val="111827"/>
                </a:solidFill>
                <a:latin typeface="Calibri" pitchFamily="34" charset="0"/>
                <a:ea typeface="Calibri" pitchFamily="34" charset="-122"/>
                <a:cs typeface="Calibri" pitchFamily="34" charset="-120"/>
              </a:rPr>
              <a:t>lines of algorithm code</a:t>
            </a:r>
            <a:endParaRPr lang="en-US" sz="1500" dirty="0"/>
          </a:p>
        </p:txBody>
      </p:sp>
      <p:sp>
        <p:nvSpPr>
          <p:cNvPr id="14" name="Shape 10"/>
          <p:cNvSpPr/>
          <p:nvPr/>
        </p:nvSpPr>
        <p:spPr>
          <a:xfrm>
            <a:off x="7498080" y="3374136"/>
            <a:ext cx="4142232" cy="841248"/>
          </a:xfrm>
          <a:prstGeom prst="roundRect">
            <a:avLst>
              <a:gd name="adj" fmla="val 8696"/>
            </a:avLst>
          </a:prstGeom>
          <a:solidFill>
            <a:srgbClr val="F4F5F9"/>
          </a:solidFill>
          <a:ln w="12700">
            <a:solidFill>
              <a:srgbClr val="F4F5F9"/>
            </a:solidFill>
            <a:prstDash val="solid"/>
          </a:ln>
        </p:spPr>
        <p:txBody>
          <a:bodyPr/>
          <a:lstStyle/>
          <a:p>
            <a:endParaRPr lang="en-IN"/>
          </a:p>
        </p:txBody>
      </p:sp>
      <p:sp>
        <p:nvSpPr>
          <p:cNvPr id="15" name="Text 11"/>
          <p:cNvSpPr txBox="1"/>
          <p:nvPr/>
        </p:nvSpPr>
        <p:spPr>
          <a:xfrm>
            <a:off x="7726680" y="3374136"/>
            <a:ext cx="1417320" cy="841248"/>
          </a:xfrm>
          <a:prstGeom prst="rect">
            <a:avLst/>
          </a:prstGeom>
          <a:noFill/>
          <a:ln/>
        </p:spPr>
        <p:txBody>
          <a:bodyPr wrap="square" lIns="0" tIns="0" rIns="0" bIns="0" rtlCol="0" anchor="ctr"/>
          <a:lstStyle/>
          <a:p>
            <a:pPr marL="0" indent="0">
              <a:buNone/>
            </a:pPr>
            <a:r>
              <a:rPr lang="en-US" sz="3000" b="1" dirty="0">
                <a:solidFill>
                  <a:srgbClr val="4338CA"/>
                </a:solidFill>
                <a:latin typeface="Calibri" pitchFamily="34" charset="0"/>
                <a:ea typeface="Calibri" pitchFamily="34" charset="-122"/>
                <a:cs typeface="Calibri" pitchFamily="34" charset="-120"/>
              </a:rPr>
              <a:t>3,113</a:t>
            </a:r>
            <a:endParaRPr lang="en-US" sz="3000" dirty="0"/>
          </a:p>
        </p:txBody>
      </p:sp>
      <p:sp>
        <p:nvSpPr>
          <p:cNvPr id="16" name="Text 12"/>
          <p:cNvSpPr txBox="1"/>
          <p:nvPr/>
        </p:nvSpPr>
        <p:spPr>
          <a:xfrm>
            <a:off x="9144000" y="3374136"/>
            <a:ext cx="2377440" cy="841248"/>
          </a:xfrm>
          <a:prstGeom prst="rect">
            <a:avLst/>
          </a:prstGeom>
          <a:noFill/>
          <a:ln/>
        </p:spPr>
        <p:txBody>
          <a:bodyPr wrap="square" lIns="0" tIns="0" rIns="0" bIns="0" rtlCol="0" anchor="ctr"/>
          <a:lstStyle/>
          <a:p>
            <a:pPr marL="0" indent="0">
              <a:buNone/>
            </a:pPr>
            <a:r>
              <a:rPr lang="en-US" sz="1500" dirty="0">
                <a:solidFill>
                  <a:srgbClr val="111827"/>
                </a:solidFill>
                <a:latin typeface="Calibri" pitchFamily="34" charset="0"/>
                <a:ea typeface="Calibri" pitchFamily="34" charset="-122"/>
                <a:cs typeface="Calibri" pitchFamily="34" charset="-120"/>
              </a:rPr>
              <a:t>lines of tests (6 suites)</a:t>
            </a:r>
            <a:endParaRPr lang="en-US" sz="1500" dirty="0"/>
          </a:p>
        </p:txBody>
      </p:sp>
      <p:sp>
        <p:nvSpPr>
          <p:cNvPr id="17" name="Shape 13"/>
          <p:cNvSpPr/>
          <p:nvPr/>
        </p:nvSpPr>
        <p:spPr>
          <a:xfrm>
            <a:off x="7498080" y="4352544"/>
            <a:ext cx="4142232" cy="841248"/>
          </a:xfrm>
          <a:prstGeom prst="roundRect">
            <a:avLst>
              <a:gd name="adj" fmla="val 8696"/>
            </a:avLst>
          </a:prstGeom>
          <a:solidFill>
            <a:srgbClr val="F4F5F9"/>
          </a:solidFill>
          <a:ln w="12700">
            <a:solidFill>
              <a:srgbClr val="F4F5F9"/>
            </a:solidFill>
            <a:prstDash val="solid"/>
          </a:ln>
        </p:spPr>
        <p:txBody>
          <a:bodyPr/>
          <a:lstStyle/>
          <a:p>
            <a:endParaRPr lang="en-IN"/>
          </a:p>
        </p:txBody>
      </p:sp>
      <p:sp>
        <p:nvSpPr>
          <p:cNvPr id="18" name="Text 14"/>
          <p:cNvSpPr txBox="1"/>
          <p:nvPr/>
        </p:nvSpPr>
        <p:spPr>
          <a:xfrm>
            <a:off x="7726680" y="4352544"/>
            <a:ext cx="1417320" cy="841248"/>
          </a:xfrm>
          <a:prstGeom prst="rect">
            <a:avLst/>
          </a:prstGeom>
          <a:noFill/>
          <a:ln/>
        </p:spPr>
        <p:txBody>
          <a:bodyPr wrap="square" lIns="0" tIns="0" rIns="0" bIns="0" rtlCol="0" anchor="ctr"/>
          <a:lstStyle/>
          <a:p>
            <a:pPr marL="0" indent="0">
              <a:buNone/>
            </a:pPr>
            <a:r>
              <a:rPr lang="en-US" sz="3000" b="1" dirty="0">
                <a:solidFill>
                  <a:srgbClr val="4338CA"/>
                </a:solidFill>
                <a:latin typeface="Calibri" pitchFamily="34" charset="0"/>
                <a:ea typeface="Calibri" pitchFamily="34" charset="-122"/>
                <a:cs typeface="Calibri" pitchFamily="34" charset="-120"/>
              </a:rPr>
              <a:t>0</a:t>
            </a:r>
            <a:endParaRPr lang="en-US" sz="3000" dirty="0"/>
          </a:p>
        </p:txBody>
      </p:sp>
      <p:sp>
        <p:nvSpPr>
          <p:cNvPr id="19" name="Text 15"/>
          <p:cNvSpPr txBox="1"/>
          <p:nvPr/>
        </p:nvSpPr>
        <p:spPr>
          <a:xfrm>
            <a:off x="9144000" y="4352544"/>
            <a:ext cx="2377440" cy="841248"/>
          </a:xfrm>
          <a:prstGeom prst="rect">
            <a:avLst/>
          </a:prstGeom>
          <a:noFill/>
          <a:ln/>
        </p:spPr>
        <p:txBody>
          <a:bodyPr wrap="square" lIns="0" tIns="0" rIns="0" bIns="0" rtlCol="0" anchor="ctr"/>
          <a:lstStyle/>
          <a:p>
            <a:pPr marL="0" indent="0">
              <a:buNone/>
            </a:pPr>
            <a:r>
              <a:rPr lang="en-US" sz="1500" dirty="0">
                <a:solidFill>
                  <a:srgbClr val="111827"/>
                </a:solidFill>
                <a:latin typeface="Calibri" pitchFamily="34" charset="0"/>
                <a:ea typeface="Calibri" pitchFamily="34" charset="-122"/>
                <a:cs typeface="Calibri" pitchFamily="34" charset="-120"/>
              </a:rPr>
              <a:t>java.util imports in algorithms</a:t>
            </a:r>
            <a:endParaRPr lang="en-US" sz="1500" dirty="0"/>
          </a:p>
        </p:txBody>
      </p:sp>
      <p:sp>
        <p:nvSpPr>
          <p:cNvPr id="20" name="Shape 16"/>
          <p:cNvSpPr/>
          <p:nvPr/>
        </p:nvSpPr>
        <p:spPr>
          <a:xfrm>
            <a:off x="7498080" y="5330952"/>
            <a:ext cx="4142232" cy="841248"/>
          </a:xfrm>
          <a:prstGeom prst="roundRect">
            <a:avLst>
              <a:gd name="adj" fmla="val 8696"/>
            </a:avLst>
          </a:prstGeom>
          <a:solidFill>
            <a:srgbClr val="F4F5F9"/>
          </a:solidFill>
          <a:ln w="12700">
            <a:solidFill>
              <a:srgbClr val="F4F5F9"/>
            </a:solidFill>
            <a:prstDash val="solid"/>
          </a:ln>
        </p:spPr>
        <p:txBody>
          <a:bodyPr/>
          <a:lstStyle/>
          <a:p>
            <a:endParaRPr lang="en-IN"/>
          </a:p>
        </p:txBody>
      </p:sp>
      <p:sp>
        <p:nvSpPr>
          <p:cNvPr id="21" name="Text 17"/>
          <p:cNvSpPr txBox="1"/>
          <p:nvPr/>
        </p:nvSpPr>
        <p:spPr>
          <a:xfrm>
            <a:off x="7726680" y="5330952"/>
            <a:ext cx="1417320" cy="841248"/>
          </a:xfrm>
          <a:prstGeom prst="rect">
            <a:avLst/>
          </a:prstGeom>
          <a:noFill/>
          <a:ln/>
        </p:spPr>
        <p:txBody>
          <a:bodyPr wrap="square" lIns="0" tIns="0" rIns="0" bIns="0" rtlCol="0" anchor="ctr"/>
          <a:lstStyle/>
          <a:p>
            <a:pPr marL="0" indent="0">
              <a:buNone/>
            </a:pPr>
            <a:r>
              <a:rPr lang="en-US" sz="3000" b="1" dirty="0">
                <a:solidFill>
                  <a:srgbClr val="4338CA"/>
                </a:solidFill>
                <a:latin typeface="Calibri" pitchFamily="34" charset="0"/>
                <a:ea typeface="Calibri" pitchFamily="34" charset="-122"/>
                <a:cs typeface="Calibri" pitchFamily="34" charset="-120"/>
              </a:rPr>
              <a:t>0</a:t>
            </a:r>
            <a:endParaRPr lang="en-US" sz="3000" dirty="0"/>
          </a:p>
        </p:txBody>
      </p:sp>
      <p:sp>
        <p:nvSpPr>
          <p:cNvPr id="22" name="Text 18"/>
          <p:cNvSpPr txBox="1"/>
          <p:nvPr/>
        </p:nvSpPr>
        <p:spPr>
          <a:xfrm>
            <a:off x="9144000" y="5330952"/>
            <a:ext cx="2377440" cy="841248"/>
          </a:xfrm>
          <a:prstGeom prst="rect">
            <a:avLst/>
          </a:prstGeom>
          <a:noFill/>
          <a:ln/>
        </p:spPr>
        <p:txBody>
          <a:bodyPr wrap="square" lIns="0" tIns="0" rIns="0" bIns="0" rtlCol="0" anchor="ctr"/>
          <a:lstStyle/>
          <a:p>
            <a:pPr marL="0" indent="0">
              <a:buNone/>
            </a:pPr>
            <a:r>
              <a:rPr lang="en-US" sz="1500" dirty="0">
                <a:solidFill>
                  <a:srgbClr val="111827"/>
                </a:solidFill>
                <a:latin typeface="Calibri" pitchFamily="34" charset="0"/>
                <a:ea typeface="Calibri" pitchFamily="34" charset="-122"/>
                <a:cs typeface="Calibri" pitchFamily="34" charset="-120"/>
              </a:rPr>
              <a:t>javac -Xlint:all warnings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IMPLEMENTATION</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Working process</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14</a:t>
            </a:r>
            <a:endParaRPr lang="en-US" sz="1000" dirty="0"/>
          </a:p>
        </p:txBody>
      </p:sp>
      <p:sp>
        <p:nvSpPr>
          <p:cNvPr id="7" name="Text 4"/>
          <p:cNvSpPr txBox="1"/>
          <p:nvPr/>
        </p:nvSpPr>
        <p:spPr>
          <a:xfrm>
            <a:off x="548640" y="1371600"/>
            <a:ext cx="5486400" cy="320040"/>
          </a:xfrm>
          <a:prstGeom prst="rect">
            <a:avLst/>
          </a:prstGeom>
          <a:noFill/>
          <a:ln/>
        </p:spPr>
        <p:txBody>
          <a:bodyPr wrap="square" lIns="0" tIns="0" rIns="0" bIns="0" rtlCol="0" anchor="t"/>
          <a:lstStyle/>
          <a:p>
            <a:pPr marL="0" indent="0">
              <a:buNone/>
            </a:pPr>
            <a:r>
              <a:rPr lang="en-US" sz="1600" b="1" dirty="0">
                <a:solidFill>
                  <a:srgbClr val="B45309"/>
                </a:solidFill>
                <a:latin typeface="Calibri" pitchFamily="34" charset="0"/>
                <a:ea typeface="Calibri" pitchFamily="34" charset="-122"/>
                <a:cs typeface="Calibri" pitchFamily="34" charset="-120"/>
              </a:rPr>
              <a:t>Engine query flow</a:t>
            </a:r>
            <a:endParaRPr lang="en-US" sz="1600" dirty="0"/>
          </a:p>
        </p:txBody>
      </p:sp>
      <p:sp>
        <p:nvSpPr>
          <p:cNvPr id="8" name="Shape 5"/>
          <p:cNvSpPr/>
          <p:nvPr/>
        </p:nvSpPr>
        <p:spPr>
          <a:xfrm>
            <a:off x="548640" y="1783080"/>
            <a:ext cx="1920240" cy="914400"/>
          </a:xfrm>
          <a:prstGeom prst="roundRect">
            <a:avLst>
              <a:gd name="adj" fmla="val 7000"/>
            </a:avLst>
          </a:prstGeom>
          <a:solidFill>
            <a:srgbClr val="0B1026"/>
          </a:solidFill>
          <a:ln w="12700">
            <a:solidFill>
              <a:srgbClr val="0B1026"/>
            </a:solidFill>
            <a:prstDash val="solid"/>
          </a:ln>
        </p:spPr>
        <p:txBody>
          <a:bodyPr/>
          <a:lstStyle/>
          <a:p>
            <a:endParaRPr lang="en-IN"/>
          </a:p>
        </p:txBody>
      </p:sp>
      <p:sp>
        <p:nvSpPr>
          <p:cNvPr id="9" name="Text 6"/>
          <p:cNvSpPr txBox="1"/>
          <p:nvPr/>
        </p:nvSpPr>
        <p:spPr>
          <a:xfrm>
            <a:off x="548640" y="1783080"/>
            <a:ext cx="1920240" cy="914400"/>
          </a:xfrm>
          <a:prstGeom prst="rect">
            <a:avLst/>
          </a:prstGeom>
          <a:noFill/>
          <a:ln/>
        </p:spPr>
        <p:txBody>
          <a:bodyPr wrap="square" lIns="762" tIns="762" rIns="762" bIns="762"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Query text</a:t>
            </a:r>
            <a:endParaRPr lang="en-US" sz="1400" dirty="0"/>
          </a:p>
          <a:p>
            <a:pPr marL="0" indent="0" algn="ctr">
              <a:buNone/>
            </a:pPr>
            <a:r>
              <a:rPr lang="en-US" sz="1100" dirty="0">
                <a:solidFill>
                  <a:srgbClr val="C9CEE3"/>
                </a:solidFill>
                <a:latin typeface="Calibri" pitchFamily="34" charset="0"/>
                <a:ea typeface="Calibri" pitchFamily="34" charset="-122"/>
                <a:cs typeface="Calibri" pitchFamily="34" charset="-120"/>
              </a:rPr>
              <a:t>fuzzy "recieve" ~2</a:t>
            </a:r>
            <a:endParaRPr lang="en-US" sz="1400" dirty="0"/>
          </a:p>
        </p:txBody>
      </p:sp>
      <p:sp>
        <p:nvSpPr>
          <p:cNvPr id="10" name="Shape 7"/>
          <p:cNvSpPr/>
          <p:nvPr/>
        </p:nvSpPr>
        <p:spPr>
          <a:xfrm>
            <a:off x="2487168" y="2240280"/>
            <a:ext cx="329184" cy="0"/>
          </a:xfrm>
          <a:prstGeom prst="line">
            <a:avLst/>
          </a:prstGeom>
          <a:noFill/>
          <a:ln w="19050">
            <a:solidFill>
              <a:srgbClr val="4B5563"/>
            </a:solidFill>
            <a:prstDash val="solid"/>
            <a:tailEnd type="triangle"/>
          </a:ln>
        </p:spPr>
        <p:txBody>
          <a:bodyPr/>
          <a:lstStyle/>
          <a:p>
            <a:endParaRPr lang="en-IN"/>
          </a:p>
        </p:txBody>
      </p:sp>
      <p:sp>
        <p:nvSpPr>
          <p:cNvPr id="11" name="Shape 8"/>
          <p:cNvSpPr/>
          <p:nvPr/>
        </p:nvSpPr>
        <p:spPr>
          <a:xfrm>
            <a:off x="2834640" y="1783080"/>
            <a:ext cx="1920240" cy="914400"/>
          </a:xfrm>
          <a:prstGeom prst="roundRect">
            <a:avLst>
              <a:gd name="adj" fmla="val 7000"/>
            </a:avLst>
          </a:prstGeom>
          <a:solidFill>
            <a:srgbClr val="F4F5F9"/>
          </a:solidFill>
          <a:ln w="12700">
            <a:solidFill>
              <a:srgbClr val="DDE1EA"/>
            </a:solidFill>
            <a:prstDash val="solid"/>
          </a:ln>
        </p:spPr>
        <p:txBody>
          <a:bodyPr/>
          <a:lstStyle/>
          <a:p>
            <a:endParaRPr lang="en-IN"/>
          </a:p>
        </p:txBody>
      </p:sp>
      <p:sp>
        <p:nvSpPr>
          <p:cNvPr id="12" name="Text 9"/>
          <p:cNvSpPr txBox="1"/>
          <p:nvPr/>
        </p:nvSpPr>
        <p:spPr>
          <a:xfrm>
            <a:off x="2834640" y="1783080"/>
            <a:ext cx="1920240" cy="91440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QueryParser</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tokens → Query</a:t>
            </a:r>
            <a:endParaRPr lang="en-US" sz="1400" dirty="0"/>
          </a:p>
        </p:txBody>
      </p:sp>
      <p:sp>
        <p:nvSpPr>
          <p:cNvPr id="13" name="Shape 10"/>
          <p:cNvSpPr/>
          <p:nvPr/>
        </p:nvSpPr>
        <p:spPr>
          <a:xfrm>
            <a:off x="4773168" y="2240280"/>
            <a:ext cx="329184" cy="0"/>
          </a:xfrm>
          <a:prstGeom prst="line">
            <a:avLst/>
          </a:prstGeom>
          <a:noFill/>
          <a:ln w="19050">
            <a:solidFill>
              <a:srgbClr val="4B5563"/>
            </a:solidFill>
            <a:prstDash val="solid"/>
            <a:tailEnd type="triangle"/>
          </a:ln>
        </p:spPr>
        <p:txBody>
          <a:bodyPr/>
          <a:lstStyle/>
          <a:p>
            <a:endParaRPr lang="en-IN"/>
          </a:p>
        </p:txBody>
      </p:sp>
      <p:sp>
        <p:nvSpPr>
          <p:cNvPr id="14" name="Shape 11"/>
          <p:cNvSpPr/>
          <p:nvPr/>
        </p:nvSpPr>
        <p:spPr>
          <a:xfrm>
            <a:off x="5120640" y="1783080"/>
            <a:ext cx="1920240" cy="914400"/>
          </a:xfrm>
          <a:prstGeom prst="roundRect">
            <a:avLst>
              <a:gd name="adj" fmla="val 7000"/>
            </a:avLst>
          </a:prstGeom>
          <a:solidFill>
            <a:srgbClr val="F4F5F9"/>
          </a:solidFill>
          <a:ln w="12700">
            <a:solidFill>
              <a:srgbClr val="DDE1EA"/>
            </a:solidFill>
            <a:prstDash val="solid"/>
          </a:ln>
        </p:spPr>
        <p:txBody>
          <a:bodyPr/>
          <a:lstStyle/>
          <a:p>
            <a:endParaRPr lang="en-IN"/>
          </a:p>
        </p:txBody>
      </p:sp>
      <p:sp>
        <p:nvSpPr>
          <p:cNvPr id="15" name="Text 12"/>
          <p:cNvSpPr txBox="1"/>
          <p:nvPr/>
        </p:nvSpPr>
        <p:spPr>
          <a:xfrm>
            <a:off x="5120640" y="1783080"/>
            <a:ext cx="1920240" cy="91440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TextHack facade</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picks the algorithm</a:t>
            </a:r>
            <a:endParaRPr lang="en-US" sz="1400" dirty="0"/>
          </a:p>
        </p:txBody>
      </p:sp>
      <p:sp>
        <p:nvSpPr>
          <p:cNvPr id="16" name="Shape 13"/>
          <p:cNvSpPr/>
          <p:nvPr/>
        </p:nvSpPr>
        <p:spPr>
          <a:xfrm>
            <a:off x="7059168" y="2240280"/>
            <a:ext cx="329184" cy="0"/>
          </a:xfrm>
          <a:prstGeom prst="line">
            <a:avLst/>
          </a:prstGeom>
          <a:noFill/>
          <a:ln w="19050">
            <a:solidFill>
              <a:srgbClr val="4B5563"/>
            </a:solidFill>
            <a:prstDash val="solid"/>
            <a:tailEnd type="triangle"/>
          </a:ln>
        </p:spPr>
        <p:txBody>
          <a:bodyPr/>
          <a:lstStyle/>
          <a:p>
            <a:endParaRPr lang="en-IN"/>
          </a:p>
        </p:txBody>
      </p:sp>
      <p:sp>
        <p:nvSpPr>
          <p:cNvPr id="17" name="Shape 14"/>
          <p:cNvSpPr/>
          <p:nvPr/>
        </p:nvSpPr>
        <p:spPr>
          <a:xfrm>
            <a:off x="7406640" y="1783080"/>
            <a:ext cx="1920240" cy="914400"/>
          </a:xfrm>
          <a:prstGeom prst="roundRect">
            <a:avLst>
              <a:gd name="adj" fmla="val 7000"/>
            </a:avLst>
          </a:prstGeom>
          <a:solidFill>
            <a:srgbClr val="F4F5F9"/>
          </a:solidFill>
          <a:ln w="12700">
            <a:solidFill>
              <a:srgbClr val="DDE1EA"/>
            </a:solidFill>
            <a:prstDash val="solid"/>
          </a:ln>
        </p:spPr>
        <p:txBody>
          <a:bodyPr/>
          <a:lstStyle/>
          <a:p>
            <a:endParaRPr lang="en-IN"/>
          </a:p>
        </p:txBody>
      </p:sp>
      <p:sp>
        <p:nvSpPr>
          <p:cNvPr id="18" name="Text 15"/>
          <p:cNvSpPr txBox="1"/>
          <p:nvPr/>
        </p:nvSpPr>
        <p:spPr>
          <a:xfrm>
            <a:off x="7406640" y="1783080"/>
            <a:ext cx="1920240" cy="91440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Algorithm</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Levenshtein ≤ 2 edits</a:t>
            </a:r>
            <a:endParaRPr lang="en-US" sz="1400" dirty="0"/>
          </a:p>
        </p:txBody>
      </p:sp>
      <p:sp>
        <p:nvSpPr>
          <p:cNvPr id="19" name="Shape 16"/>
          <p:cNvSpPr/>
          <p:nvPr/>
        </p:nvSpPr>
        <p:spPr>
          <a:xfrm>
            <a:off x="9345168" y="2240280"/>
            <a:ext cx="329184" cy="0"/>
          </a:xfrm>
          <a:prstGeom prst="line">
            <a:avLst/>
          </a:prstGeom>
          <a:noFill/>
          <a:ln w="19050">
            <a:solidFill>
              <a:srgbClr val="4B5563"/>
            </a:solidFill>
            <a:prstDash val="solid"/>
            <a:tailEnd type="triangle"/>
          </a:ln>
        </p:spPr>
        <p:txBody>
          <a:bodyPr/>
          <a:lstStyle/>
          <a:p>
            <a:endParaRPr lang="en-IN"/>
          </a:p>
        </p:txBody>
      </p:sp>
      <p:sp>
        <p:nvSpPr>
          <p:cNvPr id="20" name="Shape 17"/>
          <p:cNvSpPr/>
          <p:nvPr/>
        </p:nvSpPr>
        <p:spPr>
          <a:xfrm>
            <a:off x="9692640" y="1783080"/>
            <a:ext cx="1920240" cy="914400"/>
          </a:xfrm>
          <a:prstGeom prst="roundRect">
            <a:avLst>
              <a:gd name="adj" fmla="val 7000"/>
            </a:avLst>
          </a:prstGeom>
          <a:solidFill>
            <a:srgbClr val="0B1026"/>
          </a:solidFill>
          <a:ln w="12700">
            <a:solidFill>
              <a:srgbClr val="0B1026"/>
            </a:solidFill>
            <a:prstDash val="solid"/>
          </a:ln>
        </p:spPr>
        <p:txBody>
          <a:bodyPr/>
          <a:lstStyle/>
          <a:p>
            <a:endParaRPr lang="en-IN"/>
          </a:p>
        </p:txBody>
      </p:sp>
      <p:sp>
        <p:nvSpPr>
          <p:cNvPr id="21" name="Text 18"/>
          <p:cNvSpPr txBox="1"/>
          <p:nvPr/>
        </p:nvSpPr>
        <p:spPr>
          <a:xfrm>
            <a:off x="9692640" y="1783080"/>
            <a:ext cx="1920240" cy="914400"/>
          </a:xfrm>
          <a:prstGeom prst="rect">
            <a:avLst/>
          </a:prstGeom>
          <a:noFill/>
          <a:ln/>
        </p:spPr>
        <p:txBody>
          <a:bodyPr wrap="square" lIns="762" tIns="762" rIns="762" bIns="762"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Result</a:t>
            </a:r>
            <a:endParaRPr lang="en-US" sz="1400" dirty="0"/>
          </a:p>
          <a:p>
            <a:pPr marL="0" indent="0" algn="ctr">
              <a:buNone/>
            </a:pPr>
            <a:r>
              <a:rPr lang="en-US" sz="1100" dirty="0">
                <a:solidFill>
                  <a:srgbClr val="C9CEE3"/>
                </a:solidFill>
                <a:latin typeface="Calibri" pitchFamily="34" charset="0"/>
                <a:ea typeface="Calibri" pitchFamily="34" charset="-122"/>
                <a:cs typeface="Calibri" pitchFamily="34" charset="-120"/>
              </a:rPr>
              <a:t>relieve 1 · receive 2</a:t>
            </a:r>
            <a:endParaRPr lang="en-US" sz="1400" dirty="0"/>
          </a:p>
        </p:txBody>
      </p:sp>
      <p:sp>
        <p:nvSpPr>
          <p:cNvPr id="22" name="Text 19"/>
          <p:cNvSpPr txBox="1"/>
          <p:nvPr/>
        </p:nvSpPr>
        <p:spPr>
          <a:xfrm>
            <a:off x="548640" y="3063240"/>
            <a:ext cx="7315200" cy="320040"/>
          </a:xfrm>
          <a:prstGeom prst="rect">
            <a:avLst/>
          </a:prstGeom>
          <a:noFill/>
          <a:ln/>
        </p:spPr>
        <p:txBody>
          <a:bodyPr wrap="square" lIns="0" tIns="0" rIns="0" bIns="0" rtlCol="0" anchor="t"/>
          <a:lstStyle/>
          <a:p>
            <a:pPr marL="0" indent="0">
              <a:buNone/>
            </a:pPr>
            <a:r>
              <a:rPr lang="en-US" sz="1600" b="1" dirty="0">
                <a:solidFill>
                  <a:srgbClr val="B45309"/>
                </a:solidFill>
                <a:latin typeface="Calibri" pitchFamily="34" charset="0"/>
                <a:ea typeface="Calibri" pitchFamily="34" charset="-122"/>
                <a:cs typeface="Calibri" pitchFamily="34" charset="-120"/>
              </a:rPr>
              <a:t>Search scoring flow in the platform</a:t>
            </a:r>
            <a:endParaRPr lang="en-US" sz="1600" dirty="0"/>
          </a:p>
        </p:txBody>
      </p:sp>
      <p:sp>
        <p:nvSpPr>
          <p:cNvPr id="23" name="Shape 20"/>
          <p:cNvSpPr/>
          <p:nvPr/>
        </p:nvSpPr>
        <p:spPr>
          <a:xfrm>
            <a:off x="548640" y="3474720"/>
            <a:ext cx="1920240" cy="1005840"/>
          </a:xfrm>
          <a:prstGeom prst="roundRect">
            <a:avLst>
              <a:gd name="adj" fmla="val 6364"/>
            </a:avLst>
          </a:prstGeom>
          <a:solidFill>
            <a:srgbClr val="0B1026"/>
          </a:solidFill>
          <a:ln w="12700">
            <a:solidFill>
              <a:srgbClr val="0B1026"/>
            </a:solidFill>
            <a:prstDash val="solid"/>
          </a:ln>
        </p:spPr>
        <p:txBody>
          <a:bodyPr/>
          <a:lstStyle/>
          <a:p>
            <a:endParaRPr lang="en-IN"/>
          </a:p>
        </p:txBody>
      </p:sp>
      <p:sp>
        <p:nvSpPr>
          <p:cNvPr id="24" name="Text 21"/>
          <p:cNvSpPr txBox="1"/>
          <p:nvPr/>
        </p:nvSpPr>
        <p:spPr>
          <a:xfrm>
            <a:off x="548640" y="3474720"/>
            <a:ext cx="1920240" cy="1005840"/>
          </a:xfrm>
          <a:prstGeom prst="rect">
            <a:avLst/>
          </a:prstGeom>
          <a:noFill/>
          <a:ln/>
        </p:spPr>
        <p:txBody>
          <a:bodyPr wrap="square" lIns="762" tIns="762" rIns="762" bIns="762"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User query</a:t>
            </a:r>
            <a:endParaRPr lang="en-US" sz="1400" dirty="0"/>
          </a:p>
          <a:p>
            <a:pPr marL="0" indent="0" algn="ctr">
              <a:buNone/>
            </a:pPr>
            <a:r>
              <a:rPr lang="en-US" sz="1100" dirty="0">
                <a:solidFill>
                  <a:srgbClr val="C9CEE3"/>
                </a:solidFill>
                <a:latin typeface="Calibri" pitchFamily="34" charset="0"/>
                <a:ea typeface="Calibri" pitchFamily="34" charset="-122"/>
                <a:cs typeface="Calibri" pitchFamily="34" charset="-120"/>
              </a:rPr>
              <a:t>"recieve report"</a:t>
            </a:r>
            <a:endParaRPr lang="en-US" sz="1400" dirty="0"/>
          </a:p>
        </p:txBody>
      </p:sp>
      <p:sp>
        <p:nvSpPr>
          <p:cNvPr id="25" name="Shape 22"/>
          <p:cNvSpPr/>
          <p:nvPr/>
        </p:nvSpPr>
        <p:spPr>
          <a:xfrm>
            <a:off x="2487168" y="3977640"/>
            <a:ext cx="329184" cy="0"/>
          </a:xfrm>
          <a:prstGeom prst="line">
            <a:avLst/>
          </a:prstGeom>
          <a:noFill/>
          <a:ln w="19050">
            <a:solidFill>
              <a:srgbClr val="4B5563"/>
            </a:solidFill>
            <a:prstDash val="solid"/>
            <a:tailEnd type="triangle"/>
          </a:ln>
        </p:spPr>
        <p:txBody>
          <a:bodyPr/>
          <a:lstStyle/>
          <a:p>
            <a:endParaRPr lang="en-IN"/>
          </a:p>
        </p:txBody>
      </p:sp>
      <p:sp>
        <p:nvSpPr>
          <p:cNvPr id="26" name="Shape 23"/>
          <p:cNvSpPr/>
          <p:nvPr/>
        </p:nvSpPr>
        <p:spPr>
          <a:xfrm>
            <a:off x="2834640" y="3474720"/>
            <a:ext cx="1920240" cy="1005840"/>
          </a:xfrm>
          <a:prstGeom prst="roundRect">
            <a:avLst>
              <a:gd name="adj" fmla="val 6364"/>
            </a:avLst>
          </a:prstGeom>
          <a:solidFill>
            <a:srgbClr val="F4F5F9"/>
          </a:solidFill>
          <a:ln w="12700">
            <a:solidFill>
              <a:srgbClr val="DDE1EA"/>
            </a:solidFill>
            <a:prstDash val="solid"/>
          </a:ln>
        </p:spPr>
        <p:txBody>
          <a:bodyPr/>
          <a:lstStyle/>
          <a:p>
            <a:endParaRPr lang="en-IN"/>
          </a:p>
        </p:txBody>
      </p:sp>
      <p:sp>
        <p:nvSpPr>
          <p:cNvPr id="27" name="Text 24"/>
          <p:cNvSpPr txBox="1"/>
          <p:nvPr/>
        </p:nvSpPr>
        <p:spPr>
          <a:xfrm>
            <a:off x="2834640" y="3474720"/>
            <a:ext cx="1920240" cy="100584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Candidates</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PostgreSQL phrase match + TextHack scan</a:t>
            </a:r>
            <a:endParaRPr lang="en-US" sz="1400" dirty="0"/>
          </a:p>
        </p:txBody>
      </p:sp>
      <p:sp>
        <p:nvSpPr>
          <p:cNvPr id="28" name="Shape 25"/>
          <p:cNvSpPr/>
          <p:nvPr/>
        </p:nvSpPr>
        <p:spPr>
          <a:xfrm>
            <a:off x="4773168" y="3977640"/>
            <a:ext cx="329184" cy="0"/>
          </a:xfrm>
          <a:prstGeom prst="line">
            <a:avLst/>
          </a:prstGeom>
          <a:noFill/>
          <a:ln w="19050">
            <a:solidFill>
              <a:srgbClr val="4B5563"/>
            </a:solidFill>
            <a:prstDash val="solid"/>
            <a:tailEnd type="triangle"/>
          </a:ln>
        </p:spPr>
        <p:txBody>
          <a:bodyPr/>
          <a:lstStyle/>
          <a:p>
            <a:endParaRPr lang="en-IN"/>
          </a:p>
        </p:txBody>
      </p:sp>
      <p:sp>
        <p:nvSpPr>
          <p:cNvPr id="29" name="Shape 26"/>
          <p:cNvSpPr/>
          <p:nvPr/>
        </p:nvSpPr>
        <p:spPr>
          <a:xfrm>
            <a:off x="5120640" y="3474720"/>
            <a:ext cx="1920240" cy="1005840"/>
          </a:xfrm>
          <a:prstGeom prst="roundRect">
            <a:avLst>
              <a:gd name="adj" fmla="val 6364"/>
            </a:avLst>
          </a:prstGeom>
          <a:solidFill>
            <a:srgbClr val="F4F5F9"/>
          </a:solidFill>
          <a:ln w="12700">
            <a:solidFill>
              <a:srgbClr val="DDE1EA"/>
            </a:solidFill>
            <a:prstDash val="solid"/>
          </a:ln>
        </p:spPr>
        <p:txBody>
          <a:bodyPr/>
          <a:lstStyle/>
          <a:p>
            <a:endParaRPr lang="en-IN"/>
          </a:p>
        </p:txBody>
      </p:sp>
      <p:sp>
        <p:nvSpPr>
          <p:cNvPr id="30" name="Text 27"/>
          <p:cNvSpPr txBox="1"/>
          <p:nvPr/>
        </p:nvSpPr>
        <p:spPr>
          <a:xfrm>
            <a:off x="5120640" y="3474720"/>
            <a:ext cx="1920240" cy="100584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LexicalScorer</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KMP · Aho-Corasick · OSA</a:t>
            </a:r>
            <a:endParaRPr lang="en-US" sz="1400" dirty="0"/>
          </a:p>
        </p:txBody>
      </p:sp>
      <p:sp>
        <p:nvSpPr>
          <p:cNvPr id="31" name="Shape 28"/>
          <p:cNvSpPr/>
          <p:nvPr/>
        </p:nvSpPr>
        <p:spPr>
          <a:xfrm>
            <a:off x="7059168" y="3977640"/>
            <a:ext cx="329184" cy="0"/>
          </a:xfrm>
          <a:prstGeom prst="line">
            <a:avLst/>
          </a:prstGeom>
          <a:noFill/>
          <a:ln w="19050">
            <a:solidFill>
              <a:srgbClr val="4B5563"/>
            </a:solidFill>
            <a:prstDash val="solid"/>
            <a:tailEnd type="triangle"/>
          </a:ln>
        </p:spPr>
        <p:txBody>
          <a:bodyPr/>
          <a:lstStyle/>
          <a:p>
            <a:endParaRPr lang="en-IN"/>
          </a:p>
        </p:txBody>
      </p:sp>
      <p:sp>
        <p:nvSpPr>
          <p:cNvPr id="32" name="Shape 29"/>
          <p:cNvSpPr/>
          <p:nvPr/>
        </p:nvSpPr>
        <p:spPr>
          <a:xfrm>
            <a:off x="7406640" y="3474720"/>
            <a:ext cx="1920240" cy="1005840"/>
          </a:xfrm>
          <a:prstGeom prst="roundRect">
            <a:avLst>
              <a:gd name="adj" fmla="val 6364"/>
            </a:avLst>
          </a:prstGeom>
          <a:solidFill>
            <a:srgbClr val="F4F5F9"/>
          </a:solidFill>
          <a:ln w="12700">
            <a:solidFill>
              <a:srgbClr val="DDE1EA"/>
            </a:solidFill>
            <a:prstDash val="solid"/>
          </a:ln>
        </p:spPr>
        <p:txBody>
          <a:bodyPr/>
          <a:lstStyle/>
          <a:p>
            <a:endParaRPr lang="en-IN"/>
          </a:p>
        </p:txBody>
      </p:sp>
      <p:sp>
        <p:nvSpPr>
          <p:cNvPr id="33" name="Text 30"/>
          <p:cNvSpPr txBox="1"/>
          <p:nvPr/>
        </p:nvSpPr>
        <p:spPr>
          <a:xfrm>
            <a:off x="7406640" y="3474720"/>
            <a:ext cx="1920240" cy="100584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Fusion</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with the semantic score</a:t>
            </a:r>
            <a:endParaRPr lang="en-US" sz="1400" dirty="0"/>
          </a:p>
        </p:txBody>
      </p:sp>
      <p:sp>
        <p:nvSpPr>
          <p:cNvPr id="34" name="Shape 31"/>
          <p:cNvSpPr/>
          <p:nvPr/>
        </p:nvSpPr>
        <p:spPr>
          <a:xfrm>
            <a:off x="9345168" y="3977640"/>
            <a:ext cx="329184" cy="0"/>
          </a:xfrm>
          <a:prstGeom prst="line">
            <a:avLst/>
          </a:prstGeom>
          <a:noFill/>
          <a:ln w="19050">
            <a:solidFill>
              <a:srgbClr val="4B5563"/>
            </a:solidFill>
            <a:prstDash val="solid"/>
            <a:tailEnd type="triangle"/>
          </a:ln>
        </p:spPr>
        <p:txBody>
          <a:bodyPr/>
          <a:lstStyle/>
          <a:p>
            <a:endParaRPr lang="en-IN"/>
          </a:p>
        </p:txBody>
      </p:sp>
      <p:sp>
        <p:nvSpPr>
          <p:cNvPr id="35" name="Shape 32"/>
          <p:cNvSpPr/>
          <p:nvPr/>
        </p:nvSpPr>
        <p:spPr>
          <a:xfrm>
            <a:off x="9692640" y="3474720"/>
            <a:ext cx="1920240" cy="1005840"/>
          </a:xfrm>
          <a:prstGeom prst="roundRect">
            <a:avLst>
              <a:gd name="adj" fmla="val 6364"/>
            </a:avLst>
          </a:prstGeom>
          <a:solidFill>
            <a:srgbClr val="0B1026"/>
          </a:solidFill>
          <a:ln w="12700">
            <a:solidFill>
              <a:srgbClr val="0B1026"/>
            </a:solidFill>
            <a:prstDash val="solid"/>
          </a:ln>
        </p:spPr>
        <p:txBody>
          <a:bodyPr/>
          <a:lstStyle/>
          <a:p>
            <a:endParaRPr lang="en-IN"/>
          </a:p>
        </p:txBody>
      </p:sp>
      <p:sp>
        <p:nvSpPr>
          <p:cNvPr id="36" name="Text 33"/>
          <p:cNvSpPr txBox="1"/>
          <p:nvPr/>
        </p:nvSpPr>
        <p:spPr>
          <a:xfrm>
            <a:off x="9692640" y="3474720"/>
            <a:ext cx="1920240" cy="1005840"/>
          </a:xfrm>
          <a:prstGeom prst="rect">
            <a:avLst/>
          </a:prstGeom>
          <a:noFill/>
          <a:ln/>
        </p:spPr>
        <p:txBody>
          <a:bodyPr wrap="square" lIns="762" tIns="762" rIns="762" bIns="762"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Results</a:t>
            </a:r>
            <a:endParaRPr lang="en-US" sz="1400" dirty="0"/>
          </a:p>
          <a:p>
            <a:pPr marL="0" indent="0" algn="ctr">
              <a:buNone/>
            </a:pPr>
            <a:r>
              <a:rPr lang="en-US" sz="1100" dirty="0">
                <a:solidFill>
                  <a:srgbClr val="C9CEE3"/>
                </a:solidFill>
                <a:latin typeface="Calibri" pitchFamily="34" charset="0"/>
                <a:ea typeface="Calibri" pitchFamily="34" charset="-122"/>
                <a:cs typeface="Calibri" pitchFamily="34" charset="-120"/>
              </a:rPr>
              <a:t>fuzzy hits flagged FUZZY</a:t>
            </a:r>
            <a:endParaRPr lang="en-US" sz="1400" dirty="0"/>
          </a:p>
        </p:txBody>
      </p:sp>
      <p:sp>
        <p:nvSpPr>
          <p:cNvPr id="37" name="Shape 34"/>
          <p:cNvSpPr/>
          <p:nvPr/>
        </p:nvSpPr>
        <p:spPr>
          <a:xfrm>
            <a:off x="548640" y="4846320"/>
            <a:ext cx="3593592" cy="594360"/>
          </a:xfrm>
          <a:prstGeom prst="roundRect">
            <a:avLst>
              <a:gd name="adj" fmla="val 12308"/>
            </a:avLst>
          </a:prstGeom>
          <a:solidFill>
            <a:srgbClr val="F4F5F9"/>
          </a:solidFill>
          <a:ln w="12700">
            <a:solidFill>
              <a:srgbClr val="F4F5F9"/>
            </a:solidFill>
            <a:prstDash val="solid"/>
          </a:ln>
        </p:spPr>
        <p:txBody>
          <a:bodyPr/>
          <a:lstStyle/>
          <a:p>
            <a:endParaRPr lang="en-IN"/>
          </a:p>
        </p:txBody>
      </p:sp>
      <p:sp>
        <p:nvSpPr>
          <p:cNvPr id="38" name="Text 35"/>
          <p:cNvSpPr txBox="1"/>
          <p:nvPr/>
        </p:nvSpPr>
        <p:spPr>
          <a:xfrm>
            <a:off x="731520" y="4846320"/>
            <a:ext cx="2103120" cy="594360"/>
          </a:xfrm>
          <a:prstGeom prst="rect">
            <a:avLst/>
          </a:prstGeom>
          <a:noFill/>
          <a:ln/>
        </p:spPr>
        <p:txBody>
          <a:bodyPr wrap="square" lIns="0" tIns="0" rIns="0" bIns="0" rtlCol="0" anchor="ctr"/>
          <a:lstStyle/>
          <a:p>
            <a:pPr marL="0" indent="0">
              <a:buNone/>
            </a:pPr>
            <a:r>
              <a:rPr lang="en-US" sz="1300" dirty="0">
                <a:solidFill>
                  <a:srgbClr val="111827"/>
                </a:solidFill>
                <a:latin typeface="Calibri" pitchFamily="34" charset="0"/>
                <a:ea typeface="Calibri" pitchFamily="34" charset="-122"/>
                <a:cs typeface="Calibri" pitchFamily="34" charset="-120"/>
              </a:rPr>
              <a:t>Exact phrase in title (KMP)</a:t>
            </a:r>
            <a:endParaRPr lang="en-US" sz="1300" dirty="0"/>
          </a:p>
        </p:txBody>
      </p:sp>
      <p:sp>
        <p:nvSpPr>
          <p:cNvPr id="39" name="Text 36"/>
          <p:cNvSpPr txBox="1"/>
          <p:nvPr/>
        </p:nvSpPr>
        <p:spPr>
          <a:xfrm>
            <a:off x="2788920" y="4846320"/>
            <a:ext cx="1188720" cy="594360"/>
          </a:xfrm>
          <a:prstGeom prst="rect">
            <a:avLst/>
          </a:prstGeom>
          <a:noFill/>
          <a:ln/>
        </p:spPr>
        <p:txBody>
          <a:bodyPr wrap="square" lIns="0" tIns="0" rIns="0" bIns="0" rtlCol="0" anchor="ctr"/>
          <a:lstStyle/>
          <a:p>
            <a:pPr marL="0" indent="0" algn="r">
              <a:buNone/>
            </a:pPr>
            <a:r>
              <a:rPr lang="en-US" sz="1300" b="1" dirty="0">
                <a:solidFill>
                  <a:srgbClr val="4338CA"/>
                </a:solidFill>
                <a:latin typeface="Consolas" pitchFamily="34" charset="0"/>
                <a:ea typeface="Consolas" pitchFamily="34" charset="-122"/>
                <a:cs typeface="Consolas" pitchFamily="34" charset="-120"/>
              </a:rPr>
              <a:t>1.0</a:t>
            </a:r>
            <a:endParaRPr lang="en-US" sz="1300" dirty="0"/>
          </a:p>
        </p:txBody>
      </p:sp>
      <p:sp>
        <p:nvSpPr>
          <p:cNvPr id="40" name="Shape 37"/>
          <p:cNvSpPr/>
          <p:nvPr/>
        </p:nvSpPr>
        <p:spPr>
          <a:xfrm>
            <a:off x="4297680" y="4846320"/>
            <a:ext cx="3593592" cy="594360"/>
          </a:xfrm>
          <a:prstGeom prst="roundRect">
            <a:avLst>
              <a:gd name="adj" fmla="val 12308"/>
            </a:avLst>
          </a:prstGeom>
          <a:solidFill>
            <a:srgbClr val="F4F5F9"/>
          </a:solidFill>
          <a:ln w="12700">
            <a:solidFill>
              <a:srgbClr val="F4F5F9"/>
            </a:solidFill>
            <a:prstDash val="solid"/>
          </a:ln>
        </p:spPr>
        <p:txBody>
          <a:bodyPr/>
          <a:lstStyle/>
          <a:p>
            <a:endParaRPr lang="en-IN"/>
          </a:p>
        </p:txBody>
      </p:sp>
      <p:sp>
        <p:nvSpPr>
          <p:cNvPr id="41" name="Text 38"/>
          <p:cNvSpPr txBox="1"/>
          <p:nvPr/>
        </p:nvSpPr>
        <p:spPr>
          <a:xfrm>
            <a:off x="4480560" y="4846320"/>
            <a:ext cx="2103120" cy="594360"/>
          </a:xfrm>
          <a:prstGeom prst="rect">
            <a:avLst/>
          </a:prstGeom>
          <a:noFill/>
          <a:ln/>
        </p:spPr>
        <p:txBody>
          <a:bodyPr wrap="square" lIns="0" tIns="0" rIns="0" bIns="0" rtlCol="0" anchor="ctr"/>
          <a:lstStyle/>
          <a:p>
            <a:pPr marL="0" indent="0">
              <a:buNone/>
            </a:pPr>
            <a:r>
              <a:rPr lang="en-US" sz="1300" dirty="0">
                <a:solidFill>
                  <a:srgbClr val="111827"/>
                </a:solidFill>
                <a:latin typeface="Calibri" pitchFamily="34" charset="0"/>
                <a:ea typeface="Calibri" pitchFamily="34" charset="-122"/>
                <a:cs typeface="Calibri" pitchFamily="34" charset="-120"/>
              </a:rPr>
              <a:t>Phrase in description</a:t>
            </a:r>
            <a:endParaRPr lang="en-US" sz="1300" dirty="0"/>
          </a:p>
        </p:txBody>
      </p:sp>
      <p:sp>
        <p:nvSpPr>
          <p:cNvPr id="42" name="Text 39"/>
          <p:cNvSpPr txBox="1"/>
          <p:nvPr/>
        </p:nvSpPr>
        <p:spPr>
          <a:xfrm>
            <a:off x="6537960" y="4846320"/>
            <a:ext cx="1188720" cy="594360"/>
          </a:xfrm>
          <a:prstGeom prst="rect">
            <a:avLst/>
          </a:prstGeom>
          <a:noFill/>
          <a:ln/>
        </p:spPr>
        <p:txBody>
          <a:bodyPr wrap="square" lIns="0" tIns="0" rIns="0" bIns="0" rtlCol="0" anchor="ctr"/>
          <a:lstStyle/>
          <a:p>
            <a:pPr marL="0" indent="0" algn="r">
              <a:buNone/>
            </a:pPr>
            <a:r>
              <a:rPr lang="en-US" sz="1300" b="1" dirty="0">
                <a:solidFill>
                  <a:srgbClr val="4338CA"/>
                </a:solidFill>
                <a:latin typeface="Consolas" pitchFamily="34" charset="0"/>
                <a:ea typeface="Consolas" pitchFamily="34" charset="-122"/>
                <a:cs typeface="Consolas" pitchFamily="34" charset="-120"/>
              </a:rPr>
              <a:t>0.75</a:t>
            </a:r>
            <a:endParaRPr lang="en-US" sz="1300" dirty="0"/>
          </a:p>
        </p:txBody>
      </p:sp>
      <p:sp>
        <p:nvSpPr>
          <p:cNvPr id="43" name="Shape 40"/>
          <p:cNvSpPr/>
          <p:nvPr/>
        </p:nvSpPr>
        <p:spPr>
          <a:xfrm>
            <a:off x="8046720" y="4846320"/>
            <a:ext cx="3593592" cy="594360"/>
          </a:xfrm>
          <a:prstGeom prst="roundRect">
            <a:avLst>
              <a:gd name="adj" fmla="val 12308"/>
            </a:avLst>
          </a:prstGeom>
          <a:solidFill>
            <a:srgbClr val="F4F5F9"/>
          </a:solidFill>
          <a:ln w="12700">
            <a:solidFill>
              <a:srgbClr val="F4F5F9"/>
            </a:solidFill>
            <a:prstDash val="solid"/>
          </a:ln>
        </p:spPr>
        <p:txBody>
          <a:bodyPr/>
          <a:lstStyle/>
          <a:p>
            <a:endParaRPr lang="en-IN"/>
          </a:p>
        </p:txBody>
      </p:sp>
      <p:sp>
        <p:nvSpPr>
          <p:cNvPr id="44" name="Text 41"/>
          <p:cNvSpPr txBox="1"/>
          <p:nvPr/>
        </p:nvSpPr>
        <p:spPr>
          <a:xfrm>
            <a:off x="8229600" y="4846320"/>
            <a:ext cx="2103120" cy="594360"/>
          </a:xfrm>
          <a:prstGeom prst="rect">
            <a:avLst/>
          </a:prstGeom>
          <a:noFill/>
          <a:ln/>
        </p:spPr>
        <p:txBody>
          <a:bodyPr wrap="square" lIns="0" tIns="0" rIns="0" bIns="0" rtlCol="0" anchor="ctr"/>
          <a:lstStyle/>
          <a:p>
            <a:pPr marL="0" indent="0">
              <a:buNone/>
            </a:pPr>
            <a:r>
              <a:rPr lang="en-US" sz="1300" dirty="0">
                <a:solidFill>
                  <a:srgbClr val="111827"/>
                </a:solidFill>
                <a:latin typeface="Calibri" pitchFamily="34" charset="0"/>
                <a:ea typeface="Calibri" pitchFamily="34" charset="-122"/>
                <a:cs typeface="Calibri" pitchFamily="34" charset="-120"/>
              </a:rPr>
              <a:t>Term coverage (Aho-Corasick)</a:t>
            </a:r>
            <a:endParaRPr lang="en-US" sz="1300" dirty="0"/>
          </a:p>
        </p:txBody>
      </p:sp>
      <p:sp>
        <p:nvSpPr>
          <p:cNvPr id="45" name="Text 42"/>
          <p:cNvSpPr txBox="1"/>
          <p:nvPr/>
        </p:nvSpPr>
        <p:spPr>
          <a:xfrm>
            <a:off x="10287000" y="4846320"/>
            <a:ext cx="1188720" cy="594360"/>
          </a:xfrm>
          <a:prstGeom prst="rect">
            <a:avLst/>
          </a:prstGeom>
          <a:noFill/>
          <a:ln/>
        </p:spPr>
        <p:txBody>
          <a:bodyPr wrap="square" lIns="0" tIns="0" rIns="0" bIns="0" rtlCol="0" anchor="ctr"/>
          <a:lstStyle/>
          <a:p>
            <a:pPr marL="0" indent="0" algn="r">
              <a:buNone/>
            </a:pPr>
            <a:r>
              <a:rPr lang="en-US" sz="1300" b="1" dirty="0">
                <a:solidFill>
                  <a:srgbClr val="4338CA"/>
                </a:solidFill>
                <a:latin typeface="Consolas" pitchFamily="34" charset="0"/>
                <a:ea typeface="Consolas" pitchFamily="34" charset="-122"/>
                <a:cs typeface="Consolas" pitchFamily="34" charset="-120"/>
              </a:rPr>
              <a:t>≤ 0.9</a:t>
            </a:r>
            <a:endParaRPr lang="en-US" sz="1300" dirty="0"/>
          </a:p>
        </p:txBody>
      </p:sp>
      <p:sp>
        <p:nvSpPr>
          <p:cNvPr id="46" name="Shape 43"/>
          <p:cNvSpPr/>
          <p:nvPr/>
        </p:nvSpPr>
        <p:spPr>
          <a:xfrm>
            <a:off x="548640" y="5559552"/>
            <a:ext cx="3593592" cy="594360"/>
          </a:xfrm>
          <a:prstGeom prst="roundRect">
            <a:avLst>
              <a:gd name="adj" fmla="val 12308"/>
            </a:avLst>
          </a:prstGeom>
          <a:solidFill>
            <a:srgbClr val="F4F5F9"/>
          </a:solidFill>
          <a:ln w="12700">
            <a:solidFill>
              <a:srgbClr val="F4F5F9"/>
            </a:solidFill>
            <a:prstDash val="solid"/>
          </a:ln>
        </p:spPr>
        <p:txBody>
          <a:bodyPr/>
          <a:lstStyle/>
          <a:p>
            <a:endParaRPr lang="en-IN"/>
          </a:p>
        </p:txBody>
      </p:sp>
      <p:sp>
        <p:nvSpPr>
          <p:cNvPr id="47" name="Text 44"/>
          <p:cNvSpPr txBox="1"/>
          <p:nvPr/>
        </p:nvSpPr>
        <p:spPr>
          <a:xfrm>
            <a:off x="731520" y="5559552"/>
            <a:ext cx="2103120" cy="594360"/>
          </a:xfrm>
          <a:prstGeom prst="rect">
            <a:avLst/>
          </a:prstGeom>
          <a:noFill/>
          <a:ln/>
        </p:spPr>
        <p:txBody>
          <a:bodyPr wrap="square" lIns="0" tIns="0" rIns="0" bIns="0" rtlCol="0" anchor="ctr"/>
          <a:lstStyle/>
          <a:p>
            <a:pPr marL="0" indent="0">
              <a:buNone/>
            </a:pPr>
            <a:r>
              <a:rPr lang="en-US" sz="1300" dirty="0">
                <a:solidFill>
                  <a:srgbClr val="111827"/>
                </a:solidFill>
                <a:latin typeface="Calibri" pitchFamily="34" charset="0"/>
                <a:ea typeface="Calibri" pitchFamily="34" charset="-122"/>
                <a:cs typeface="Calibri" pitchFamily="34" charset="-120"/>
              </a:rPr>
              <a:t>Term one edit away (OSA)</a:t>
            </a:r>
            <a:endParaRPr lang="en-US" sz="1300" dirty="0"/>
          </a:p>
        </p:txBody>
      </p:sp>
      <p:sp>
        <p:nvSpPr>
          <p:cNvPr id="48" name="Text 45"/>
          <p:cNvSpPr txBox="1"/>
          <p:nvPr/>
        </p:nvSpPr>
        <p:spPr>
          <a:xfrm>
            <a:off x="2788920" y="5559552"/>
            <a:ext cx="1188720" cy="594360"/>
          </a:xfrm>
          <a:prstGeom prst="rect">
            <a:avLst/>
          </a:prstGeom>
          <a:noFill/>
          <a:ln/>
        </p:spPr>
        <p:txBody>
          <a:bodyPr wrap="square" lIns="0" tIns="0" rIns="0" bIns="0" rtlCol="0" anchor="ctr"/>
          <a:lstStyle/>
          <a:p>
            <a:pPr marL="0" indent="0" algn="r">
              <a:buNone/>
            </a:pPr>
            <a:r>
              <a:rPr lang="en-US" sz="1300" b="1" dirty="0">
                <a:solidFill>
                  <a:srgbClr val="4338CA"/>
                </a:solidFill>
                <a:latin typeface="Consolas" pitchFamily="34" charset="0"/>
                <a:ea typeface="Consolas" pitchFamily="34" charset="-122"/>
                <a:cs typeface="Consolas" pitchFamily="34" charset="-120"/>
              </a:rPr>
              <a:t>0.7 credit</a:t>
            </a:r>
            <a:endParaRPr lang="en-US" sz="1300" dirty="0"/>
          </a:p>
        </p:txBody>
      </p:sp>
      <p:sp>
        <p:nvSpPr>
          <p:cNvPr id="49" name="Shape 46"/>
          <p:cNvSpPr/>
          <p:nvPr/>
        </p:nvSpPr>
        <p:spPr>
          <a:xfrm>
            <a:off x="4297680" y="5559552"/>
            <a:ext cx="3593592" cy="594360"/>
          </a:xfrm>
          <a:prstGeom prst="roundRect">
            <a:avLst>
              <a:gd name="adj" fmla="val 12308"/>
            </a:avLst>
          </a:prstGeom>
          <a:solidFill>
            <a:srgbClr val="F4F5F9"/>
          </a:solidFill>
          <a:ln w="12700">
            <a:solidFill>
              <a:srgbClr val="F4F5F9"/>
            </a:solidFill>
            <a:prstDash val="solid"/>
          </a:ln>
        </p:spPr>
        <p:txBody>
          <a:bodyPr/>
          <a:lstStyle/>
          <a:p>
            <a:endParaRPr lang="en-IN"/>
          </a:p>
        </p:txBody>
      </p:sp>
      <p:sp>
        <p:nvSpPr>
          <p:cNvPr id="50" name="Text 47"/>
          <p:cNvSpPr txBox="1"/>
          <p:nvPr/>
        </p:nvSpPr>
        <p:spPr>
          <a:xfrm>
            <a:off x="4480560" y="5559552"/>
            <a:ext cx="2103120" cy="594360"/>
          </a:xfrm>
          <a:prstGeom prst="rect">
            <a:avLst/>
          </a:prstGeom>
          <a:noFill/>
          <a:ln/>
        </p:spPr>
        <p:txBody>
          <a:bodyPr wrap="square" lIns="0" tIns="0" rIns="0" bIns="0" rtlCol="0" anchor="ctr"/>
          <a:lstStyle/>
          <a:p>
            <a:pPr marL="0" indent="0">
              <a:buNone/>
            </a:pPr>
            <a:r>
              <a:rPr lang="en-US" sz="1300" dirty="0">
                <a:solidFill>
                  <a:srgbClr val="111827"/>
                </a:solidFill>
                <a:latin typeface="Calibri" pitchFamily="34" charset="0"/>
                <a:ea typeface="Calibri" pitchFamily="34" charset="-122"/>
                <a:cs typeface="Calibri" pitchFamily="34" charset="-120"/>
              </a:rPr>
              <a:t>Term two edits away</a:t>
            </a:r>
            <a:endParaRPr lang="en-US" sz="1300" dirty="0"/>
          </a:p>
        </p:txBody>
      </p:sp>
      <p:sp>
        <p:nvSpPr>
          <p:cNvPr id="51" name="Text 48"/>
          <p:cNvSpPr txBox="1"/>
          <p:nvPr/>
        </p:nvSpPr>
        <p:spPr>
          <a:xfrm>
            <a:off x="6537960" y="5559552"/>
            <a:ext cx="1188720" cy="594360"/>
          </a:xfrm>
          <a:prstGeom prst="rect">
            <a:avLst/>
          </a:prstGeom>
          <a:noFill/>
          <a:ln/>
        </p:spPr>
        <p:txBody>
          <a:bodyPr wrap="square" lIns="0" tIns="0" rIns="0" bIns="0" rtlCol="0" anchor="ctr"/>
          <a:lstStyle/>
          <a:p>
            <a:pPr marL="0" indent="0" algn="r">
              <a:buNone/>
            </a:pPr>
            <a:r>
              <a:rPr lang="en-US" sz="1300" b="1" dirty="0">
                <a:solidFill>
                  <a:srgbClr val="4338CA"/>
                </a:solidFill>
                <a:latin typeface="Consolas" pitchFamily="34" charset="0"/>
                <a:ea typeface="Consolas" pitchFamily="34" charset="-122"/>
                <a:cs typeface="Consolas" pitchFamily="34" charset="-120"/>
              </a:rPr>
              <a:t>0.5 credit</a:t>
            </a:r>
            <a:endParaRPr lang="en-US" sz="1300" dirty="0"/>
          </a:p>
        </p:txBody>
      </p:sp>
      <p:sp>
        <p:nvSpPr>
          <p:cNvPr id="52" name="Shape 49"/>
          <p:cNvSpPr/>
          <p:nvPr/>
        </p:nvSpPr>
        <p:spPr>
          <a:xfrm>
            <a:off x="8046720" y="5559552"/>
            <a:ext cx="3593592" cy="594360"/>
          </a:xfrm>
          <a:prstGeom prst="roundRect">
            <a:avLst>
              <a:gd name="adj" fmla="val 12308"/>
            </a:avLst>
          </a:prstGeom>
          <a:solidFill>
            <a:srgbClr val="F4F5F9"/>
          </a:solidFill>
          <a:ln w="12700">
            <a:solidFill>
              <a:srgbClr val="F4F5F9"/>
            </a:solidFill>
            <a:prstDash val="solid"/>
          </a:ln>
        </p:spPr>
        <p:txBody>
          <a:bodyPr/>
          <a:lstStyle/>
          <a:p>
            <a:endParaRPr lang="en-IN"/>
          </a:p>
        </p:txBody>
      </p:sp>
      <p:sp>
        <p:nvSpPr>
          <p:cNvPr id="53" name="Text 50"/>
          <p:cNvSpPr txBox="1"/>
          <p:nvPr/>
        </p:nvSpPr>
        <p:spPr>
          <a:xfrm>
            <a:off x="8229600" y="5559552"/>
            <a:ext cx="2103120" cy="594360"/>
          </a:xfrm>
          <a:prstGeom prst="rect">
            <a:avLst/>
          </a:prstGeom>
          <a:noFill/>
          <a:ln/>
        </p:spPr>
        <p:txBody>
          <a:bodyPr wrap="square" lIns="0" tIns="0" rIns="0" bIns="0" rtlCol="0" anchor="ctr"/>
          <a:lstStyle/>
          <a:p>
            <a:pPr marL="0" indent="0">
              <a:buNone/>
            </a:pPr>
            <a:r>
              <a:rPr lang="en-US" sz="1300" dirty="0">
                <a:solidFill>
                  <a:srgbClr val="111827"/>
                </a:solidFill>
                <a:latin typeface="Calibri" pitchFamily="34" charset="0"/>
                <a:ea typeface="Calibri" pitchFamily="34" charset="-122"/>
                <a:cs typeface="Calibri" pitchFamily="34" charset="-120"/>
              </a:rPr>
              <a:t>Terms of ≤ 3 characters</a:t>
            </a:r>
            <a:endParaRPr lang="en-US" sz="1300" dirty="0"/>
          </a:p>
        </p:txBody>
      </p:sp>
      <p:sp>
        <p:nvSpPr>
          <p:cNvPr id="54" name="Text 51"/>
          <p:cNvSpPr txBox="1"/>
          <p:nvPr/>
        </p:nvSpPr>
        <p:spPr>
          <a:xfrm>
            <a:off x="10287000" y="5559552"/>
            <a:ext cx="1188720" cy="594360"/>
          </a:xfrm>
          <a:prstGeom prst="rect">
            <a:avLst/>
          </a:prstGeom>
          <a:noFill/>
          <a:ln/>
        </p:spPr>
        <p:txBody>
          <a:bodyPr wrap="square" lIns="0" tIns="0" rIns="0" bIns="0" rtlCol="0" anchor="ctr"/>
          <a:lstStyle/>
          <a:p>
            <a:pPr marL="0" indent="0" algn="r">
              <a:buNone/>
            </a:pPr>
            <a:r>
              <a:rPr lang="en-US" sz="1300" b="1" dirty="0">
                <a:solidFill>
                  <a:srgbClr val="4338CA"/>
                </a:solidFill>
                <a:latin typeface="Consolas" pitchFamily="34" charset="0"/>
                <a:ea typeface="Consolas" pitchFamily="34" charset="-122"/>
                <a:cs typeface="Consolas" pitchFamily="34" charset="-120"/>
              </a:rPr>
              <a:t>never fuzzed</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RESULTS AND SCREENSHOTS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Workbench: pattern search</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530352" y="1307592"/>
            <a:ext cx="7717536" cy="4837176"/>
          </a:xfrm>
          <a:prstGeom prst="rect">
            <a:avLst/>
          </a:prstGeom>
          <a:solidFill>
            <a:srgbClr val="DDE1EA"/>
          </a:solidFill>
          <a:ln w="12700">
            <a:solidFill>
              <a:srgbClr val="DDE1EA"/>
            </a:solidFill>
            <a:prstDash val="solid"/>
          </a:ln>
        </p:spPr>
        <p:txBody>
          <a:bodyPr/>
          <a:lstStyle/>
          <a:p>
            <a:endParaRPr lang="en-IN"/>
          </a:p>
        </p:txBody>
      </p:sp>
      <p:pic>
        <p:nvPicPr>
          <p:cNvPr id="8" name="Image 0" descr="TextHack workbench pattern search: Aho-Corasick finds 11 matches of he, she and hers and the longest repeated substring"/>
          <p:cNvPicPr>
            <a:picLocks noChangeAspect="1"/>
          </p:cNvPicPr>
          <p:nvPr/>
        </p:nvPicPr>
        <p:blipFill>
          <a:blip r:embed="rId3"/>
          <a:stretch>
            <a:fillRect/>
          </a:stretch>
        </p:blipFill>
        <p:spPr>
          <a:xfrm>
            <a:off x="548640" y="1325880"/>
            <a:ext cx="7680960" cy="4800600"/>
          </a:xfrm>
          <a:prstGeom prst="rect">
            <a:avLst/>
          </a:prstGeom>
        </p:spPr>
      </p:pic>
      <p:sp>
        <p:nvSpPr>
          <p:cNvPr id="9" name="Text 5"/>
          <p:cNvSpPr txBox="1"/>
          <p:nvPr/>
        </p:nvSpPr>
        <p:spPr>
          <a:xfrm>
            <a:off x="8549640" y="1371600"/>
            <a:ext cx="3090672" cy="320040"/>
          </a:xfrm>
          <a:prstGeom prst="rect">
            <a:avLst/>
          </a:prstGeom>
          <a:noFill/>
          <a:ln/>
        </p:spPr>
        <p:txBody>
          <a:bodyPr wrap="square" lIns="0" tIns="0" rIns="0" bIns="0" rtlCol="0" anchor="t"/>
          <a:lstStyle/>
          <a:p>
            <a:pPr marL="0" indent="0">
              <a:buNone/>
            </a:pPr>
            <a:r>
              <a:rPr lang="en-US" sz="1600" b="1" dirty="0">
                <a:solidFill>
                  <a:srgbClr val="4338CA"/>
                </a:solidFill>
                <a:latin typeface="Calibri" pitchFamily="34" charset="0"/>
                <a:ea typeface="Calibri" pitchFamily="34" charset="-122"/>
                <a:cs typeface="Calibri" pitchFamily="34" charset="-120"/>
              </a:rPr>
              <a:t>11 matches, one pass</a:t>
            </a:r>
            <a:endParaRPr lang="en-US" sz="1600" dirty="0"/>
          </a:p>
        </p:txBody>
      </p:sp>
      <p:sp>
        <p:nvSpPr>
          <p:cNvPr id="10" name="Text 6"/>
          <p:cNvSpPr txBox="1"/>
          <p:nvPr/>
        </p:nvSpPr>
        <p:spPr>
          <a:xfrm>
            <a:off x="8549640" y="1719072"/>
            <a:ext cx="3090672" cy="77724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Aho-Corasick finds he, she and hers together</a:t>
            </a:r>
            <a:endParaRPr lang="en-US" sz="1400" dirty="0"/>
          </a:p>
        </p:txBody>
      </p:sp>
      <p:sp>
        <p:nvSpPr>
          <p:cNvPr id="11" name="Text 7"/>
          <p:cNvSpPr txBox="1"/>
          <p:nvPr/>
        </p:nvSpPr>
        <p:spPr>
          <a:xfrm>
            <a:off x="8549640" y="2606040"/>
            <a:ext cx="3090672" cy="320040"/>
          </a:xfrm>
          <a:prstGeom prst="rect">
            <a:avLst/>
          </a:prstGeom>
          <a:noFill/>
          <a:ln/>
        </p:spPr>
        <p:txBody>
          <a:bodyPr wrap="square" lIns="0" tIns="0" rIns="0" bIns="0" rtlCol="0" anchor="t"/>
          <a:lstStyle/>
          <a:p>
            <a:pPr marL="0" indent="0">
              <a:buNone/>
            </a:pPr>
            <a:r>
              <a:rPr lang="en-US" sz="1600" b="1" dirty="0">
                <a:solidFill>
                  <a:srgbClr val="4338CA"/>
                </a:solidFill>
                <a:latin typeface="Calibri" pitchFamily="34" charset="0"/>
                <a:ea typeface="Calibri" pitchFamily="34" charset="-122"/>
                <a:cs typeface="Calibri" pitchFamily="34" charset="-120"/>
              </a:rPr>
              <a:t>Nested patterns</a:t>
            </a:r>
            <a:endParaRPr lang="en-US" sz="1600" dirty="0"/>
          </a:p>
        </p:txBody>
      </p:sp>
      <p:sp>
        <p:nvSpPr>
          <p:cNvPr id="12" name="Text 8"/>
          <p:cNvSpPr txBox="1"/>
          <p:nvPr/>
        </p:nvSpPr>
        <p:spPr>
          <a:xfrm>
            <a:off x="8549640" y="2953512"/>
            <a:ext cx="3090672" cy="77724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"he" inside "she", "hers" inside "ushers", found via output links</a:t>
            </a:r>
            <a:endParaRPr lang="en-US" sz="1400" dirty="0"/>
          </a:p>
        </p:txBody>
      </p:sp>
      <p:sp>
        <p:nvSpPr>
          <p:cNvPr id="13" name="Text 9"/>
          <p:cNvSpPr txBox="1"/>
          <p:nvPr/>
        </p:nvSpPr>
        <p:spPr>
          <a:xfrm>
            <a:off x="8549640" y="3840480"/>
            <a:ext cx="3090672" cy="320040"/>
          </a:xfrm>
          <a:prstGeom prst="rect">
            <a:avLst/>
          </a:prstGeom>
          <a:noFill/>
          <a:ln/>
        </p:spPr>
        <p:txBody>
          <a:bodyPr wrap="square" lIns="0" tIns="0" rIns="0" bIns="0" rtlCol="0" anchor="t"/>
          <a:lstStyle/>
          <a:p>
            <a:pPr marL="0" indent="0">
              <a:buNone/>
            </a:pPr>
            <a:r>
              <a:rPr lang="en-US" sz="1600" b="1" dirty="0">
                <a:solidFill>
                  <a:srgbClr val="4338CA"/>
                </a:solidFill>
                <a:latin typeface="Calibri" pitchFamily="34" charset="0"/>
                <a:ea typeface="Calibri" pitchFamily="34" charset="-122"/>
                <a:cs typeface="Calibri" pitchFamily="34" charset="-120"/>
              </a:rPr>
              <a:t>Longest repeated substring</a:t>
            </a:r>
            <a:endParaRPr lang="en-US" sz="1600" dirty="0"/>
          </a:p>
        </p:txBody>
      </p:sp>
      <p:sp>
        <p:nvSpPr>
          <p:cNvPr id="14" name="Text 10"/>
          <p:cNvSpPr txBox="1"/>
          <p:nvPr/>
        </p:nvSpPr>
        <p:spPr>
          <a:xfrm>
            <a:off x="8549640" y="4187952"/>
            <a:ext cx="3090672" cy="77724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 sea sh", from the suffix array and LCP array</a:t>
            </a:r>
            <a:endParaRPr lang="en-US" sz="1400" dirty="0"/>
          </a:p>
        </p:txBody>
      </p:sp>
      <p:sp>
        <p:nvSpPr>
          <p:cNvPr id="15" name="Text 11"/>
          <p:cNvSpPr txBox="1"/>
          <p:nvPr/>
        </p:nvSpPr>
        <p:spPr>
          <a:xfrm>
            <a:off x="8549640" y="5074920"/>
            <a:ext cx="3090672" cy="320040"/>
          </a:xfrm>
          <a:prstGeom prst="rect">
            <a:avLst/>
          </a:prstGeom>
          <a:noFill/>
          <a:ln/>
        </p:spPr>
        <p:txBody>
          <a:bodyPr wrap="square" lIns="0" tIns="0" rIns="0" bIns="0" rtlCol="0" anchor="t"/>
          <a:lstStyle/>
          <a:p>
            <a:pPr marL="0" indent="0">
              <a:buNone/>
            </a:pPr>
            <a:r>
              <a:rPr lang="en-US" sz="1600" b="1" dirty="0">
                <a:solidFill>
                  <a:srgbClr val="4338CA"/>
                </a:solidFill>
                <a:latin typeface="Calibri" pitchFamily="34" charset="0"/>
                <a:ea typeface="Calibri" pitchFamily="34" charset="-122"/>
                <a:cs typeface="Calibri" pitchFamily="34" charset="-120"/>
              </a:rPr>
              <a:t>One pattern → KMP</a:t>
            </a:r>
            <a:endParaRPr lang="en-US" sz="1600" dirty="0"/>
          </a:p>
        </p:txBody>
      </p:sp>
      <p:sp>
        <p:nvSpPr>
          <p:cNvPr id="16" name="Text 12"/>
          <p:cNvSpPr txBox="1"/>
          <p:nvPr/>
        </p:nvSpPr>
        <p:spPr>
          <a:xfrm>
            <a:off x="8549640" y="5422392"/>
            <a:ext cx="3090672" cy="77724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The API switches algorithm by pattern count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RESULTS AND SCREENSHOTS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Workbench: similarity and citation flow</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530352" y="1307592"/>
            <a:ext cx="5477256" cy="3209327"/>
          </a:xfrm>
          <a:prstGeom prst="rect">
            <a:avLst/>
          </a:prstGeom>
          <a:solidFill>
            <a:srgbClr val="DDE1EA"/>
          </a:solidFill>
          <a:ln w="12700">
            <a:solidFill>
              <a:srgbClr val="DDE1EA"/>
            </a:solidFill>
            <a:prstDash val="solid"/>
          </a:ln>
        </p:spPr>
        <p:txBody>
          <a:bodyPr/>
          <a:lstStyle/>
          <a:p>
            <a:endParaRPr lang="en-IN"/>
          </a:p>
        </p:txBody>
      </p:sp>
      <p:pic>
        <p:nvPicPr>
          <p:cNvPr id="8" name="Image 0" descr="Similarity panel: Levenshtein 3, Damerau 2, similarity 84%, global and local alignments"/>
          <p:cNvPicPr>
            <a:picLocks noChangeAspect="1"/>
          </p:cNvPicPr>
          <p:nvPr/>
        </p:nvPicPr>
        <p:blipFill>
          <a:blip r:embed="rId3"/>
          <a:stretch>
            <a:fillRect/>
          </a:stretch>
        </p:blipFill>
        <p:spPr>
          <a:xfrm>
            <a:off x="548640" y="1325880"/>
            <a:ext cx="5440680" cy="3172751"/>
          </a:xfrm>
          <a:prstGeom prst="rect">
            <a:avLst/>
          </a:prstGeom>
        </p:spPr>
      </p:pic>
      <p:sp>
        <p:nvSpPr>
          <p:cNvPr id="9" name="Shape 5"/>
          <p:cNvSpPr/>
          <p:nvPr/>
        </p:nvSpPr>
        <p:spPr>
          <a:xfrm>
            <a:off x="6181344" y="1307592"/>
            <a:ext cx="5477256" cy="2868550"/>
          </a:xfrm>
          <a:prstGeom prst="rect">
            <a:avLst/>
          </a:prstGeom>
          <a:solidFill>
            <a:srgbClr val="DDE1EA"/>
          </a:solidFill>
          <a:ln w="12700">
            <a:solidFill>
              <a:srgbClr val="DDE1EA"/>
            </a:solidFill>
            <a:prstDash val="solid"/>
          </a:ln>
        </p:spPr>
        <p:txBody>
          <a:bodyPr/>
          <a:lstStyle/>
          <a:p>
            <a:endParaRPr lang="en-IN"/>
          </a:p>
        </p:txBody>
      </p:sp>
      <p:pic>
        <p:nvPicPr>
          <p:cNvPr id="10" name="Image 1" descr="Citation flow panel: influence 2, bottleneck citations 0→1 and 0→2"/>
          <p:cNvPicPr>
            <a:picLocks noChangeAspect="1"/>
          </p:cNvPicPr>
          <p:nvPr/>
        </p:nvPicPr>
        <p:blipFill>
          <a:blip r:embed="rId4"/>
          <a:stretch>
            <a:fillRect/>
          </a:stretch>
        </p:blipFill>
        <p:spPr>
          <a:xfrm>
            <a:off x="6199632" y="1325880"/>
            <a:ext cx="5440680" cy="2831974"/>
          </a:xfrm>
          <a:prstGeom prst="rect">
            <a:avLst/>
          </a:prstGeom>
        </p:spPr>
      </p:pic>
      <p:sp>
        <p:nvSpPr>
          <p:cNvPr id="11" name="Text 6"/>
          <p:cNvSpPr txBox="1"/>
          <p:nvPr/>
        </p:nvSpPr>
        <p:spPr>
          <a:xfrm>
            <a:off x="548640" y="4772951"/>
            <a:ext cx="5440680" cy="1490689"/>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Levenshtein 3 edits vs Damerau 2: the swapped "ie" is one edit</a:t>
            </a:r>
            <a:endParaRPr lang="en-US" sz="1400" dirty="0"/>
          </a:p>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Global (Needleman-Wunsch) and local (Smith-Waterman) alignment shown with scores</a:t>
            </a:r>
            <a:endParaRPr lang="en-US" sz="1400" dirty="0"/>
          </a:p>
        </p:txBody>
      </p:sp>
      <p:sp>
        <p:nvSpPr>
          <p:cNvPr id="12" name="Text 7"/>
          <p:cNvSpPr txBox="1"/>
          <p:nvPr/>
        </p:nvSpPr>
        <p:spPr>
          <a:xfrm>
            <a:off x="6199632" y="4772951"/>
            <a:ext cx="5440680" cy="1490689"/>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Influence 2: two separate citation chains (Dinic max flow)</a:t>
            </a:r>
            <a:endParaRPr lang="en-US" sz="1400" dirty="0"/>
          </a:p>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Bottleneck citations 0→1 and 0→2 (Edmonds-Karp min cut)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RESULTS AND SCREENSHOTS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Complexity registry and Miller-Rabin</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17</a:t>
            </a:r>
            <a:endParaRPr lang="en-US" sz="1000" dirty="0"/>
          </a:p>
        </p:txBody>
      </p:sp>
      <p:sp>
        <p:nvSpPr>
          <p:cNvPr id="7" name="Shape 4"/>
          <p:cNvSpPr/>
          <p:nvPr/>
        </p:nvSpPr>
        <p:spPr>
          <a:xfrm>
            <a:off x="530352" y="1307592"/>
            <a:ext cx="5377667" cy="5020056"/>
          </a:xfrm>
          <a:prstGeom prst="rect">
            <a:avLst/>
          </a:prstGeom>
          <a:solidFill>
            <a:srgbClr val="DDE1EA"/>
          </a:solidFill>
          <a:ln w="12700">
            <a:solidFill>
              <a:srgbClr val="DDE1EA"/>
            </a:solidFill>
            <a:prstDash val="solid"/>
          </a:ln>
        </p:spPr>
        <p:txBody>
          <a:bodyPr/>
          <a:lstStyle/>
          <a:p>
            <a:endParaRPr lang="en-IN"/>
          </a:p>
        </p:txBody>
      </p:sp>
      <p:pic>
        <p:nvPicPr>
          <p:cNvPr id="8" name="Image 0" descr="Complexity tab listing all 22 registered algorithms with time and space"/>
          <p:cNvPicPr>
            <a:picLocks noChangeAspect="1"/>
          </p:cNvPicPr>
          <p:nvPr/>
        </p:nvPicPr>
        <p:blipFill>
          <a:blip r:embed="rId3"/>
          <a:stretch>
            <a:fillRect/>
          </a:stretch>
        </p:blipFill>
        <p:spPr>
          <a:xfrm>
            <a:off x="548640" y="1325880"/>
            <a:ext cx="5341091" cy="4983480"/>
          </a:xfrm>
          <a:prstGeom prst="rect">
            <a:avLst/>
          </a:prstGeom>
        </p:spPr>
      </p:pic>
      <p:pic>
        <p:nvPicPr>
          <p:cNvPr id="9" name="Image 1" descr="Demo output: Fermat test calls five Carmichael numbers prime; Miller-Rabin says composite"/>
          <p:cNvPicPr>
            <a:picLocks noChangeAspect="1"/>
          </p:cNvPicPr>
          <p:nvPr/>
        </p:nvPicPr>
        <p:blipFill>
          <a:blip r:embed="rId4"/>
          <a:stretch>
            <a:fillRect/>
          </a:stretch>
        </p:blipFill>
        <p:spPr>
          <a:xfrm>
            <a:off x="6164051" y="1325880"/>
            <a:ext cx="5262619" cy="3840480"/>
          </a:xfrm>
          <a:prstGeom prst="rect">
            <a:avLst/>
          </a:prstGeom>
        </p:spPr>
      </p:pic>
      <p:sp>
        <p:nvSpPr>
          <p:cNvPr id="10" name="Text 5"/>
          <p:cNvSpPr txBox="1"/>
          <p:nvPr/>
        </p:nvSpPr>
        <p:spPr>
          <a:xfrm>
            <a:off x="6209771" y="5394960"/>
            <a:ext cx="5430541" cy="822960"/>
          </a:xfrm>
          <a:prstGeom prst="rect">
            <a:avLst/>
          </a:prstGeom>
          <a:noFill/>
          <a:ln/>
        </p:spPr>
        <p:txBody>
          <a:bodyPr wrap="square" lIns="0" tIns="0" rIns="0" bIns="0" rtlCol="0" anchor="t"/>
          <a:lstStyle/>
          <a:p>
            <a:pPr marL="0" indent="0">
              <a:buNone/>
            </a:pPr>
            <a:r>
              <a:rPr lang="en-US" sz="1400" i="1" dirty="0">
                <a:solidFill>
                  <a:srgbClr val="4B5563"/>
                </a:solidFill>
                <a:latin typeface="Calibri" pitchFamily="34" charset="0"/>
                <a:ea typeface="Calibri" pitchFamily="34" charset="-122"/>
                <a:cs typeface="Calibri" pitchFamily="34" charset="-120"/>
              </a:rPr>
              <a:t>Carmichael numbers 561, 1105, 1729… pass a Fermat test; Miller-Rabin rejects every one.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RESULTS AND SCREENSHOTS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Engine demos: fuzzy matching and scheduling</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18</a:t>
            </a:r>
            <a:endParaRPr lang="en-US" sz="1000" dirty="0"/>
          </a:p>
        </p:txBody>
      </p:sp>
      <p:pic>
        <p:nvPicPr>
          <p:cNvPr id="7" name="Image 0" descr="Demo output: exact search, fuzzy query recieve within 2 edits, longest repeated substring"/>
          <p:cNvPicPr>
            <a:picLocks noChangeAspect="1"/>
          </p:cNvPicPr>
          <p:nvPr/>
        </p:nvPicPr>
        <p:blipFill>
          <a:blip r:embed="rId3"/>
          <a:stretch>
            <a:fillRect/>
          </a:stretch>
        </p:blipFill>
        <p:spPr>
          <a:xfrm>
            <a:off x="548640" y="1325880"/>
            <a:ext cx="5760720" cy="4587306"/>
          </a:xfrm>
          <a:prstGeom prst="rect">
            <a:avLst/>
          </a:prstGeom>
        </p:spPr>
      </p:pic>
      <p:pic>
        <p:nvPicPr>
          <p:cNvPr id="8" name="Image 1" descr="Demo output: list scheduling makespan 7 versus LPT makespan 4 on 4 machines"/>
          <p:cNvPicPr>
            <a:picLocks noChangeAspect="1"/>
          </p:cNvPicPr>
          <p:nvPr/>
        </p:nvPicPr>
        <p:blipFill>
          <a:blip r:embed="rId4"/>
          <a:stretch>
            <a:fillRect/>
          </a:stretch>
        </p:blipFill>
        <p:spPr>
          <a:xfrm>
            <a:off x="6492240" y="1325880"/>
            <a:ext cx="5148072" cy="34332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PERFORMANCE OBSERVATIONS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The measured growth matches the theory</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19</a:t>
            </a:r>
            <a:endParaRPr lang="en-US" sz="1000" dirty="0"/>
          </a:p>
        </p:txBody>
      </p:sp>
      <p:graphicFrame>
        <p:nvGraphicFramePr>
          <p:cNvPr id="7" name="Chart 0"/>
          <p:cNvGraphicFramePr/>
          <p:nvPr/>
        </p:nvGraphicFramePr>
        <p:xfrm>
          <a:off x="548640" y="1371600"/>
          <a:ext cx="5486400" cy="3840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
          <p:cNvGraphicFramePr/>
          <p:nvPr/>
        </p:nvGraphicFramePr>
        <p:xfrm>
          <a:off x="6199632" y="1371600"/>
          <a:ext cx="5440680" cy="384048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4"/>
          <p:cNvSpPr/>
          <p:nvPr/>
        </p:nvSpPr>
        <p:spPr>
          <a:xfrm>
            <a:off x="548640" y="5440680"/>
            <a:ext cx="2651760" cy="822960"/>
          </a:xfrm>
          <a:prstGeom prst="roundRect">
            <a:avLst>
              <a:gd name="adj" fmla="val 8889"/>
            </a:avLst>
          </a:prstGeom>
          <a:solidFill>
            <a:srgbClr val="F4F5F9"/>
          </a:solidFill>
          <a:ln w="12700">
            <a:solidFill>
              <a:srgbClr val="F4F5F9"/>
            </a:solidFill>
            <a:prstDash val="solid"/>
          </a:ln>
        </p:spPr>
        <p:txBody>
          <a:bodyPr/>
          <a:lstStyle/>
          <a:p>
            <a:endParaRPr lang="en-IN"/>
          </a:p>
        </p:txBody>
      </p:sp>
      <p:sp>
        <p:nvSpPr>
          <p:cNvPr id="10" name="Text 5"/>
          <p:cNvSpPr txBox="1"/>
          <p:nvPr/>
        </p:nvSpPr>
        <p:spPr>
          <a:xfrm>
            <a:off x="731520" y="5440680"/>
            <a:ext cx="914400" cy="822960"/>
          </a:xfrm>
          <a:prstGeom prst="rect">
            <a:avLst/>
          </a:prstGeom>
          <a:noFill/>
          <a:ln/>
        </p:spPr>
        <p:txBody>
          <a:bodyPr wrap="square" lIns="0" tIns="0" rIns="0" bIns="0" rtlCol="0" anchor="ctr"/>
          <a:lstStyle/>
          <a:p>
            <a:pPr marL="0" indent="0">
              <a:buNone/>
            </a:pPr>
            <a:r>
              <a:rPr lang="en-US" sz="2200" b="1" dirty="0">
                <a:solidFill>
                  <a:srgbClr val="4338CA"/>
                </a:solidFill>
                <a:latin typeface="Calibri" pitchFamily="34" charset="0"/>
                <a:ea typeface="Calibri" pitchFamily="34" charset="-122"/>
                <a:cs typeface="Calibri" pitchFamily="34" charset="-120"/>
              </a:rPr>
              <a:t>13×</a:t>
            </a:r>
            <a:endParaRPr lang="en-US" sz="2200" dirty="0"/>
          </a:p>
        </p:txBody>
      </p:sp>
      <p:sp>
        <p:nvSpPr>
          <p:cNvPr id="11" name="Text 6"/>
          <p:cNvSpPr txBox="1"/>
          <p:nvPr/>
        </p:nvSpPr>
        <p:spPr>
          <a:xfrm>
            <a:off x="1645920" y="5440680"/>
            <a:ext cx="1463040" cy="822960"/>
          </a:xfrm>
          <a:prstGeom prst="rect">
            <a:avLst/>
          </a:prstGeom>
          <a:noFill/>
          <a:ln/>
        </p:spPr>
        <p:txBody>
          <a:bodyPr wrap="square" lIns="0" tIns="0" rIns="0" bIns="0" rtlCol="0" anchor="ctr"/>
          <a:lstStyle/>
          <a:p>
            <a:pPr marL="0" indent="0">
              <a:buNone/>
            </a:pPr>
            <a:r>
              <a:rPr lang="en-US" sz="1100" dirty="0">
                <a:solidFill>
                  <a:srgbClr val="111827"/>
                </a:solidFill>
                <a:latin typeface="Calibri" pitchFamily="34" charset="0"/>
                <a:ea typeface="Calibri" pitchFamily="34" charset="-122"/>
                <a:cs typeface="Calibri" pitchFamily="34" charset="-120"/>
              </a:rPr>
              <a:t>KMP over naive at 160,000 characters (1.05 vs 13.68 ms)</a:t>
            </a:r>
            <a:endParaRPr lang="en-US" sz="1100" dirty="0"/>
          </a:p>
        </p:txBody>
      </p:sp>
      <p:sp>
        <p:nvSpPr>
          <p:cNvPr id="12" name="Shape 7"/>
          <p:cNvSpPr/>
          <p:nvPr/>
        </p:nvSpPr>
        <p:spPr>
          <a:xfrm>
            <a:off x="3346704" y="5440680"/>
            <a:ext cx="2651760" cy="822960"/>
          </a:xfrm>
          <a:prstGeom prst="roundRect">
            <a:avLst>
              <a:gd name="adj" fmla="val 8889"/>
            </a:avLst>
          </a:prstGeom>
          <a:solidFill>
            <a:srgbClr val="F4F5F9"/>
          </a:solidFill>
          <a:ln w="12700">
            <a:solidFill>
              <a:srgbClr val="F4F5F9"/>
            </a:solidFill>
            <a:prstDash val="solid"/>
          </a:ln>
        </p:spPr>
        <p:txBody>
          <a:bodyPr/>
          <a:lstStyle/>
          <a:p>
            <a:endParaRPr lang="en-IN"/>
          </a:p>
        </p:txBody>
      </p:sp>
      <p:sp>
        <p:nvSpPr>
          <p:cNvPr id="13" name="Text 8"/>
          <p:cNvSpPr txBox="1"/>
          <p:nvPr/>
        </p:nvSpPr>
        <p:spPr>
          <a:xfrm>
            <a:off x="3529584" y="5440680"/>
            <a:ext cx="914400" cy="822960"/>
          </a:xfrm>
          <a:prstGeom prst="rect">
            <a:avLst/>
          </a:prstGeom>
          <a:noFill/>
          <a:ln/>
        </p:spPr>
        <p:txBody>
          <a:bodyPr wrap="square" lIns="0" tIns="0" rIns="0" bIns="0" rtlCol="0" anchor="ctr"/>
          <a:lstStyle/>
          <a:p>
            <a:pPr marL="0" indent="0">
              <a:buNone/>
            </a:pPr>
            <a:r>
              <a:rPr lang="en-US" sz="2200" b="1" dirty="0">
                <a:solidFill>
                  <a:srgbClr val="4338CA"/>
                </a:solidFill>
                <a:latin typeface="Calibri" pitchFamily="34" charset="0"/>
                <a:ea typeface="Calibri" pitchFamily="34" charset="-122"/>
                <a:cs typeface="Calibri" pitchFamily="34" charset="-120"/>
              </a:rPr>
              <a:t>15.5×</a:t>
            </a:r>
            <a:endParaRPr lang="en-US" sz="2200" dirty="0"/>
          </a:p>
        </p:txBody>
      </p:sp>
      <p:sp>
        <p:nvSpPr>
          <p:cNvPr id="14" name="Text 9"/>
          <p:cNvSpPr txBox="1"/>
          <p:nvPr/>
        </p:nvSpPr>
        <p:spPr>
          <a:xfrm>
            <a:off x="4443984" y="5440680"/>
            <a:ext cx="1463040" cy="822960"/>
          </a:xfrm>
          <a:prstGeom prst="rect">
            <a:avLst/>
          </a:prstGeom>
          <a:noFill/>
          <a:ln/>
        </p:spPr>
        <p:txBody>
          <a:bodyPr wrap="square" lIns="0" tIns="0" rIns="0" bIns="0" rtlCol="0" anchor="ctr"/>
          <a:lstStyle/>
          <a:p>
            <a:pPr marL="0" indent="0">
              <a:buNone/>
            </a:pPr>
            <a:r>
              <a:rPr lang="en-US" sz="1100" dirty="0">
                <a:solidFill>
                  <a:srgbClr val="111827"/>
                </a:solidFill>
                <a:latin typeface="Calibri" pitchFamily="34" charset="0"/>
                <a:ea typeface="Calibri" pitchFamily="34" charset="-122"/>
                <a:cs typeface="Calibri" pitchFamily="34" charset="-120"/>
              </a:rPr>
              <a:t>Aho-Corasick over KMP × k with 80 patterns</a:t>
            </a:r>
            <a:endParaRPr lang="en-US" sz="1100" dirty="0"/>
          </a:p>
        </p:txBody>
      </p:sp>
      <p:sp>
        <p:nvSpPr>
          <p:cNvPr id="15" name="Shape 10"/>
          <p:cNvSpPr/>
          <p:nvPr/>
        </p:nvSpPr>
        <p:spPr>
          <a:xfrm>
            <a:off x="6144768" y="5440680"/>
            <a:ext cx="2651760" cy="822960"/>
          </a:xfrm>
          <a:prstGeom prst="roundRect">
            <a:avLst>
              <a:gd name="adj" fmla="val 8889"/>
            </a:avLst>
          </a:prstGeom>
          <a:solidFill>
            <a:srgbClr val="F4F5F9"/>
          </a:solidFill>
          <a:ln w="12700">
            <a:solidFill>
              <a:srgbClr val="F4F5F9"/>
            </a:solidFill>
            <a:prstDash val="solid"/>
          </a:ln>
        </p:spPr>
        <p:txBody>
          <a:bodyPr/>
          <a:lstStyle/>
          <a:p>
            <a:endParaRPr lang="en-IN"/>
          </a:p>
        </p:txBody>
      </p:sp>
      <p:sp>
        <p:nvSpPr>
          <p:cNvPr id="16" name="Text 11"/>
          <p:cNvSpPr txBox="1"/>
          <p:nvPr/>
        </p:nvSpPr>
        <p:spPr>
          <a:xfrm>
            <a:off x="6327648" y="5440680"/>
            <a:ext cx="914400" cy="822960"/>
          </a:xfrm>
          <a:prstGeom prst="rect">
            <a:avLst/>
          </a:prstGeom>
          <a:noFill/>
          <a:ln/>
        </p:spPr>
        <p:txBody>
          <a:bodyPr wrap="square" lIns="0" tIns="0" rIns="0" bIns="0" rtlCol="0" anchor="ctr"/>
          <a:lstStyle/>
          <a:p>
            <a:pPr marL="0" indent="0">
              <a:buNone/>
            </a:pPr>
            <a:r>
              <a:rPr lang="en-US" sz="2200" b="1" dirty="0">
                <a:solidFill>
                  <a:srgbClr val="4338CA"/>
                </a:solidFill>
                <a:latin typeface="Calibri" pitchFamily="34" charset="0"/>
                <a:ea typeface="Calibri" pitchFamily="34" charset="-122"/>
                <a:cs typeface="Calibri" pitchFamily="34" charset="-120"/>
              </a:rPr>
              <a:t>≈ 2×</a:t>
            </a:r>
            <a:endParaRPr lang="en-US" sz="2200" dirty="0"/>
          </a:p>
        </p:txBody>
      </p:sp>
      <p:sp>
        <p:nvSpPr>
          <p:cNvPr id="17" name="Text 12"/>
          <p:cNvSpPr txBox="1"/>
          <p:nvPr/>
        </p:nvSpPr>
        <p:spPr>
          <a:xfrm>
            <a:off x="7242048" y="5440680"/>
            <a:ext cx="1463040" cy="822960"/>
          </a:xfrm>
          <a:prstGeom prst="rect">
            <a:avLst/>
          </a:prstGeom>
          <a:noFill/>
          <a:ln/>
        </p:spPr>
        <p:txBody>
          <a:bodyPr wrap="square" lIns="0" tIns="0" rIns="0" bIns="0" rtlCol="0" anchor="ctr"/>
          <a:lstStyle/>
          <a:p>
            <a:pPr marL="0" indent="0">
              <a:buNone/>
            </a:pPr>
            <a:r>
              <a:rPr lang="en-US" sz="1100" dirty="0">
                <a:solidFill>
                  <a:srgbClr val="111827"/>
                </a:solidFill>
                <a:latin typeface="Calibri" pitchFamily="34" charset="0"/>
                <a:ea typeface="Calibri" pitchFamily="34" charset="-122"/>
                <a:cs typeface="Calibri" pitchFamily="34" charset="-120"/>
              </a:rPr>
              <a:t>Suffix array time per doubling of n: O(n log n)</a:t>
            </a:r>
            <a:endParaRPr lang="en-US" sz="1100" dirty="0"/>
          </a:p>
        </p:txBody>
      </p:sp>
      <p:sp>
        <p:nvSpPr>
          <p:cNvPr id="18" name="Shape 13"/>
          <p:cNvSpPr/>
          <p:nvPr/>
        </p:nvSpPr>
        <p:spPr>
          <a:xfrm>
            <a:off x="8942832" y="5440680"/>
            <a:ext cx="2651760" cy="822960"/>
          </a:xfrm>
          <a:prstGeom prst="roundRect">
            <a:avLst>
              <a:gd name="adj" fmla="val 8889"/>
            </a:avLst>
          </a:prstGeom>
          <a:solidFill>
            <a:srgbClr val="F4F5F9"/>
          </a:solidFill>
          <a:ln w="12700">
            <a:solidFill>
              <a:srgbClr val="F4F5F9"/>
            </a:solidFill>
            <a:prstDash val="solid"/>
          </a:ln>
        </p:spPr>
        <p:txBody>
          <a:bodyPr/>
          <a:lstStyle/>
          <a:p>
            <a:endParaRPr lang="en-IN"/>
          </a:p>
        </p:txBody>
      </p:sp>
      <p:sp>
        <p:nvSpPr>
          <p:cNvPr id="19" name="Text 14"/>
          <p:cNvSpPr txBox="1"/>
          <p:nvPr/>
        </p:nvSpPr>
        <p:spPr>
          <a:xfrm>
            <a:off x="9125712" y="5440680"/>
            <a:ext cx="914400" cy="822960"/>
          </a:xfrm>
          <a:prstGeom prst="rect">
            <a:avLst/>
          </a:prstGeom>
          <a:noFill/>
          <a:ln/>
        </p:spPr>
        <p:txBody>
          <a:bodyPr wrap="square" lIns="0" tIns="0" rIns="0" bIns="0" rtlCol="0" anchor="ctr"/>
          <a:lstStyle/>
          <a:p>
            <a:pPr marL="0" indent="0">
              <a:buNone/>
            </a:pPr>
            <a:r>
              <a:rPr lang="en-US" sz="2200" b="1" dirty="0">
                <a:solidFill>
                  <a:srgbClr val="4338CA"/>
                </a:solidFill>
                <a:latin typeface="Calibri" pitchFamily="34" charset="0"/>
                <a:ea typeface="Calibri" pitchFamily="34" charset="-122"/>
                <a:cs typeface="Calibri" pitchFamily="34" charset="-120"/>
              </a:rPr>
              <a:t>≈ 4–6×</a:t>
            </a:r>
            <a:endParaRPr lang="en-US" sz="2200" dirty="0"/>
          </a:p>
        </p:txBody>
      </p:sp>
      <p:sp>
        <p:nvSpPr>
          <p:cNvPr id="20" name="Text 15"/>
          <p:cNvSpPr txBox="1"/>
          <p:nvPr/>
        </p:nvSpPr>
        <p:spPr>
          <a:xfrm>
            <a:off x="10040112" y="5440680"/>
            <a:ext cx="1463040" cy="822960"/>
          </a:xfrm>
          <a:prstGeom prst="rect">
            <a:avLst/>
          </a:prstGeom>
          <a:noFill/>
          <a:ln/>
        </p:spPr>
        <p:txBody>
          <a:bodyPr wrap="square" lIns="0" tIns="0" rIns="0" bIns="0" rtlCol="0" anchor="ctr"/>
          <a:lstStyle/>
          <a:p>
            <a:pPr marL="0" indent="0">
              <a:buNone/>
            </a:pPr>
            <a:r>
              <a:rPr lang="en-US" sz="1100" dirty="0">
                <a:solidFill>
                  <a:srgbClr val="111827"/>
                </a:solidFill>
                <a:latin typeface="Calibri" pitchFamily="34" charset="0"/>
                <a:ea typeface="Calibri" pitchFamily="34" charset="-122"/>
                <a:cs typeface="Calibri" pitchFamily="34" charset="-120"/>
              </a:rPr>
              <a:t>Levenshtein time per doubling of both strings: O(n·m)</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PERFORMANCE OBSERVATIONS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Benchmark output</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20</a:t>
            </a:r>
            <a:endParaRPr lang="en-US" sz="1000" dirty="0"/>
          </a:p>
        </p:txBody>
      </p:sp>
      <p:pic>
        <p:nvPicPr>
          <p:cNvPr id="7" name="Image 0" descr="Benchmark output: exact single-pattern search and Aho-Corasick versus repeated KMP"/>
          <p:cNvPicPr>
            <a:picLocks noChangeAspect="1"/>
          </p:cNvPicPr>
          <p:nvPr/>
        </p:nvPicPr>
        <p:blipFill>
          <a:blip r:embed="rId3"/>
          <a:stretch>
            <a:fillRect/>
          </a:stretch>
        </p:blipFill>
        <p:spPr>
          <a:xfrm>
            <a:off x="548640" y="1280160"/>
            <a:ext cx="4988644" cy="3931920"/>
          </a:xfrm>
          <a:prstGeom prst="rect">
            <a:avLst/>
          </a:prstGeom>
        </p:spPr>
      </p:pic>
      <p:pic>
        <p:nvPicPr>
          <p:cNvPr id="8" name="Image 1" descr="Benchmark output: suffix array construction and Levenshtein distance with growth ratios"/>
          <p:cNvPicPr>
            <a:picLocks noChangeAspect="1"/>
          </p:cNvPicPr>
          <p:nvPr/>
        </p:nvPicPr>
        <p:blipFill>
          <a:blip r:embed="rId4"/>
          <a:stretch>
            <a:fillRect/>
          </a:stretch>
        </p:blipFill>
        <p:spPr>
          <a:xfrm>
            <a:off x="6355080" y="1280160"/>
            <a:ext cx="5285232" cy="3313522"/>
          </a:xfrm>
          <a:prstGeom prst="rect">
            <a:avLst/>
          </a:prstGeom>
        </p:spPr>
      </p:pic>
      <p:sp>
        <p:nvSpPr>
          <p:cNvPr id="9" name="Text 4"/>
          <p:cNvSpPr txBox="1"/>
          <p:nvPr/>
        </p:nvSpPr>
        <p:spPr>
          <a:xfrm>
            <a:off x="548640" y="5440680"/>
            <a:ext cx="5440680" cy="8686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a⁴⁰b in aⁿ is naive search's worst case: every alignment rescans 40 characters</a:t>
            </a:r>
            <a:endParaRPr lang="en-US" sz="1400" dirty="0"/>
          </a:p>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Aho-Corasick cost is flat in the number of patterns</a:t>
            </a:r>
            <a:endParaRPr lang="en-US" sz="1400" dirty="0"/>
          </a:p>
        </p:txBody>
      </p:sp>
      <p:sp>
        <p:nvSpPr>
          <p:cNvPr id="10" name="Text 5"/>
          <p:cNvSpPr txBox="1"/>
          <p:nvPr/>
        </p:nvSpPr>
        <p:spPr>
          <a:xfrm>
            <a:off x="6355080" y="5440680"/>
            <a:ext cx="5285232" cy="8686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Growth ratios, not absolute times, confirm each bound</a:t>
            </a:r>
            <a:endParaRPr lang="en-US" sz="1400" dirty="0"/>
          </a:p>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Best of 5 after 3 warm-ups on a laptop, so the smallest sizes are noisy</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TESTING</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Test cases and results</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21</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4663440"/>
        </p:xfrm>
        <a:graphic>
          <a:graphicData uri="http://schemas.openxmlformats.org/drawingml/2006/table">
            <a:tbl>
              <a:tblPr/>
              <a:tblGrid>
                <a:gridCol w="2743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Suite</a:t>
                      </a:r>
                      <a:endParaRPr lang="en-US" sz="13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Assertions</a:t>
                      </a:r>
                      <a:endParaRPr lang="en-US" sz="13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covers</a:t>
                      </a:r>
                      <a:endParaRPr lang="en-US" sz="13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extLst>
                  <a:ext uri="{0D108BD9-81ED-4DB2-BD59-A6C34878D82A}">
                    <a16:rowId xmlns:a16="http://schemas.microsoft.com/office/drawing/2014/main" val="10000"/>
                  </a:ext>
                </a:extLst>
              </a:tr>
              <a:tr h="658368">
                <a:tc>
                  <a:txBody>
                    <a:bodyPr/>
                    <a:lstStyle/>
                    <a:p>
                      <a:pPr marL="0" indent="0">
                        <a:buNone/>
                      </a:pPr>
                      <a:r>
                        <a:rPr lang="en-US" sz="1050" b="1" dirty="0">
                          <a:solidFill>
                            <a:srgbClr val="111827"/>
                          </a:solidFill>
                          <a:latin typeface="Consolas" pitchFamily="34" charset="0"/>
                          <a:ea typeface="Consolas" pitchFamily="34" charset="-122"/>
                          <a:cs typeface="Consolas" pitchFamily="34" charset="-120"/>
                        </a:rPr>
                        <a:t>StringAlgorithmTests</a:t>
                      </a:r>
                      <a:endParaRPr lang="en-US" sz="1050" dirty="0">
                        <a:latin typeface="Consolas" charset="0"/>
                        <a:ea typeface="Consolas" charset="0"/>
                        <a:cs typeface="Consolas"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lgn="ctr">
                        <a:buNone/>
                      </a:pPr>
                      <a:r>
                        <a:rPr lang="en-US" sz="1200" b="1" dirty="0">
                          <a:solidFill>
                            <a:srgbClr val="111827"/>
                          </a:solidFill>
                          <a:latin typeface="Calibri" pitchFamily="34" charset="0"/>
                          <a:ea typeface="Calibri" pitchFamily="34" charset="-122"/>
                          <a:cs typeface="Calibri" pitchFamily="34" charset="-120"/>
                        </a:rPr>
                        <a:t>96</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Edge cases, overlaps, pathological repeats, Unicode and NUL, 4,000 random cases vs naive</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1"/>
                  </a:ext>
                </a:extLst>
              </a:tr>
              <a:tr h="658368">
                <a:tc>
                  <a:txBody>
                    <a:bodyPr/>
                    <a:lstStyle/>
                    <a:p>
                      <a:pPr marL="0" indent="0">
                        <a:buNone/>
                      </a:pPr>
                      <a:r>
                        <a:rPr lang="en-US" sz="1050" b="1" dirty="0">
                          <a:solidFill>
                            <a:srgbClr val="111827"/>
                          </a:solidFill>
                          <a:latin typeface="Consolas" pitchFamily="34" charset="0"/>
                          <a:ea typeface="Consolas" pitchFamily="34" charset="-122"/>
                          <a:cs typeface="Consolas" pitchFamily="34" charset="-120"/>
                        </a:rPr>
                        <a:t>SuffixAndMultiPatternTests</a:t>
                      </a:r>
                      <a:endParaRPr lang="en-US" sz="1050" dirty="0">
                        <a:latin typeface="Consolas" charset="0"/>
                        <a:ea typeface="Consolas" charset="0"/>
                        <a:cs typeface="Consolas"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11827"/>
                          </a:solidFill>
                          <a:latin typeface="Calibri" pitchFamily="34" charset="0"/>
                          <a:ea typeface="Calibri" pitchFamily="34" charset="-122"/>
                          <a:cs typeface="Calibri" pitchFamily="34" charset="-120"/>
                        </a:rPr>
                        <a:t>75</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Aho-Corasick nesting and duplicates, suffix and LCP arrays vs brute force</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050" b="1" dirty="0">
                          <a:solidFill>
                            <a:srgbClr val="111827"/>
                          </a:solidFill>
                          <a:latin typeface="Consolas" pitchFamily="34" charset="0"/>
                          <a:ea typeface="Consolas" pitchFamily="34" charset="-122"/>
                          <a:cs typeface="Consolas" pitchFamily="34" charset="-120"/>
                        </a:rPr>
                        <a:t>DpTests</a:t>
                      </a:r>
                      <a:endParaRPr lang="en-US" sz="1050" dirty="0">
                        <a:latin typeface="Consolas" charset="0"/>
                        <a:ea typeface="Consolas" charset="0"/>
                        <a:cs typeface="Consolas"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lgn="ctr">
                        <a:buNone/>
                      </a:pPr>
                      <a:r>
                        <a:rPr lang="en-US" sz="1200" b="1" dirty="0">
                          <a:solidFill>
                            <a:srgbClr val="111827"/>
                          </a:solidFill>
                          <a:latin typeface="Calibri" pitchFamily="34" charset="0"/>
                          <a:ea typeface="Calibri" pitchFamily="34" charset="-122"/>
                          <a:cs typeface="Calibri" pitchFamily="34" charset="-120"/>
                        </a:rPr>
                        <a:t>61</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Metric properties, OSA vs unrestricted Damerau, alignment scores and invariants</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3"/>
                  </a:ext>
                </a:extLst>
              </a:tr>
              <a:tr h="658368">
                <a:tc>
                  <a:txBody>
                    <a:bodyPr/>
                    <a:lstStyle/>
                    <a:p>
                      <a:pPr marL="0" indent="0">
                        <a:buNone/>
                      </a:pPr>
                      <a:r>
                        <a:rPr lang="en-US" sz="1050" b="1" dirty="0">
                          <a:solidFill>
                            <a:srgbClr val="111827"/>
                          </a:solidFill>
                          <a:latin typeface="Consolas" pitchFamily="34" charset="0"/>
                          <a:ea typeface="Consolas" pitchFamily="34" charset="-122"/>
                          <a:cs typeface="Consolas" pitchFamily="34" charset="-120"/>
                        </a:rPr>
                        <a:t>GraphTests</a:t>
                      </a:r>
                      <a:endParaRPr lang="en-US" sz="1050" dirty="0">
                        <a:latin typeface="Consolas" charset="0"/>
                        <a:ea typeface="Consolas" charset="0"/>
                        <a:cs typeface="Consolas"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11827"/>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Three max-flow algorithms agree on 600 random networks; max-flow = min-cut</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buNone/>
                      </a:pPr>
                      <a:r>
                        <a:rPr lang="en-US" sz="1050" b="1" dirty="0">
                          <a:solidFill>
                            <a:srgbClr val="111827"/>
                          </a:solidFill>
                          <a:latin typeface="Consolas" pitchFamily="34" charset="0"/>
                          <a:ea typeface="Consolas" pitchFamily="34" charset="-122"/>
                          <a:cs typeface="Consolas" pitchFamily="34" charset="-120"/>
                        </a:rPr>
                        <a:t>ApproximationAndRandomizedTests</a:t>
                      </a:r>
                      <a:endParaRPr lang="en-US" sz="1050" dirty="0">
                        <a:latin typeface="Consolas" charset="0"/>
                        <a:ea typeface="Consolas" charset="0"/>
                        <a:cs typeface="Consolas"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lgn="ctr">
                        <a:buNone/>
                      </a:pPr>
                      <a:r>
                        <a:rPr lang="en-US" sz="1200" b="1" dirty="0">
                          <a:solidFill>
                            <a:srgbClr val="111827"/>
                          </a:solidFill>
                          <a:latin typeface="Calibri" pitchFamily="34" charset="0"/>
                          <a:ea typeface="Calibri" pitchFamily="34" charset="-122"/>
                          <a:cs typeface="Calibri" pitchFamily="34" charset="-120"/>
                        </a:rPr>
                        <a:t>86</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Ratios vs brute-force optima, Carmichael numbers, sampling uniformity</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5"/>
                  </a:ext>
                </a:extLst>
              </a:tr>
              <a:tr h="548640">
                <a:tc>
                  <a:txBody>
                    <a:bodyPr/>
                    <a:lstStyle/>
                    <a:p>
                      <a:pPr marL="0" indent="0">
                        <a:buNone/>
                      </a:pPr>
                      <a:r>
                        <a:rPr lang="en-US" sz="1050" b="1" dirty="0">
                          <a:solidFill>
                            <a:srgbClr val="111827"/>
                          </a:solidFill>
                          <a:latin typeface="Consolas" pitchFamily="34" charset="0"/>
                          <a:ea typeface="Consolas" pitchFamily="34" charset="-122"/>
                          <a:cs typeface="Consolas" pitchFamily="34" charset="-120"/>
                        </a:rPr>
                        <a:t>EngineTests</a:t>
                      </a:r>
                      <a:endParaRPr lang="en-US" sz="1050" dirty="0">
                        <a:latin typeface="Consolas" charset="0"/>
                        <a:ea typeface="Consolas" charset="0"/>
                        <a:cs typeface="Consolas"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11827"/>
                          </a:solidFill>
                          <a:latin typeface="Calibri" pitchFamily="34" charset="0"/>
                          <a:ea typeface="Calibri" pitchFamily="34" charset="-122"/>
                          <a:cs typeface="Calibri" pitchFamily="34" charset="-120"/>
                        </a:rPr>
                        <a:t>89</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Query parser, facade, citation flow, complexity registry</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8912">
                <a:tc>
                  <a:txBody>
                    <a:bodyPr/>
                    <a:lstStyle/>
                    <a:p>
                      <a:pPr marL="0" indent="0">
                        <a:buNone/>
                      </a:pPr>
                      <a:r>
                        <a:rPr lang="en-US" sz="1200" b="1" dirty="0">
                          <a:solidFill>
                            <a:srgbClr val="111827"/>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lgn="ctr">
                        <a:buNone/>
                      </a:pPr>
                      <a:r>
                        <a:rPr lang="en-US" sz="1200" b="1" dirty="0">
                          <a:solidFill>
                            <a:srgbClr val="15803D"/>
                          </a:solidFill>
                          <a:latin typeface="Calibri" pitchFamily="34" charset="0"/>
                          <a:ea typeface="Calibri" pitchFamily="34" charset="-122"/>
                          <a:cs typeface="Calibri" pitchFamily="34" charset="-120"/>
                        </a:rPr>
                        <a:t>452</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200" b="1" dirty="0">
                          <a:solidFill>
                            <a:srgbClr val="15803D"/>
                          </a:solidFill>
                          <a:latin typeface="Calibri" pitchFamily="34" charset="0"/>
                          <a:ea typeface="Calibri" pitchFamily="34" charset="-122"/>
                          <a:cs typeface="Calibri" pitchFamily="34" charset="-120"/>
                        </a:rPr>
                        <a:t>0 failures · 0 compiler warnings</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7"/>
                  </a:ext>
                </a:extLst>
              </a:tr>
            </a:tbl>
          </a:graphicData>
        </a:graphic>
      </p:graphicFrame>
      <p:pic>
        <p:nvPicPr>
          <p:cNvPr id="8" name="Image 0" descr="run-tests.sh summary: 96, 75, 61, 45, 86 and 89 passed, 0 failed; all suites passed"/>
          <p:cNvPicPr>
            <a:picLocks noChangeAspect="1"/>
          </p:cNvPicPr>
          <p:nvPr/>
        </p:nvPicPr>
        <p:blipFill>
          <a:blip r:embed="rId3"/>
          <a:stretch>
            <a:fillRect/>
          </a:stretch>
        </p:blipFill>
        <p:spPr>
          <a:xfrm>
            <a:off x="7726680" y="1325880"/>
            <a:ext cx="3913632" cy="1829923"/>
          </a:xfrm>
          <a:prstGeom prst="rect">
            <a:avLst/>
          </a:prstGeom>
        </p:spPr>
      </p:pic>
      <p:sp>
        <p:nvSpPr>
          <p:cNvPr id="9" name="Text 4"/>
          <p:cNvSpPr txBox="1"/>
          <p:nvPr/>
        </p:nvSpPr>
        <p:spPr>
          <a:xfrm>
            <a:off x="7772400" y="4526280"/>
            <a:ext cx="3840480" cy="822960"/>
          </a:xfrm>
          <a:prstGeom prst="rect">
            <a:avLst/>
          </a:prstGeom>
          <a:noFill/>
          <a:ln/>
        </p:spPr>
        <p:txBody>
          <a:bodyPr wrap="square" lIns="0" tIns="0" rIns="0" bIns="0" rtlCol="0" anchor="t"/>
          <a:lstStyle/>
          <a:p>
            <a:pPr marL="0" indent="0">
              <a:buNone/>
            </a:pPr>
            <a:r>
              <a:rPr lang="en-US" sz="1300" i="1" dirty="0">
                <a:solidFill>
                  <a:srgbClr val="4B5563"/>
                </a:solidFill>
                <a:latin typeface="Calibri" pitchFamily="34" charset="0"/>
                <a:ea typeface="Calibri" pitchFamily="34" charset="-122"/>
                <a:cs typeface="Calibri" pitchFamily="34" charset="-120"/>
              </a:rPr>
              <a:t>Re-run for this review with Java 25; the CI pipeline runs the same script on Java 21.</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TESTING</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How the tests prove correctness</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22</a:t>
            </a:r>
            <a:endParaRPr lang="en-US" sz="1000" dirty="0"/>
          </a:p>
        </p:txBody>
      </p:sp>
      <p:sp>
        <p:nvSpPr>
          <p:cNvPr id="7" name="Text 4"/>
          <p:cNvSpPr txBox="1"/>
          <p:nvPr/>
        </p:nvSpPr>
        <p:spPr>
          <a:xfrm>
            <a:off x="548640" y="1417320"/>
            <a:ext cx="411480" cy="411480"/>
          </a:xfrm>
          <a:prstGeom prst="ellipse">
            <a:avLst/>
          </a:prstGeom>
          <a:solidFill>
            <a:srgbClr val="0B1026"/>
          </a:solidFill>
          <a:ln/>
        </p:spPr>
        <p:txBody>
          <a:bodyPr wrap="square" lIns="0" tIns="0" rIns="0" bIns="0"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1143000" y="1371600"/>
            <a:ext cx="4846320" cy="32004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Randomised cross-validation</a:t>
            </a:r>
            <a:endParaRPr lang="en-US" sz="1600" dirty="0"/>
          </a:p>
        </p:txBody>
      </p:sp>
      <p:sp>
        <p:nvSpPr>
          <p:cNvPr id="9" name="Text 6"/>
          <p:cNvSpPr txBox="1"/>
          <p:nvPr/>
        </p:nvSpPr>
        <p:spPr>
          <a:xfrm>
            <a:off x="1143000" y="1709928"/>
            <a:ext cx="4846320" cy="603504"/>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Efficient algorithms are checked against simple references on random inputs: 4,000 strings, 600 networks, 400 graphs.</a:t>
            </a:r>
            <a:endParaRPr lang="en-US" sz="1300" dirty="0"/>
          </a:p>
        </p:txBody>
      </p:sp>
      <p:sp>
        <p:nvSpPr>
          <p:cNvPr id="10" name="Text 7"/>
          <p:cNvSpPr txBox="1"/>
          <p:nvPr/>
        </p:nvSpPr>
        <p:spPr>
          <a:xfrm>
            <a:off x="548640" y="2423160"/>
            <a:ext cx="411480" cy="411480"/>
          </a:xfrm>
          <a:prstGeom prst="ellipse">
            <a:avLst/>
          </a:prstGeom>
          <a:solidFill>
            <a:srgbClr val="0B1026"/>
          </a:solidFill>
          <a:ln/>
        </p:spPr>
        <p:txBody>
          <a:bodyPr wrap="square" lIns="0" tIns="0" rIns="0" bIns="0"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143000" y="2377440"/>
            <a:ext cx="4846320" cy="32004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Small alphabets on purpose</a:t>
            </a:r>
            <a:endParaRPr lang="en-US" sz="1600" dirty="0"/>
          </a:p>
        </p:txBody>
      </p:sp>
      <p:sp>
        <p:nvSpPr>
          <p:cNvPr id="12" name="Text 9"/>
          <p:cNvSpPr txBox="1"/>
          <p:nvPr/>
        </p:nvSpPr>
        <p:spPr>
          <a:xfrm>
            <a:off x="1143000" y="2715768"/>
            <a:ext cx="4846320" cy="603504"/>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2–4 characters make overlaps and accidental matches common, which is where off-by-one errors surface.</a:t>
            </a:r>
            <a:endParaRPr lang="en-US" sz="1300" dirty="0"/>
          </a:p>
        </p:txBody>
      </p:sp>
      <p:sp>
        <p:nvSpPr>
          <p:cNvPr id="13" name="Text 10"/>
          <p:cNvSpPr txBox="1"/>
          <p:nvPr/>
        </p:nvSpPr>
        <p:spPr>
          <a:xfrm>
            <a:off x="548640" y="3429000"/>
            <a:ext cx="411480" cy="411480"/>
          </a:xfrm>
          <a:prstGeom prst="ellipse">
            <a:avLst/>
          </a:prstGeom>
          <a:solidFill>
            <a:srgbClr val="0B1026"/>
          </a:solidFill>
          <a:ln/>
        </p:spPr>
        <p:txBody>
          <a:bodyPr wrap="square" lIns="0" tIns="0" rIns="0" bIns="0"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1143000" y="3383280"/>
            <a:ext cx="4846320" cy="32004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Reproducible randomness</a:t>
            </a:r>
            <a:endParaRPr lang="en-US" sz="1600" dirty="0"/>
          </a:p>
        </p:txBody>
      </p:sp>
      <p:sp>
        <p:nvSpPr>
          <p:cNvPr id="15" name="Text 12"/>
          <p:cNvSpPr txBox="1"/>
          <p:nvPr/>
        </p:nvSpPr>
        <p:spPr>
          <a:xfrm>
            <a:off x="1143000" y="3721608"/>
            <a:ext cx="4846320" cy="603504"/>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A hand-written seeded generator replaces java.util.Random, so a failing case can be replayed from its seed.</a:t>
            </a:r>
            <a:endParaRPr lang="en-US" sz="1300" dirty="0"/>
          </a:p>
        </p:txBody>
      </p:sp>
      <p:sp>
        <p:nvSpPr>
          <p:cNvPr id="16" name="Text 13"/>
          <p:cNvSpPr txBox="1"/>
          <p:nvPr/>
        </p:nvSpPr>
        <p:spPr>
          <a:xfrm>
            <a:off x="548640" y="4434840"/>
            <a:ext cx="411480" cy="411480"/>
          </a:xfrm>
          <a:prstGeom prst="ellipse">
            <a:avLst/>
          </a:prstGeom>
          <a:solidFill>
            <a:srgbClr val="0B1026"/>
          </a:solidFill>
          <a:ln/>
        </p:spPr>
        <p:txBody>
          <a:bodyPr wrap="square" lIns="0" tIns="0" rIns="0" bIns="0"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4</a:t>
            </a:r>
            <a:endParaRPr lang="en-US" sz="1400" dirty="0"/>
          </a:p>
        </p:txBody>
      </p:sp>
      <p:sp>
        <p:nvSpPr>
          <p:cNvPr id="17" name="Text 14"/>
          <p:cNvSpPr txBox="1"/>
          <p:nvPr/>
        </p:nvSpPr>
        <p:spPr>
          <a:xfrm>
            <a:off x="1143000" y="4389120"/>
            <a:ext cx="4846320" cy="32004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Theory as a test</a:t>
            </a:r>
            <a:endParaRPr lang="en-US" sz="1600" dirty="0"/>
          </a:p>
        </p:txBody>
      </p:sp>
      <p:sp>
        <p:nvSpPr>
          <p:cNvPr id="18" name="Text 15"/>
          <p:cNvSpPr txBox="1"/>
          <p:nvPr/>
        </p:nvSpPr>
        <p:spPr>
          <a:xfrm>
            <a:off x="1143000" y="4727448"/>
            <a:ext cx="4846320" cy="603504"/>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Max flow equals min cut; approximation ratios hold against brute-force optima; a 40,000-trial check that sampling is uniform.</a:t>
            </a:r>
            <a:endParaRPr lang="en-US" sz="1300" dirty="0"/>
          </a:p>
        </p:txBody>
      </p:sp>
      <p:sp>
        <p:nvSpPr>
          <p:cNvPr id="19" name="Text 16"/>
          <p:cNvSpPr txBox="1"/>
          <p:nvPr/>
        </p:nvSpPr>
        <p:spPr>
          <a:xfrm>
            <a:off x="548640" y="5440680"/>
            <a:ext cx="411480" cy="411480"/>
          </a:xfrm>
          <a:prstGeom prst="ellipse">
            <a:avLst/>
          </a:prstGeom>
          <a:solidFill>
            <a:srgbClr val="0B1026"/>
          </a:solidFill>
          <a:ln/>
        </p:spPr>
        <p:txBody>
          <a:bodyPr wrap="square" lIns="0" tIns="0" rIns="0" bIns="0"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5</a:t>
            </a:r>
            <a:endParaRPr lang="en-US" sz="1400" dirty="0"/>
          </a:p>
        </p:txBody>
      </p:sp>
      <p:sp>
        <p:nvSpPr>
          <p:cNvPr id="20" name="Text 17"/>
          <p:cNvSpPr txBox="1"/>
          <p:nvPr/>
        </p:nvSpPr>
        <p:spPr>
          <a:xfrm>
            <a:off x="1143000" y="5394960"/>
            <a:ext cx="4846320" cy="32004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Adversarial inputs</a:t>
            </a:r>
            <a:endParaRPr lang="en-US" sz="1600" dirty="0"/>
          </a:p>
        </p:txBody>
      </p:sp>
      <p:sp>
        <p:nvSpPr>
          <p:cNvPr id="21" name="Text 18"/>
          <p:cNvSpPr txBox="1"/>
          <p:nvPr/>
        </p:nvSpPr>
        <p:spPr>
          <a:xfrm>
            <a:off x="1143000" y="5733288"/>
            <a:ext cx="4846320" cy="603504"/>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Carmichael numbers, a 2,000-character repeat, text containing \u0000, patterns nested inside patterns.</a:t>
            </a:r>
            <a:endParaRPr lang="en-US" sz="1300" dirty="0"/>
          </a:p>
        </p:txBody>
      </p:sp>
      <p:pic>
        <p:nvPicPr>
          <p:cNvPr id="22" name="Image 0" descr="tests.GraphTests excerpt: three max-flow algorithms agree on 600 random networks; min cut equals max flow on 300; 45 passed"/>
          <p:cNvPicPr>
            <a:picLocks noChangeAspect="1"/>
          </p:cNvPicPr>
          <p:nvPr/>
        </p:nvPicPr>
        <p:blipFill>
          <a:blip r:embed="rId3"/>
          <a:stretch>
            <a:fillRect/>
          </a:stretch>
        </p:blipFill>
        <p:spPr>
          <a:xfrm>
            <a:off x="6172200" y="1325880"/>
            <a:ext cx="5468112" cy="397804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ADVANTAGES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Benefits of the proposed system</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23</a:t>
            </a:r>
            <a:endParaRPr lang="en-US" sz="1000" dirty="0"/>
          </a:p>
        </p:txBody>
      </p:sp>
      <p:sp>
        <p:nvSpPr>
          <p:cNvPr id="7" name="Shape 4"/>
          <p:cNvSpPr/>
          <p:nvPr/>
        </p:nvSpPr>
        <p:spPr>
          <a:xfrm>
            <a:off x="548640" y="141732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8" name="Text 5"/>
          <p:cNvSpPr txBox="1"/>
          <p:nvPr/>
        </p:nvSpPr>
        <p:spPr>
          <a:xfrm>
            <a:off x="822960" y="169164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9" name="Text 6"/>
          <p:cNvSpPr txBox="1"/>
          <p:nvPr/>
        </p:nvSpPr>
        <p:spPr>
          <a:xfrm>
            <a:off x="822960" y="228600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Typo-tolerant search</a:t>
            </a:r>
            <a:endParaRPr lang="en-US" sz="1700" dirty="0"/>
          </a:p>
        </p:txBody>
      </p:sp>
      <p:sp>
        <p:nvSpPr>
          <p:cNvPr id="10" name="Text 7"/>
          <p:cNvSpPr txBox="1"/>
          <p:nvPr/>
        </p:nvSpPr>
        <p:spPr>
          <a:xfrm>
            <a:off x="822960" y="2697480"/>
            <a:ext cx="3063240" cy="86868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Damerau-Levenshtein finds "receive" from "recieve", which SQL LIKE cannot</a:t>
            </a:r>
            <a:endParaRPr lang="en-US" sz="1400" dirty="0"/>
          </a:p>
        </p:txBody>
      </p:sp>
      <p:sp>
        <p:nvSpPr>
          <p:cNvPr id="11" name="Shape 8"/>
          <p:cNvSpPr/>
          <p:nvPr/>
        </p:nvSpPr>
        <p:spPr>
          <a:xfrm>
            <a:off x="4297680" y="141732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12" name="Text 9"/>
          <p:cNvSpPr txBox="1"/>
          <p:nvPr/>
        </p:nvSpPr>
        <p:spPr>
          <a:xfrm>
            <a:off x="4572000" y="169164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13" name="Text 10"/>
          <p:cNvSpPr txBox="1"/>
          <p:nvPr/>
        </p:nvSpPr>
        <p:spPr>
          <a:xfrm>
            <a:off x="4572000" y="228600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Fast for many terms</a:t>
            </a:r>
            <a:endParaRPr lang="en-US" sz="1700" dirty="0"/>
          </a:p>
        </p:txBody>
      </p:sp>
      <p:sp>
        <p:nvSpPr>
          <p:cNvPr id="14" name="Text 11"/>
          <p:cNvSpPr txBox="1"/>
          <p:nvPr/>
        </p:nvSpPr>
        <p:spPr>
          <a:xfrm>
            <a:off x="4572000" y="2697480"/>
            <a:ext cx="3063240" cy="86868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Aho-Corasick checks every query term in one pass: 15.5× faster than KMP per term with 80 patterns</a:t>
            </a:r>
            <a:endParaRPr lang="en-US" sz="1400" dirty="0"/>
          </a:p>
        </p:txBody>
      </p:sp>
      <p:sp>
        <p:nvSpPr>
          <p:cNvPr id="15" name="Shape 12"/>
          <p:cNvSpPr/>
          <p:nvPr/>
        </p:nvSpPr>
        <p:spPr>
          <a:xfrm>
            <a:off x="8046720" y="141732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16" name="Text 13"/>
          <p:cNvSpPr txBox="1"/>
          <p:nvPr/>
        </p:nvSpPr>
        <p:spPr>
          <a:xfrm>
            <a:off x="8321040" y="169164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17" name="Text 14"/>
          <p:cNvSpPr txBox="1"/>
          <p:nvPr/>
        </p:nvSpPr>
        <p:spPr>
          <a:xfrm>
            <a:off x="8321040" y="228600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Guaranteed worst case</a:t>
            </a:r>
            <a:endParaRPr lang="en-US" sz="1700" dirty="0"/>
          </a:p>
        </p:txBody>
      </p:sp>
      <p:sp>
        <p:nvSpPr>
          <p:cNvPr id="18" name="Text 15"/>
          <p:cNvSpPr txBox="1"/>
          <p:nvPr/>
        </p:nvSpPr>
        <p:spPr>
          <a:xfrm>
            <a:off x="8321040" y="2697480"/>
            <a:ext cx="3063240" cy="86868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KMP and Z never degrade; no input makes them quadratic</a:t>
            </a:r>
            <a:endParaRPr lang="en-US" sz="1400" dirty="0"/>
          </a:p>
        </p:txBody>
      </p:sp>
      <p:sp>
        <p:nvSpPr>
          <p:cNvPr id="19" name="Shape 16"/>
          <p:cNvSpPr/>
          <p:nvPr/>
        </p:nvSpPr>
        <p:spPr>
          <a:xfrm>
            <a:off x="548640" y="384048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20" name="Text 17"/>
          <p:cNvSpPr txBox="1"/>
          <p:nvPr/>
        </p:nvSpPr>
        <p:spPr>
          <a:xfrm>
            <a:off x="822960" y="411480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21" name="Text 18"/>
          <p:cNvSpPr txBox="1"/>
          <p:nvPr/>
        </p:nvSpPr>
        <p:spPr>
          <a:xfrm>
            <a:off x="822960" y="470916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Proven, not assumed</a:t>
            </a:r>
            <a:endParaRPr lang="en-US" sz="1700" dirty="0"/>
          </a:p>
        </p:txBody>
      </p:sp>
      <p:sp>
        <p:nvSpPr>
          <p:cNvPr id="22" name="Text 19"/>
          <p:cNvSpPr txBox="1"/>
          <p:nvPr/>
        </p:nvSpPr>
        <p:spPr>
          <a:xfrm>
            <a:off x="822960" y="5120640"/>
            <a:ext cx="3063240" cy="86868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452 assertions, randomised cross-checks, and theorems verified as tests</a:t>
            </a:r>
            <a:endParaRPr lang="en-US" sz="1400" dirty="0"/>
          </a:p>
        </p:txBody>
      </p:sp>
      <p:sp>
        <p:nvSpPr>
          <p:cNvPr id="23" name="Shape 20"/>
          <p:cNvSpPr/>
          <p:nvPr/>
        </p:nvSpPr>
        <p:spPr>
          <a:xfrm>
            <a:off x="4297680" y="384048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24" name="Text 21"/>
          <p:cNvSpPr txBox="1"/>
          <p:nvPr/>
        </p:nvSpPr>
        <p:spPr>
          <a:xfrm>
            <a:off x="4572000" y="411480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25" name="Text 22"/>
          <p:cNvSpPr txBox="1"/>
          <p:nvPr/>
        </p:nvSpPr>
        <p:spPr>
          <a:xfrm>
            <a:off x="4572000" y="470916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No dependencies</a:t>
            </a:r>
            <a:endParaRPr lang="en-US" sz="1700" dirty="0"/>
          </a:p>
        </p:txBody>
      </p:sp>
      <p:sp>
        <p:nvSpPr>
          <p:cNvPr id="26" name="Text 23"/>
          <p:cNvSpPr txBox="1"/>
          <p:nvPr/>
        </p:nvSpPr>
        <p:spPr>
          <a:xfrm>
            <a:off x="4572000" y="5120640"/>
            <a:ext cx="3063240" cy="86868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Only a JDK to build and test; the same source runs in the backend</a:t>
            </a:r>
            <a:endParaRPr lang="en-US" sz="1400" dirty="0"/>
          </a:p>
        </p:txBody>
      </p:sp>
      <p:sp>
        <p:nvSpPr>
          <p:cNvPr id="27" name="Shape 24"/>
          <p:cNvSpPr/>
          <p:nvPr/>
        </p:nvSpPr>
        <p:spPr>
          <a:xfrm>
            <a:off x="8046720" y="384048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28" name="Text 25"/>
          <p:cNvSpPr txBox="1"/>
          <p:nvPr/>
        </p:nvSpPr>
        <p:spPr>
          <a:xfrm>
            <a:off x="8321040" y="411480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29" name="Text 26"/>
          <p:cNvSpPr txBox="1"/>
          <p:nvPr/>
        </p:nvSpPr>
        <p:spPr>
          <a:xfrm>
            <a:off x="8321040" y="470916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Explainable results</a:t>
            </a:r>
            <a:endParaRPr lang="en-US" sz="1700" dirty="0"/>
          </a:p>
        </p:txBody>
      </p:sp>
      <p:sp>
        <p:nvSpPr>
          <p:cNvPr id="30" name="Text 27"/>
          <p:cNvSpPr txBox="1"/>
          <p:nvPr/>
        </p:nvSpPr>
        <p:spPr>
          <a:xfrm>
            <a:off x="8321040" y="5120640"/>
            <a:ext cx="3063240" cy="86868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Complexity registry, alignments and min-cut citations shown to users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APPLICATIONS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Real-world use cases</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24</a:t>
            </a:r>
            <a:endParaRPr lang="en-US" sz="1000" dirty="0"/>
          </a:p>
        </p:txBody>
      </p:sp>
      <p:sp>
        <p:nvSpPr>
          <p:cNvPr id="7" name="Shape 4"/>
          <p:cNvSpPr/>
          <p:nvPr/>
        </p:nvSpPr>
        <p:spPr>
          <a:xfrm>
            <a:off x="548640" y="1371600"/>
            <a:ext cx="5468112" cy="1481328"/>
          </a:xfrm>
          <a:prstGeom prst="roundRect">
            <a:avLst>
              <a:gd name="adj" fmla="val 4938"/>
            </a:avLst>
          </a:prstGeom>
          <a:solidFill>
            <a:srgbClr val="F4F5F9"/>
          </a:solidFill>
          <a:ln w="12700">
            <a:solidFill>
              <a:srgbClr val="F4F5F9"/>
            </a:solidFill>
            <a:prstDash val="solid"/>
          </a:ln>
        </p:spPr>
        <p:txBody>
          <a:bodyPr/>
          <a:lstStyle/>
          <a:p>
            <a:endParaRPr lang="en-IN"/>
          </a:p>
        </p:txBody>
      </p:sp>
      <p:sp>
        <p:nvSpPr>
          <p:cNvPr id="8" name="Text 5"/>
          <p:cNvSpPr txBox="1"/>
          <p:nvPr/>
        </p:nvSpPr>
        <p:spPr>
          <a:xfrm>
            <a:off x="822960" y="1536192"/>
            <a:ext cx="4937760" cy="347472"/>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Enterprise document search</a:t>
            </a:r>
            <a:endParaRPr lang="en-US" sz="1700" dirty="0"/>
          </a:p>
        </p:txBody>
      </p:sp>
      <p:sp>
        <p:nvSpPr>
          <p:cNvPr id="9" name="Text 6"/>
          <p:cNvSpPr txBox="1"/>
          <p:nvPr/>
        </p:nvSpPr>
        <p:spPr>
          <a:xfrm>
            <a:off x="822960" y="1901952"/>
            <a:ext cx="4937760" cy="457200"/>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Keyword and fuzzy ranking in the platform's search</a:t>
            </a:r>
            <a:endParaRPr lang="en-US" sz="1300" dirty="0"/>
          </a:p>
        </p:txBody>
      </p:sp>
      <p:sp>
        <p:nvSpPr>
          <p:cNvPr id="10" name="Text 7"/>
          <p:cNvSpPr txBox="1"/>
          <p:nvPr/>
        </p:nvSpPr>
        <p:spPr>
          <a:xfrm>
            <a:off x="822960" y="2432304"/>
            <a:ext cx="2301808"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KMP · Aho-Corasick · OSA</a:t>
            </a:r>
            <a:endParaRPr lang="en-US" sz="1100" dirty="0"/>
          </a:p>
        </p:txBody>
      </p:sp>
      <p:sp>
        <p:nvSpPr>
          <p:cNvPr id="11" name="Shape 8"/>
          <p:cNvSpPr/>
          <p:nvPr/>
        </p:nvSpPr>
        <p:spPr>
          <a:xfrm>
            <a:off x="6172200" y="1371600"/>
            <a:ext cx="5468112" cy="1481328"/>
          </a:xfrm>
          <a:prstGeom prst="roundRect">
            <a:avLst>
              <a:gd name="adj" fmla="val 4938"/>
            </a:avLst>
          </a:prstGeom>
          <a:solidFill>
            <a:srgbClr val="F4F5F9"/>
          </a:solidFill>
          <a:ln w="12700">
            <a:solidFill>
              <a:srgbClr val="F4F5F9"/>
            </a:solidFill>
            <a:prstDash val="solid"/>
          </a:ln>
        </p:spPr>
        <p:txBody>
          <a:bodyPr/>
          <a:lstStyle/>
          <a:p>
            <a:endParaRPr lang="en-IN"/>
          </a:p>
        </p:txBody>
      </p:sp>
      <p:sp>
        <p:nvSpPr>
          <p:cNvPr id="12" name="Text 9"/>
          <p:cNvSpPr txBox="1"/>
          <p:nvPr/>
        </p:nvSpPr>
        <p:spPr>
          <a:xfrm>
            <a:off x="6446520" y="1536192"/>
            <a:ext cx="4937760" cy="347472"/>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Spell correction and autocomplete</a:t>
            </a:r>
            <a:endParaRPr lang="en-US" sz="1700" dirty="0"/>
          </a:p>
        </p:txBody>
      </p:sp>
      <p:sp>
        <p:nvSpPr>
          <p:cNvPr id="13" name="Text 10"/>
          <p:cNvSpPr txBox="1"/>
          <p:nvPr/>
        </p:nvSpPr>
        <p:spPr>
          <a:xfrm>
            <a:off x="6446520" y="1901952"/>
            <a:ext cx="4937760" cy="457200"/>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Suggest the nearest dictionary words to a mistyped query</a:t>
            </a:r>
            <a:endParaRPr lang="en-US" sz="1300" dirty="0"/>
          </a:p>
        </p:txBody>
      </p:sp>
      <p:sp>
        <p:nvSpPr>
          <p:cNvPr id="14" name="Text 11"/>
          <p:cNvSpPr txBox="1"/>
          <p:nvPr/>
        </p:nvSpPr>
        <p:spPr>
          <a:xfrm>
            <a:off x="6446520" y="2432304"/>
            <a:ext cx="2046086"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Levenshtein · Damerau</a:t>
            </a:r>
            <a:endParaRPr lang="en-US" sz="1100" dirty="0"/>
          </a:p>
        </p:txBody>
      </p:sp>
      <p:sp>
        <p:nvSpPr>
          <p:cNvPr id="15" name="Shape 12"/>
          <p:cNvSpPr/>
          <p:nvPr/>
        </p:nvSpPr>
        <p:spPr>
          <a:xfrm>
            <a:off x="548640" y="3017520"/>
            <a:ext cx="5468112" cy="1481328"/>
          </a:xfrm>
          <a:prstGeom prst="roundRect">
            <a:avLst>
              <a:gd name="adj" fmla="val 4938"/>
            </a:avLst>
          </a:prstGeom>
          <a:solidFill>
            <a:srgbClr val="F4F5F9"/>
          </a:solidFill>
          <a:ln w="12700">
            <a:solidFill>
              <a:srgbClr val="F4F5F9"/>
            </a:solidFill>
            <a:prstDash val="solid"/>
          </a:ln>
        </p:spPr>
        <p:txBody>
          <a:bodyPr/>
          <a:lstStyle/>
          <a:p>
            <a:endParaRPr lang="en-IN"/>
          </a:p>
        </p:txBody>
      </p:sp>
      <p:sp>
        <p:nvSpPr>
          <p:cNvPr id="16" name="Text 13"/>
          <p:cNvSpPr txBox="1"/>
          <p:nvPr/>
        </p:nvSpPr>
        <p:spPr>
          <a:xfrm>
            <a:off x="822960" y="3182112"/>
            <a:ext cx="4937760" cy="347472"/>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Plagiarism and duplicate detection</a:t>
            </a:r>
            <a:endParaRPr lang="en-US" sz="1700" dirty="0"/>
          </a:p>
        </p:txBody>
      </p:sp>
      <p:sp>
        <p:nvSpPr>
          <p:cNvPr id="17" name="Text 14"/>
          <p:cNvSpPr txBox="1"/>
          <p:nvPr/>
        </p:nvSpPr>
        <p:spPr>
          <a:xfrm>
            <a:off x="822960" y="3547872"/>
            <a:ext cx="4937760" cy="457200"/>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Local alignment isolates a shared paragraph between two documents</a:t>
            </a:r>
            <a:endParaRPr lang="en-US" sz="1300" dirty="0"/>
          </a:p>
        </p:txBody>
      </p:sp>
      <p:sp>
        <p:nvSpPr>
          <p:cNvPr id="18" name="Text 15"/>
          <p:cNvSpPr txBox="1"/>
          <p:nvPr/>
        </p:nvSpPr>
        <p:spPr>
          <a:xfrm>
            <a:off x="822960" y="4078224"/>
            <a:ext cx="2728012"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Smith-Waterman · suffix array</a:t>
            </a:r>
            <a:endParaRPr lang="en-US" sz="1100" dirty="0"/>
          </a:p>
        </p:txBody>
      </p:sp>
      <p:sp>
        <p:nvSpPr>
          <p:cNvPr id="19" name="Shape 16"/>
          <p:cNvSpPr/>
          <p:nvPr/>
        </p:nvSpPr>
        <p:spPr>
          <a:xfrm>
            <a:off x="6172200" y="3017520"/>
            <a:ext cx="5468112" cy="1481328"/>
          </a:xfrm>
          <a:prstGeom prst="roundRect">
            <a:avLst>
              <a:gd name="adj" fmla="val 4938"/>
            </a:avLst>
          </a:prstGeom>
          <a:solidFill>
            <a:srgbClr val="F4F5F9"/>
          </a:solidFill>
          <a:ln w="12700">
            <a:solidFill>
              <a:srgbClr val="F4F5F9"/>
            </a:solidFill>
            <a:prstDash val="solid"/>
          </a:ln>
        </p:spPr>
        <p:txBody>
          <a:bodyPr/>
          <a:lstStyle/>
          <a:p>
            <a:endParaRPr lang="en-IN"/>
          </a:p>
        </p:txBody>
      </p:sp>
      <p:sp>
        <p:nvSpPr>
          <p:cNvPr id="20" name="Text 17"/>
          <p:cNvSpPr txBox="1"/>
          <p:nvPr/>
        </p:nvSpPr>
        <p:spPr>
          <a:xfrm>
            <a:off x="6446520" y="3182112"/>
            <a:ext cx="4937760" cy="347472"/>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Research citation analysis</a:t>
            </a:r>
            <a:endParaRPr lang="en-US" sz="1700" dirty="0"/>
          </a:p>
        </p:txBody>
      </p:sp>
      <p:sp>
        <p:nvSpPr>
          <p:cNvPr id="21" name="Text 18"/>
          <p:cNvSpPr txBox="1"/>
          <p:nvPr/>
        </p:nvSpPr>
        <p:spPr>
          <a:xfrm>
            <a:off x="6446520" y="3547872"/>
            <a:ext cx="4937760" cy="457200"/>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Count independent citation chains and find the citations they depend on</a:t>
            </a:r>
            <a:endParaRPr lang="en-US" sz="1300" dirty="0"/>
          </a:p>
        </p:txBody>
      </p:sp>
      <p:sp>
        <p:nvSpPr>
          <p:cNvPr id="22" name="Text 19"/>
          <p:cNvSpPr txBox="1"/>
          <p:nvPr/>
        </p:nvSpPr>
        <p:spPr>
          <a:xfrm>
            <a:off x="6446520" y="4078224"/>
            <a:ext cx="1534642"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Dinic · min cut</a:t>
            </a:r>
            <a:endParaRPr lang="en-US" sz="1100" dirty="0"/>
          </a:p>
        </p:txBody>
      </p:sp>
      <p:sp>
        <p:nvSpPr>
          <p:cNvPr id="23" name="Shape 20"/>
          <p:cNvSpPr/>
          <p:nvPr/>
        </p:nvSpPr>
        <p:spPr>
          <a:xfrm>
            <a:off x="548640" y="4663440"/>
            <a:ext cx="5468112" cy="1481328"/>
          </a:xfrm>
          <a:prstGeom prst="roundRect">
            <a:avLst>
              <a:gd name="adj" fmla="val 4938"/>
            </a:avLst>
          </a:prstGeom>
          <a:solidFill>
            <a:srgbClr val="F4F5F9"/>
          </a:solidFill>
          <a:ln w="12700">
            <a:solidFill>
              <a:srgbClr val="F4F5F9"/>
            </a:solidFill>
            <a:prstDash val="solid"/>
          </a:ln>
        </p:spPr>
        <p:txBody>
          <a:bodyPr/>
          <a:lstStyle/>
          <a:p>
            <a:endParaRPr lang="en-IN"/>
          </a:p>
        </p:txBody>
      </p:sp>
      <p:sp>
        <p:nvSpPr>
          <p:cNvPr id="24" name="Text 21"/>
          <p:cNvSpPr txBox="1"/>
          <p:nvPr/>
        </p:nvSpPr>
        <p:spPr>
          <a:xfrm>
            <a:off x="822960" y="4828032"/>
            <a:ext cx="4937760" cy="347472"/>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Keyword filtering and security</a:t>
            </a:r>
            <a:endParaRPr lang="en-US" sz="1700" dirty="0"/>
          </a:p>
        </p:txBody>
      </p:sp>
      <p:sp>
        <p:nvSpPr>
          <p:cNvPr id="25" name="Text 22"/>
          <p:cNvSpPr txBox="1"/>
          <p:nvPr/>
        </p:nvSpPr>
        <p:spPr>
          <a:xfrm>
            <a:off x="822960" y="5193792"/>
            <a:ext cx="4937760" cy="457200"/>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Match thousands of blocked words or signatures in one pass</a:t>
            </a:r>
            <a:endParaRPr lang="en-US" sz="1300" dirty="0"/>
          </a:p>
        </p:txBody>
      </p:sp>
      <p:sp>
        <p:nvSpPr>
          <p:cNvPr id="26" name="Text 23"/>
          <p:cNvSpPr txBox="1"/>
          <p:nvPr/>
        </p:nvSpPr>
        <p:spPr>
          <a:xfrm>
            <a:off x="822960" y="5724144"/>
            <a:ext cx="1278920"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Aho-Corasick</a:t>
            </a:r>
            <a:endParaRPr lang="en-US" sz="1100" dirty="0"/>
          </a:p>
        </p:txBody>
      </p:sp>
      <p:sp>
        <p:nvSpPr>
          <p:cNvPr id="27" name="Shape 24"/>
          <p:cNvSpPr/>
          <p:nvPr/>
        </p:nvSpPr>
        <p:spPr>
          <a:xfrm>
            <a:off x="6172200" y="4663440"/>
            <a:ext cx="5468112" cy="1481328"/>
          </a:xfrm>
          <a:prstGeom prst="roundRect">
            <a:avLst>
              <a:gd name="adj" fmla="val 4938"/>
            </a:avLst>
          </a:prstGeom>
          <a:solidFill>
            <a:srgbClr val="F4F5F9"/>
          </a:solidFill>
          <a:ln w="12700">
            <a:solidFill>
              <a:srgbClr val="F4F5F9"/>
            </a:solidFill>
            <a:prstDash val="solid"/>
          </a:ln>
        </p:spPr>
        <p:txBody>
          <a:bodyPr/>
          <a:lstStyle/>
          <a:p>
            <a:endParaRPr lang="en-IN"/>
          </a:p>
        </p:txBody>
      </p:sp>
      <p:sp>
        <p:nvSpPr>
          <p:cNvPr id="28" name="Text 25"/>
          <p:cNvSpPr txBox="1"/>
          <p:nvPr/>
        </p:nvSpPr>
        <p:spPr>
          <a:xfrm>
            <a:off x="6446520" y="4828032"/>
            <a:ext cx="4937760" cy="347472"/>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Bioinformatics</a:t>
            </a:r>
            <a:endParaRPr lang="en-US" sz="1700" dirty="0"/>
          </a:p>
        </p:txBody>
      </p:sp>
      <p:sp>
        <p:nvSpPr>
          <p:cNvPr id="29" name="Text 26"/>
          <p:cNvSpPr txBox="1"/>
          <p:nvPr/>
        </p:nvSpPr>
        <p:spPr>
          <a:xfrm>
            <a:off x="6446520" y="5193792"/>
            <a:ext cx="4937760" cy="457200"/>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The alignment algorithms were designed for DNA and protein sequences</a:t>
            </a:r>
            <a:endParaRPr lang="en-US" sz="1300" dirty="0"/>
          </a:p>
        </p:txBody>
      </p:sp>
      <p:sp>
        <p:nvSpPr>
          <p:cNvPr id="30" name="Text 27"/>
          <p:cNvSpPr txBox="1"/>
          <p:nvPr/>
        </p:nvSpPr>
        <p:spPr>
          <a:xfrm>
            <a:off x="6446520" y="5724144"/>
            <a:ext cx="1619883"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Needleman-Wunsch</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CHALLENGES FACED</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Issues encountered and how we solved them</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25</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681728"/>
        </p:xfrm>
        <a:graphic>
          <a:graphicData uri="http://schemas.openxmlformats.org/drawingml/2006/table">
            <a:tbl>
              <a:tblPr/>
              <a:tblGrid>
                <a:gridCol w="4663440">
                  <a:extLst>
                    <a:ext uri="{9D8B030D-6E8A-4147-A177-3AD203B41FA5}">
                      <a16:colId xmlns:a16="http://schemas.microsoft.com/office/drawing/2014/main" val="20000"/>
                    </a:ext>
                  </a:extLst>
                </a:gridCol>
                <a:gridCol w="6428232">
                  <a:extLst>
                    <a:ext uri="{9D8B030D-6E8A-4147-A177-3AD203B41FA5}">
                      <a16:colId xmlns:a16="http://schemas.microsoft.com/office/drawing/2014/main" val="20001"/>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Issue</a:t>
                      </a:r>
                      <a:endParaRPr lang="en-US" sz="13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Solution</a:t>
                      </a:r>
                      <a:endParaRPr lang="en-US" sz="13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extLst>
                  <a:ext uri="{0D108BD9-81ED-4DB2-BD59-A6C34878D82A}">
                    <a16:rowId xmlns:a16="http://schemas.microsoft.com/office/drawing/2014/main" val="10000"/>
                  </a:ext>
                </a:extLst>
              </a:tr>
              <a:tr h="64008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java.util was barred from algorithm code</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Wrote IntList, CharMap and a seeded PRNG; sorted suffixes with counting sort instead of a library sort</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1"/>
                  </a:ext>
                </a:extLst>
              </a:tr>
              <a:tr h="64008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Z-algorithm's textbook sentinel breaks on text containing it</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Compute the Z-array of the pattern only and match against the text: no sentinel, and O(m) space</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Rabin-Karp hash collisions give false matches at scale</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Verify every hash hit character by character</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3"/>
                  </a:ext>
                </a:extLst>
              </a:tr>
              <a:tr h="64008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(a·b) mod m overflows 64 bits in Miller-Rabin</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Russian-peasant modular multiplication; BigInteger would replace the algorithm with a library call</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4008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"Interval scheduling" was listed under approximation, but it is solved exactly</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Replaced with makespan scheduling, which is NP-hard: list scheduling (2 − 1/m) and LPT (4/3)</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5"/>
                  </a:ext>
                </a:extLst>
              </a:tr>
              <a:tr h="54864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Plain Levenshtein counts a swapped pair as 2 edits</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Added Damerau-Levenshtein in both variants; the tests pin where they disagree</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64008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Aho-Corasick does not fit a one-pattern matcher interface</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Gave it its own API returning which pattern matched, instead of one automaton per pattern</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FUTURE ENHANCEMENTS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Scope for improvement</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26</a:t>
            </a:r>
            <a:endParaRPr lang="en-US" sz="1000" dirty="0"/>
          </a:p>
        </p:txBody>
      </p:sp>
      <p:sp>
        <p:nvSpPr>
          <p:cNvPr id="7" name="Shape 4"/>
          <p:cNvSpPr/>
          <p:nvPr/>
        </p:nvSpPr>
        <p:spPr>
          <a:xfrm>
            <a:off x="548640" y="141732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8" name="Text 5"/>
          <p:cNvSpPr txBox="1"/>
          <p:nvPr/>
        </p:nvSpPr>
        <p:spPr>
          <a:xfrm>
            <a:off x="822960" y="1691640"/>
            <a:ext cx="640080" cy="365760"/>
          </a:xfrm>
          <a:prstGeom prst="roundRect">
            <a:avLst>
              <a:gd name="adj" fmla="val 12500"/>
            </a:avLst>
          </a:prstGeom>
          <a:solidFill>
            <a:srgbClr val="0B1026"/>
          </a:solidFill>
          <a:ln w="9525">
            <a:solidFill>
              <a:srgbClr val="0B102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01</a:t>
            </a:r>
            <a:endParaRPr lang="en-US" sz="1300" dirty="0"/>
          </a:p>
        </p:txBody>
      </p:sp>
      <p:sp>
        <p:nvSpPr>
          <p:cNvPr id="9" name="Text 6"/>
          <p:cNvSpPr txBox="1"/>
          <p:nvPr/>
        </p:nvSpPr>
        <p:spPr>
          <a:xfrm>
            <a:off x="822960" y="224028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Indian-language corpus</a:t>
            </a:r>
            <a:endParaRPr lang="en-US" sz="1700" dirty="0"/>
          </a:p>
        </p:txBody>
      </p:sp>
      <p:sp>
        <p:nvSpPr>
          <p:cNvPr id="10" name="Text 7"/>
          <p:cNvSpPr txBox="1"/>
          <p:nvPr/>
        </p:nvSpPr>
        <p:spPr>
          <a:xfrm>
            <a:off x="822960" y="2651760"/>
            <a:ext cx="3063240" cy="9144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Build an Indian-language Wikipedia corpus; needs dump selection and a licence review</a:t>
            </a:r>
            <a:endParaRPr lang="en-US" sz="1400" dirty="0"/>
          </a:p>
        </p:txBody>
      </p:sp>
      <p:sp>
        <p:nvSpPr>
          <p:cNvPr id="11" name="Shape 8"/>
          <p:cNvSpPr/>
          <p:nvPr/>
        </p:nvSpPr>
        <p:spPr>
          <a:xfrm>
            <a:off x="4297680" y="141732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12" name="Text 9"/>
          <p:cNvSpPr txBox="1"/>
          <p:nvPr/>
        </p:nvSpPr>
        <p:spPr>
          <a:xfrm>
            <a:off x="4572000" y="1691640"/>
            <a:ext cx="640080" cy="365760"/>
          </a:xfrm>
          <a:prstGeom prst="roundRect">
            <a:avLst>
              <a:gd name="adj" fmla="val 12500"/>
            </a:avLst>
          </a:prstGeom>
          <a:solidFill>
            <a:srgbClr val="0B1026"/>
          </a:solidFill>
          <a:ln w="9525">
            <a:solidFill>
              <a:srgbClr val="0B102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02</a:t>
            </a:r>
            <a:endParaRPr lang="en-US" sz="1300" dirty="0"/>
          </a:p>
        </p:txBody>
      </p:sp>
      <p:sp>
        <p:nvSpPr>
          <p:cNvPr id="13" name="Text 10"/>
          <p:cNvSpPr txBox="1"/>
          <p:nvPr/>
        </p:nvSpPr>
        <p:spPr>
          <a:xfrm>
            <a:off x="4572000" y="224028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Search at larger scale</a:t>
            </a:r>
            <a:endParaRPr lang="en-US" sz="1700" dirty="0"/>
          </a:p>
        </p:txBody>
      </p:sp>
      <p:sp>
        <p:nvSpPr>
          <p:cNvPr id="14" name="Text 11"/>
          <p:cNvSpPr txBox="1"/>
          <p:nvPr/>
        </p:nvSpPr>
        <p:spPr>
          <a:xfrm>
            <a:off x="4572000" y="2651760"/>
            <a:ext cx="3063240" cy="9144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The fuzzy scan scores up to 5,000 documents in memory; move candidate generation into a trigram index</a:t>
            </a:r>
            <a:endParaRPr lang="en-US" sz="1400" dirty="0"/>
          </a:p>
        </p:txBody>
      </p:sp>
      <p:sp>
        <p:nvSpPr>
          <p:cNvPr id="15" name="Shape 12"/>
          <p:cNvSpPr/>
          <p:nvPr/>
        </p:nvSpPr>
        <p:spPr>
          <a:xfrm>
            <a:off x="8046720" y="141732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16" name="Text 13"/>
          <p:cNvSpPr txBox="1"/>
          <p:nvPr/>
        </p:nvSpPr>
        <p:spPr>
          <a:xfrm>
            <a:off x="8321040" y="1691640"/>
            <a:ext cx="640080" cy="365760"/>
          </a:xfrm>
          <a:prstGeom prst="roundRect">
            <a:avLst>
              <a:gd name="adj" fmla="val 12500"/>
            </a:avLst>
          </a:prstGeom>
          <a:solidFill>
            <a:srgbClr val="0B1026"/>
          </a:solidFill>
          <a:ln w="9525">
            <a:solidFill>
              <a:srgbClr val="0B102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03</a:t>
            </a:r>
            <a:endParaRPr lang="en-US" sz="1300" dirty="0"/>
          </a:p>
        </p:txBody>
      </p:sp>
      <p:sp>
        <p:nvSpPr>
          <p:cNvPr id="17" name="Text 14"/>
          <p:cNvSpPr txBox="1"/>
          <p:nvPr/>
        </p:nvSpPr>
        <p:spPr>
          <a:xfrm>
            <a:off x="8321040" y="224028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Faster fuzzy lookup</a:t>
            </a:r>
            <a:endParaRPr lang="en-US" sz="1700" dirty="0"/>
          </a:p>
        </p:txBody>
      </p:sp>
      <p:sp>
        <p:nvSpPr>
          <p:cNvPr id="18" name="Text 15"/>
          <p:cNvSpPr txBox="1"/>
          <p:nvPr/>
        </p:nvSpPr>
        <p:spPr>
          <a:xfrm>
            <a:off x="8321040" y="2651760"/>
            <a:ext cx="3063240" cy="9144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BK-trees or Levenshtein automata to avoid comparing against every term</a:t>
            </a:r>
            <a:endParaRPr lang="en-US" sz="1400" dirty="0"/>
          </a:p>
        </p:txBody>
      </p:sp>
      <p:sp>
        <p:nvSpPr>
          <p:cNvPr id="19" name="Shape 16"/>
          <p:cNvSpPr/>
          <p:nvPr/>
        </p:nvSpPr>
        <p:spPr>
          <a:xfrm>
            <a:off x="548640" y="384048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20" name="Text 17"/>
          <p:cNvSpPr txBox="1"/>
          <p:nvPr/>
        </p:nvSpPr>
        <p:spPr>
          <a:xfrm>
            <a:off x="822960" y="4114800"/>
            <a:ext cx="640080" cy="365760"/>
          </a:xfrm>
          <a:prstGeom prst="roundRect">
            <a:avLst>
              <a:gd name="adj" fmla="val 12500"/>
            </a:avLst>
          </a:prstGeom>
          <a:solidFill>
            <a:srgbClr val="0B1026"/>
          </a:solidFill>
          <a:ln w="9525">
            <a:solidFill>
              <a:srgbClr val="0B102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04</a:t>
            </a:r>
            <a:endParaRPr lang="en-US" sz="1300" dirty="0"/>
          </a:p>
        </p:txBody>
      </p:sp>
      <p:sp>
        <p:nvSpPr>
          <p:cNvPr id="21" name="Text 18"/>
          <p:cNvSpPr txBox="1"/>
          <p:nvPr/>
        </p:nvSpPr>
        <p:spPr>
          <a:xfrm>
            <a:off x="822960" y="466344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Linear-time suffix arrays</a:t>
            </a:r>
            <a:endParaRPr lang="en-US" sz="1700" dirty="0"/>
          </a:p>
        </p:txBody>
      </p:sp>
      <p:sp>
        <p:nvSpPr>
          <p:cNvPr id="22" name="Text 19"/>
          <p:cNvSpPr txBox="1"/>
          <p:nvPr/>
        </p:nvSpPr>
        <p:spPr>
          <a:xfrm>
            <a:off x="822960" y="5074920"/>
            <a:ext cx="3063240" cy="9144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SA-IS construction in O(n) instead of prefix doubling</a:t>
            </a:r>
            <a:endParaRPr lang="en-US" sz="1400" dirty="0"/>
          </a:p>
        </p:txBody>
      </p:sp>
      <p:sp>
        <p:nvSpPr>
          <p:cNvPr id="23" name="Shape 20"/>
          <p:cNvSpPr/>
          <p:nvPr/>
        </p:nvSpPr>
        <p:spPr>
          <a:xfrm>
            <a:off x="4297680" y="384048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24" name="Text 21"/>
          <p:cNvSpPr txBox="1"/>
          <p:nvPr/>
        </p:nvSpPr>
        <p:spPr>
          <a:xfrm>
            <a:off x="4572000" y="4114800"/>
            <a:ext cx="640080" cy="365760"/>
          </a:xfrm>
          <a:prstGeom prst="roundRect">
            <a:avLst>
              <a:gd name="adj" fmla="val 12500"/>
            </a:avLst>
          </a:prstGeom>
          <a:solidFill>
            <a:srgbClr val="0B1026"/>
          </a:solidFill>
          <a:ln w="9525">
            <a:solidFill>
              <a:srgbClr val="0B102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05</a:t>
            </a:r>
            <a:endParaRPr lang="en-US" sz="1300" dirty="0"/>
          </a:p>
        </p:txBody>
      </p:sp>
      <p:sp>
        <p:nvSpPr>
          <p:cNvPr id="25" name="Text 22"/>
          <p:cNvSpPr txBox="1"/>
          <p:nvPr/>
        </p:nvSpPr>
        <p:spPr>
          <a:xfrm>
            <a:off x="4572000" y="466344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More flow algorithms</a:t>
            </a:r>
            <a:endParaRPr lang="en-US" sz="1700" dirty="0"/>
          </a:p>
        </p:txBody>
      </p:sp>
      <p:sp>
        <p:nvSpPr>
          <p:cNvPr id="26" name="Text 23"/>
          <p:cNvSpPr txBox="1"/>
          <p:nvPr/>
        </p:nvSpPr>
        <p:spPr>
          <a:xfrm>
            <a:off x="4572000" y="5074920"/>
            <a:ext cx="3063240" cy="9144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Push-relabel max flow and weighted citation graphs</a:t>
            </a:r>
            <a:endParaRPr lang="en-US" sz="1400" dirty="0"/>
          </a:p>
        </p:txBody>
      </p:sp>
      <p:sp>
        <p:nvSpPr>
          <p:cNvPr id="27" name="Shape 24"/>
          <p:cNvSpPr/>
          <p:nvPr/>
        </p:nvSpPr>
        <p:spPr>
          <a:xfrm>
            <a:off x="8046720" y="384048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28" name="Text 25"/>
          <p:cNvSpPr txBox="1"/>
          <p:nvPr/>
        </p:nvSpPr>
        <p:spPr>
          <a:xfrm>
            <a:off x="8321040" y="4114800"/>
            <a:ext cx="640080" cy="365760"/>
          </a:xfrm>
          <a:prstGeom prst="roundRect">
            <a:avLst>
              <a:gd name="adj" fmla="val 12500"/>
            </a:avLst>
          </a:prstGeom>
          <a:solidFill>
            <a:srgbClr val="0B1026"/>
          </a:solidFill>
          <a:ln w="9525">
            <a:solidFill>
              <a:srgbClr val="0B102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06</a:t>
            </a:r>
            <a:endParaRPr lang="en-US" sz="1300" dirty="0"/>
          </a:p>
        </p:txBody>
      </p:sp>
      <p:sp>
        <p:nvSpPr>
          <p:cNvPr id="29" name="Text 26"/>
          <p:cNvSpPr txBox="1"/>
          <p:nvPr/>
        </p:nvSpPr>
        <p:spPr>
          <a:xfrm>
            <a:off x="8321040" y="466344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Parallel matching</a:t>
            </a:r>
            <a:endParaRPr lang="en-US" sz="1700" dirty="0"/>
          </a:p>
        </p:txBody>
      </p:sp>
      <p:sp>
        <p:nvSpPr>
          <p:cNvPr id="30" name="Text 27"/>
          <p:cNvSpPr txBox="1"/>
          <p:nvPr/>
        </p:nvSpPr>
        <p:spPr>
          <a:xfrm>
            <a:off x="8321040" y="5074920"/>
            <a:ext cx="3063240" cy="9144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Split large texts across threads for Aho-Corasick and KMP</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026"/>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marL="0" indent="0">
              <a:buNone/>
            </a:pPr>
            <a:r>
              <a:rPr lang="en-US" sz="1200" b="1" kern="0" spc="300" dirty="0">
                <a:solidFill>
                  <a:srgbClr val="F59E0B"/>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548640" y="731520"/>
            <a:ext cx="11064240" cy="68580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A verified algorithm engine, running in a real product</a:t>
            </a:r>
            <a:endParaRPr lang="en-US" sz="3200" dirty="0"/>
          </a:p>
        </p:txBody>
      </p:sp>
      <p:sp>
        <p:nvSpPr>
          <p:cNvPr id="4" name="Shape 2"/>
          <p:cNvSpPr/>
          <p:nvPr/>
        </p:nvSpPr>
        <p:spPr>
          <a:xfrm>
            <a:off x="548640" y="1783080"/>
            <a:ext cx="2633472" cy="1600200"/>
          </a:xfrm>
          <a:prstGeom prst="roundRect">
            <a:avLst>
              <a:gd name="adj" fmla="val 5714"/>
            </a:avLst>
          </a:prstGeom>
          <a:solidFill>
            <a:srgbClr val="161D3F"/>
          </a:solidFill>
          <a:ln w="12700">
            <a:solidFill>
              <a:srgbClr val="2C3566"/>
            </a:solidFill>
            <a:prstDash val="solid"/>
          </a:ln>
        </p:spPr>
        <p:txBody>
          <a:bodyPr/>
          <a:lstStyle/>
          <a:p>
            <a:endParaRPr lang="en-IN"/>
          </a:p>
        </p:txBody>
      </p:sp>
      <p:sp>
        <p:nvSpPr>
          <p:cNvPr id="5" name="Text 3"/>
          <p:cNvSpPr txBox="1"/>
          <p:nvPr/>
        </p:nvSpPr>
        <p:spPr>
          <a:xfrm>
            <a:off x="822960" y="1920240"/>
            <a:ext cx="2194560" cy="822960"/>
          </a:xfrm>
          <a:prstGeom prst="rect">
            <a:avLst/>
          </a:prstGeom>
          <a:noFill/>
          <a:ln/>
        </p:spPr>
        <p:txBody>
          <a:bodyPr wrap="square" lIns="0" tIns="0" rIns="0" bIns="0" rtlCol="0" anchor="t"/>
          <a:lstStyle/>
          <a:p>
            <a:pPr marL="0" indent="0">
              <a:buNone/>
            </a:pPr>
            <a:r>
              <a:rPr lang="en-US" sz="4400" b="1" dirty="0">
                <a:solidFill>
                  <a:srgbClr val="F59E0B"/>
                </a:solidFill>
                <a:latin typeface="Calibri" pitchFamily="34" charset="0"/>
                <a:ea typeface="Calibri" pitchFamily="34" charset="-122"/>
                <a:cs typeface="Calibri" pitchFamily="34" charset="-120"/>
              </a:rPr>
              <a:t>20</a:t>
            </a:r>
            <a:endParaRPr lang="en-US" sz="4400" dirty="0"/>
          </a:p>
        </p:txBody>
      </p:sp>
      <p:sp>
        <p:nvSpPr>
          <p:cNvPr id="6" name="Text 4"/>
          <p:cNvSpPr txBox="1"/>
          <p:nvPr/>
        </p:nvSpPr>
        <p:spPr>
          <a:xfrm>
            <a:off x="822960" y="2743200"/>
            <a:ext cx="2194560" cy="457200"/>
          </a:xfrm>
          <a:prstGeom prst="rect">
            <a:avLst/>
          </a:prstGeom>
          <a:noFill/>
          <a:ln/>
        </p:spPr>
        <p:txBody>
          <a:bodyPr wrap="square" lIns="0" tIns="0" rIns="0" bIns="0" rtlCol="0" anchor="t"/>
          <a:lstStyle/>
          <a:p>
            <a:pPr marL="0" indent="0">
              <a:buNone/>
            </a:pPr>
            <a:r>
              <a:rPr lang="en-US" sz="1500" dirty="0">
                <a:solidFill>
                  <a:srgbClr val="C9CEE3"/>
                </a:solidFill>
                <a:latin typeface="Calibri" pitchFamily="34" charset="0"/>
                <a:ea typeface="Calibri" pitchFamily="34" charset="-122"/>
                <a:cs typeface="Calibri" pitchFamily="34" charset="-120"/>
              </a:rPr>
              <a:t>algorithms, from scratch</a:t>
            </a:r>
            <a:endParaRPr lang="en-US" sz="1500" dirty="0"/>
          </a:p>
        </p:txBody>
      </p:sp>
      <p:sp>
        <p:nvSpPr>
          <p:cNvPr id="7" name="Shape 5"/>
          <p:cNvSpPr/>
          <p:nvPr/>
        </p:nvSpPr>
        <p:spPr>
          <a:xfrm>
            <a:off x="3364992" y="1783080"/>
            <a:ext cx="2633472" cy="1600200"/>
          </a:xfrm>
          <a:prstGeom prst="roundRect">
            <a:avLst>
              <a:gd name="adj" fmla="val 5714"/>
            </a:avLst>
          </a:prstGeom>
          <a:solidFill>
            <a:srgbClr val="161D3F"/>
          </a:solidFill>
          <a:ln w="12700">
            <a:solidFill>
              <a:srgbClr val="2C3566"/>
            </a:solidFill>
            <a:prstDash val="solid"/>
          </a:ln>
        </p:spPr>
        <p:txBody>
          <a:bodyPr/>
          <a:lstStyle/>
          <a:p>
            <a:endParaRPr lang="en-IN"/>
          </a:p>
        </p:txBody>
      </p:sp>
      <p:sp>
        <p:nvSpPr>
          <p:cNvPr id="8" name="Text 6"/>
          <p:cNvSpPr txBox="1"/>
          <p:nvPr/>
        </p:nvSpPr>
        <p:spPr>
          <a:xfrm>
            <a:off x="3639312" y="1920240"/>
            <a:ext cx="2194560" cy="822960"/>
          </a:xfrm>
          <a:prstGeom prst="rect">
            <a:avLst/>
          </a:prstGeom>
          <a:noFill/>
          <a:ln/>
        </p:spPr>
        <p:txBody>
          <a:bodyPr wrap="square" lIns="0" tIns="0" rIns="0" bIns="0" rtlCol="0" anchor="t"/>
          <a:lstStyle/>
          <a:p>
            <a:pPr marL="0" indent="0">
              <a:buNone/>
            </a:pPr>
            <a:r>
              <a:rPr lang="en-US" sz="4400" b="1" dirty="0">
                <a:solidFill>
                  <a:srgbClr val="F59E0B"/>
                </a:solidFill>
                <a:latin typeface="Calibri" pitchFamily="34" charset="0"/>
                <a:ea typeface="Calibri" pitchFamily="34" charset="-122"/>
                <a:cs typeface="Calibri" pitchFamily="34" charset="-120"/>
              </a:rPr>
              <a:t>452</a:t>
            </a:r>
            <a:endParaRPr lang="en-US" sz="4400" dirty="0"/>
          </a:p>
        </p:txBody>
      </p:sp>
      <p:sp>
        <p:nvSpPr>
          <p:cNvPr id="9" name="Text 7"/>
          <p:cNvSpPr txBox="1"/>
          <p:nvPr/>
        </p:nvSpPr>
        <p:spPr>
          <a:xfrm>
            <a:off x="3639312" y="2743200"/>
            <a:ext cx="2194560" cy="457200"/>
          </a:xfrm>
          <a:prstGeom prst="rect">
            <a:avLst/>
          </a:prstGeom>
          <a:noFill/>
          <a:ln/>
        </p:spPr>
        <p:txBody>
          <a:bodyPr wrap="square" lIns="0" tIns="0" rIns="0" bIns="0" rtlCol="0" anchor="t"/>
          <a:lstStyle/>
          <a:p>
            <a:pPr marL="0" indent="0">
              <a:buNone/>
            </a:pPr>
            <a:r>
              <a:rPr lang="en-US" sz="1500" dirty="0">
                <a:solidFill>
                  <a:srgbClr val="C9CEE3"/>
                </a:solidFill>
                <a:latin typeface="Calibri" pitchFamily="34" charset="0"/>
                <a:ea typeface="Calibri" pitchFamily="34" charset="-122"/>
                <a:cs typeface="Calibri" pitchFamily="34" charset="-120"/>
              </a:rPr>
              <a:t>assertions, 0 failures</a:t>
            </a:r>
            <a:endParaRPr lang="en-US" sz="1500" dirty="0"/>
          </a:p>
        </p:txBody>
      </p:sp>
      <p:sp>
        <p:nvSpPr>
          <p:cNvPr id="10" name="Shape 8"/>
          <p:cNvSpPr/>
          <p:nvPr/>
        </p:nvSpPr>
        <p:spPr>
          <a:xfrm>
            <a:off x="6181344" y="1783080"/>
            <a:ext cx="2633472" cy="1600200"/>
          </a:xfrm>
          <a:prstGeom prst="roundRect">
            <a:avLst>
              <a:gd name="adj" fmla="val 5714"/>
            </a:avLst>
          </a:prstGeom>
          <a:solidFill>
            <a:srgbClr val="161D3F"/>
          </a:solidFill>
          <a:ln w="12700">
            <a:solidFill>
              <a:srgbClr val="2C3566"/>
            </a:solidFill>
            <a:prstDash val="solid"/>
          </a:ln>
        </p:spPr>
        <p:txBody>
          <a:bodyPr/>
          <a:lstStyle/>
          <a:p>
            <a:endParaRPr lang="en-IN"/>
          </a:p>
        </p:txBody>
      </p:sp>
      <p:sp>
        <p:nvSpPr>
          <p:cNvPr id="11" name="Text 9"/>
          <p:cNvSpPr txBox="1"/>
          <p:nvPr/>
        </p:nvSpPr>
        <p:spPr>
          <a:xfrm>
            <a:off x="6455664" y="1920240"/>
            <a:ext cx="2194560" cy="822960"/>
          </a:xfrm>
          <a:prstGeom prst="rect">
            <a:avLst/>
          </a:prstGeom>
          <a:noFill/>
          <a:ln/>
        </p:spPr>
        <p:txBody>
          <a:bodyPr wrap="square" lIns="0" tIns="0" rIns="0" bIns="0" rtlCol="0" anchor="t"/>
          <a:lstStyle/>
          <a:p>
            <a:pPr marL="0" indent="0">
              <a:buNone/>
            </a:pPr>
            <a:r>
              <a:rPr lang="en-US" sz="4400" b="1" dirty="0">
                <a:solidFill>
                  <a:srgbClr val="F59E0B"/>
                </a:solidFill>
                <a:latin typeface="Calibri" pitchFamily="34" charset="0"/>
                <a:ea typeface="Calibri" pitchFamily="34" charset="-122"/>
                <a:cs typeface="Calibri" pitchFamily="34" charset="-120"/>
              </a:rPr>
              <a:t>22</a:t>
            </a:r>
            <a:endParaRPr lang="en-US" sz="4400" dirty="0"/>
          </a:p>
        </p:txBody>
      </p:sp>
      <p:sp>
        <p:nvSpPr>
          <p:cNvPr id="12" name="Text 10"/>
          <p:cNvSpPr txBox="1"/>
          <p:nvPr/>
        </p:nvSpPr>
        <p:spPr>
          <a:xfrm>
            <a:off x="6455664" y="2743200"/>
            <a:ext cx="2194560" cy="457200"/>
          </a:xfrm>
          <a:prstGeom prst="rect">
            <a:avLst/>
          </a:prstGeom>
          <a:noFill/>
          <a:ln/>
        </p:spPr>
        <p:txBody>
          <a:bodyPr wrap="square" lIns="0" tIns="0" rIns="0" bIns="0" rtlCol="0" anchor="t"/>
          <a:lstStyle/>
          <a:p>
            <a:pPr marL="0" indent="0">
              <a:buNone/>
            </a:pPr>
            <a:r>
              <a:rPr lang="en-US" sz="1500" dirty="0">
                <a:solidFill>
                  <a:srgbClr val="C9CEE3"/>
                </a:solidFill>
                <a:latin typeface="Calibri" pitchFamily="34" charset="0"/>
                <a:ea typeface="Calibri" pitchFamily="34" charset="-122"/>
                <a:cs typeface="Calibri" pitchFamily="34" charset="-120"/>
              </a:rPr>
              <a:t>complexity entries</a:t>
            </a:r>
            <a:endParaRPr lang="en-US" sz="1500" dirty="0"/>
          </a:p>
        </p:txBody>
      </p:sp>
      <p:sp>
        <p:nvSpPr>
          <p:cNvPr id="13" name="Shape 11"/>
          <p:cNvSpPr/>
          <p:nvPr/>
        </p:nvSpPr>
        <p:spPr>
          <a:xfrm>
            <a:off x="8997696" y="1783080"/>
            <a:ext cx="2633472" cy="1600200"/>
          </a:xfrm>
          <a:prstGeom prst="roundRect">
            <a:avLst>
              <a:gd name="adj" fmla="val 5714"/>
            </a:avLst>
          </a:prstGeom>
          <a:solidFill>
            <a:srgbClr val="161D3F"/>
          </a:solidFill>
          <a:ln w="12700">
            <a:solidFill>
              <a:srgbClr val="2C3566"/>
            </a:solidFill>
            <a:prstDash val="solid"/>
          </a:ln>
        </p:spPr>
        <p:txBody>
          <a:bodyPr/>
          <a:lstStyle/>
          <a:p>
            <a:endParaRPr lang="en-IN"/>
          </a:p>
        </p:txBody>
      </p:sp>
      <p:sp>
        <p:nvSpPr>
          <p:cNvPr id="14" name="Text 12"/>
          <p:cNvSpPr txBox="1"/>
          <p:nvPr/>
        </p:nvSpPr>
        <p:spPr>
          <a:xfrm>
            <a:off x="9272016" y="1920240"/>
            <a:ext cx="2194560" cy="822960"/>
          </a:xfrm>
          <a:prstGeom prst="rect">
            <a:avLst/>
          </a:prstGeom>
          <a:noFill/>
          <a:ln/>
        </p:spPr>
        <p:txBody>
          <a:bodyPr wrap="square" lIns="0" tIns="0" rIns="0" bIns="0" rtlCol="0" anchor="t"/>
          <a:lstStyle/>
          <a:p>
            <a:pPr marL="0" indent="0">
              <a:buNone/>
            </a:pPr>
            <a:r>
              <a:rPr lang="en-US" sz="4400" b="1" dirty="0">
                <a:solidFill>
                  <a:srgbClr val="F59E0B"/>
                </a:solidFill>
                <a:latin typeface="Calibri" pitchFamily="34" charset="0"/>
                <a:ea typeface="Calibri" pitchFamily="34" charset="-122"/>
                <a:cs typeface="Calibri" pitchFamily="34" charset="-120"/>
              </a:rPr>
              <a:t>13×</a:t>
            </a:r>
            <a:endParaRPr lang="en-US" sz="4400" dirty="0"/>
          </a:p>
        </p:txBody>
      </p:sp>
      <p:sp>
        <p:nvSpPr>
          <p:cNvPr id="15" name="Text 13"/>
          <p:cNvSpPr txBox="1"/>
          <p:nvPr/>
        </p:nvSpPr>
        <p:spPr>
          <a:xfrm>
            <a:off x="9272016" y="2743200"/>
            <a:ext cx="2194560" cy="457200"/>
          </a:xfrm>
          <a:prstGeom prst="rect">
            <a:avLst/>
          </a:prstGeom>
          <a:noFill/>
          <a:ln/>
        </p:spPr>
        <p:txBody>
          <a:bodyPr wrap="square" lIns="0" tIns="0" rIns="0" bIns="0" rtlCol="0" anchor="t"/>
          <a:lstStyle/>
          <a:p>
            <a:pPr marL="0" indent="0">
              <a:buNone/>
            </a:pPr>
            <a:r>
              <a:rPr lang="en-US" sz="1500" dirty="0">
                <a:solidFill>
                  <a:srgbClr val="C9CEE3"/>
                </a:solidFill>
                <a:latin typeface="Calibri" pitchFamily="34" charset="0"/>
                <a:ea typeface="Calibri" pitchFamily="34" charset="-122"/>
                <a:cs typeface="Calibri" pitchFamily="34" charset="-120"/>
              </a:rPr>
              <a:t>KMP vs naive, worst case</a:t>
            </a:r>
            <a:endParaRPr lang="en-US" sz="1500" dirty="0"/>
          </a:p>
        </p:txBody>
      </p:sp>
      <p:sp>
        <p:nvSpPr>
          <p:cNvPr id="16" name="Text 14"/>
          <p:cNvSpPr txBox="1"/>
          <p:nvPr/>
        </p:nvSpPr>
        <p:spPr>
          <a:xfrm>
            <a:off x="548640" y="3749040"/>
            <a:ext cx="11064240" cy="2377440"/>
          </a:xfrm>
          <a:prstGeom prst="rect">
            <a:avLst/>
          </a:prstGeom>
          <a:noFill/>
          <a:ln/>
        </p:spPr>
        <p:txBody>
          <a:bodyPr wrap="square" lIns="0" tIns="0" rIns="0" bIns="0" rtlCol="0" anchor="t"/>
          <a:lstStyle/>
          <a:p>
            <a:pPr marL="342900" indent="-342900">
              <a:spcAft>
                <a:spcPts val="700"/>
              </a:spcAft>
              <a:buSzPct val="100000"/>
              <a:buChar char="•"/>
            </a:pPr>
            <a:r>
              <a:rPr lang="en-US" sz="1700" dirty="0">
                <a:solidFill>
                  <a:srgbClr val="FFFFFF"/>
                </a:solidFill>
                <a:latin typeface="Calibri" pitchFamily="34" charset="0"/>
                <a:ea typeface="Calibri" pitchFamily="34" charset="-122"/>
                <a:cs typeface="Calibri" pitchFamily="34" charset="-120"/>
              </a:rPr>
              <a:t>Implemented string, DP, flow, approximation and randomized algorithms with no library shortcuts</a:t>
            </a:r>
            <a:endParaRPr lang="en-US" sz="1700" dirty="0"/>
          </a:p>
          <a:p>
            <a:pPr marL="342900" indent="-342900">
              <a:spcAft>
                <a:spcPts val="700"/>
              </a:spcAft>
              <a:buSzPct val="100000"/>
              <a:buChar char="•"/>
            </a:pPr>
            <a:r>
              <a:rPr lang="en-US" sz="1700" dirty="0">
                <a:solidFill>
                  <a:srgbClr val="FFFFFF"/>
                </a:solidFill>
                <a:latin typeface="Calibri" pitchFamily="34" charset="0"/>
                <a:ea typeface="Calibri" pitchFamily="34" charset="-122"/>
                <a:cs typeface="Calibri" pitchFamily="34" charset="-120"/>
              </a:rPr>
              <a:t>Proved them with cross-validation against references, adversarial inputs and theorems-as-tests</a:t>
            </a:r>
            <a:endParaRPr lang="en-US" sz="1700" dirty="0"/>
          </a:p>
          <a:p>
            <a:pPr marL="342900" indent="-342900">
              <a:spcAft>
                <a:spcPts val="700"/>
              </a:spcAft>
              <a:buSzPct val="100000"/>
              <a:buChar char="•"/>
            </a:pPr>
            <a:r>
              <a:rPr lang="en-US" sz="1700" dirty="0">
                <a:solidFill>
                  <a:srgbClr val="FFFFFF"/>
                </a:solidFill>
                <a:latin typeface="Calibri" pitchFamily="34" charset="0"/>
                <a:ea typeface="Calibri" pitchFamily="34" charset="-122"/>
                <a:cs typeface="Calibri" pitchFamily="34" charset="-120"/>
              </a:rPr>
              <a:t>Confirmed their complexity with benchmarks, and documented every bound</a:t>
            </a:r>
            <a:endParaRPr lang="en-US" sz="1700" dirty="0"/>
          </a:p>
          <a:p>
            <a:pPr marL="342900" indent="-342900">
              <a:spcAft>
                <a:spcPts val="700"/>
              </a:spcAft>
              <a:buSzPct val="100000"/>
              <a:buChar char="•"/>
            </a:pPr>
            <a:r>
              <a:rPr lang="en-US" sz="1700" dirty="0">
                <a:solidFill>
                  <a:srgbClr val="FFFFFF"/>
                </a:solidFill>
                <a:latin typeface="Calibri" pitchFamily="34" charset="0"/>
                <a:ea typeface="Calibri" pitchFamily="34" charset="-122"/>
                <a:cs typeface="Calibri" pitchFamily="34" charset="-120"/>
              </a:rPr>
              <a:t>Made the platform's search typo-tolerant and fast for many terms, and gave users a workbench to explore the algorithms</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REFERENCES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Research papers, books and resources</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28</a:t>
            </a:r>
            <a:endParaRPr lang="en-US" sz="1000" dirty="0"/>
          </a:p>
        </p:txBody>
      </p:sp>
      <p:sp>
        <p:nvSpPr>
          <p:cNvPr id="7" name="Text 4"/>
          <p:cNvSpPr txBox="1"/>
          <p:nvPr/>
        </p:nvSpPr>
        <p:spPr>
          <a:xfrm>
            <a:off x="548640" y="1325880"/>
            <a:ext cx="5440680" cy="4983480"/>
          </a:xfrm>
          <a:prstGeom prst="rect">
            <a:avLst/>
          </a:prstGeom>
          <a:noFill/>
          <a:ln/>
        </p:spPr>
        <p:txBody>
          <a:bodyPr wrap="square" lIns="0" tIns="0" rIns="0" bIns="0" rtlCol="0" anchor="t"/>
          <a:lstStyle/>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D. E. Knuth, J. H. Morris, V. R. Pratt, "Fast pattern matching in strings," SIAM J. Computing, 6(2), 1977.</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A. V. Aho, M. J. Corasick, "Efficient string matching: an aid to bibliographic search," Comm. ACM, 18(6), 1975.</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R. M. Karp, M. O. Rabin, "Efficient randomized pattern-matching algorithms," IBM J. Research and Development, 31(2), 1987.</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U. Manber, G. Myers, "Suffix arrays: a new method for on-line string searches," SIAM J. Computing, 22(5), 1993.</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T. Kasai et al., "Linear-time longest-common-prefix computation in suffix arrays and its applications," CPM, 2001.</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V. I. Levenshtein, "Binary codes capable of correcting deletions, insertions, and reversals," Soviet Physics Doklady, 10(8), 1966.</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F. J. Damerau, "A technique for computer detection and correction of spelling errors," Comm. ACM, 7(3), 1964.</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S. B. Needleman, C. D. Wunsch, "A general method applicable to the search for similarities in the amino acid sequence of two proteins," J. Molecular Biology, 48(3), 1970.</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T. F. Smith, M. S. Waterman, "Identification of common molecular subsequences," J. Molecular Biology, 147(1), 1981.</a:t>
            </a:r>
            <a:endParaRPr lang="en-US" sz="1150" dirty="0"/>
          </a:p>
        </p:txBody>
      </p:sp>
      <p:sp>
        <p:nvSpPr>
          <p:cNvPr id="8" name="Text 5"/>
          <p:cNvSpPr txBox="1"/>
          <p:nvPr/>
        </p:nvSpPr>
        <p:spPr>
          <a:xfrm>
            <a:off x="6199632" y="1325880"/>
            <a:ext cx="5440680" cy="4983480"/>
          </a:xfrm>
          <a:prstGeom prst="rect">
            <a:avLst/>
          </a:prstGeom>
          <a:noFill/>
          <a:ln/>
        </p:spPr>
        <p:txBody>
          <a:bodyPr wrap="square" lIns="0" tIns="0" rIns="0" bIns="0" rtlCol="0" anchor="t"/>
          <a:lstStyle/>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L. R. Ford, D. R. Fulkerson, "Maximal flow through a network," Canadian J. Mathematics, 8, 1956.</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J. Edmonds, R. M. Karp, "Theoretical improvements in algorithmic efficiency for network flow problems," J. ACM, 19(2), 1972.</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E. A. Dinic, "Algorithm for solution of a problem of maximum flow in networks with power estimation," Soviet Math. Doklady, 11, 1970.</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H. W. Kuhn, "The Hungarian method for the assignment problem," Naval Research Logistics Quarterly, 2, 1955.</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R. L. Graham, "Bounds for certain multiprocessing anomalies," Bell System Technical J., 45(9), 1966; "Bounds on multiprocessing timing anomalies," SIAM J. Applied Mathematics, 17(2), 1969.</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G. L. Miller, "Riemann's hypothesis and tests for primality," J. Computer and System Sciences, 13(3), 1976; M. O. Rabin, "Probabilistic algorithm for testing primality," J. Number Theory, 12(1), 1980.</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J. L. Carter, M. N. Wegman, "Universal classes of hash functions," J. Computer and System Sciences, 18(2), 1979.</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J. S. Vitter, "Random sampling with a reservoir," ACM Trans. Mathematical Software, 11(1), 1985.</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T. H. Cormen, C. E. Leiserson, R. L. Rivest, C. Stein, Introduction to Algorithms, 4th ed., MIT Press, 2022.  D. Gusfield, Algorithms on Strings, Trees, and Sequences, Cambridge Univ. Press, 1997.</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026"/>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5486400" cy="320040"/>
          </a:xfrm>
          <a:prstGeom prst="rect">
            <a:avLst/>
          </a:prstGeom>
          <a:noFill/>
          <a:ln/>
        </p:spPr>
        <p:txBody>
          <a:bodyPr wrap="square" lIns="0" tIns="0" rIns="0" bIns="0" rtlCol="0" anchor="t"/>
          <a:lstStyle/>
          <a:p>
            <a:pPr marL="0" indent="0">
              <a:buNone/>
            </a:pPr>
            <a:r>
              <a:rPr lang="en-US" sz="1600" b="1" dirty="0">
                <a:solidFill>
                  <a:srgbClr val="F59E0B"/>
                </a:solidFill>
                <a:latin typeface="Consolas" pitchFamily="34" charset="0"/>
                <a:ea typeface="Consolas" pitchFamily="34" charset="-122"/>
                <a:cs typeface="Consolas" pitchFamily="34" charset="-120"/>
              </a:rPr>
              <a:t>TextHack&gt; prime 7919</a:t>
            </a:r>
            <a:endParaRPr lang="en-US" sz="1600" dirty="0"/>
          </a:p>
        </p:txBody>
      </p:sp>
      <p:sp>
        <p:nvSpPr>
          <p:cNvPr id="3" name="Text 1"/>
          <p:cNvSpPr txBox="1"/>
          <p:nvPr/>
        </p:nvSpPr>
        <p:spPr>
          <a:xfrm>
            <a:off x="640080" y="868680"/>
            <a:ext cx="5486400" cy="320040"/>
          </a:xfrm>
          <a:prstGeom prst="rect">
            <a:avLst/>
          </a:prstGeom>
          <a:noFill/>
          <a:ln/>
        </p:spPr>
        <p:txBody>
          <a:bodyPr wrap="square" lIns="0" tIns="0" rIns="0" bIns="0" rtlCol="0" anchor="t"/>
          <a:lstStyle/>
          <a:p>
            <a:pPr marL="0" indent="0">
              <a:buNone/>
            </a:pPr>
            <a:r>
              <a:rPr lang="en-US" sz="1600" dirty="0">
                <a:solidFill>
                  <a:srgbClr val="C9CEE3"/>
                </a:solidFill>
                <a:latin typeface="Consolas" pitchFamily="34" charset="0"/>
                <a:ea typeface="Consolas" pitchFamily="34" charset="-122"/>
                <a:cs typeface="Consolas" pitchFamily="34" charset="-120"/>
              </a:rPr>
              <a:t>  7919 is prime</a:t>
            </a:r>
            <a:endParaRPr lang="en-US" sz="1600" dirty="0"/>
          </a:p>
        </p:txBody>
      </p:sp>
      <p:sp>
        <p:nvSpPr>
          <p:cNvPr id="4" name="Text 2"/>
          <p:cNvSpPr txBox="1"/>
          <p:nvPr/>
        </p:nvSpPr>
        <p:spPr>
          <a:xfrm>
            <a:off x="640080" y="2194560"/>
            <a:ext cx="10972800" cy="1005840"/>
          </a:xfrm>
          <a:prstGeom prst="rect">
            <a:avLst/>
          </a:prstGeom>
          <a:noFill/>
          <a:ln/>
        </p:spPr>
        <p:txBody>
          <a:bodyPr wrap="square" lIns="0" tIns="0" rIns="0" bIns="0" rtlCol="0" anchor="t"/>
          <a:lstStyle/>
          <a:p>
            <a:pPr marL="0" indent="0">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5" name="Text 3"/>
          <p:cNvSpPr txBox="1"/>
          <p:nvPr/>
        </p:nvSpPr>
        <p:spPr>
          <a:xfrm>
            <a:off x="640080" y="3246120"/>
            <a:ext cx="10972800" cy="548640"/>
          </a:xfrm>
          <a:prstGeom prst="rect">
            <a:avLst/>
          </a:prstGeom>
          <a:noFill/>
          <a:ln/>
        </p:spPr>
        <p:txBody>
          <a:bodyPr wrap="square" lIns="0" tIns="0" rIns="0" bIns="0" rtlCol="0" anchor="t"/>
          <a:lstStyle/>
          <a:p>
            <a:pPr marL="0" indent="0">
              <a:buNone/>
            </a:pPr>
            <a:r>
              <a:rPr lang="en-US" sz="2400" dirty="0">
                <a:solidFill>
                  <a:srgbClr val="C9CEE3"/>
                </a:solidFill>
                <a:latin typeface="Calibri" pitchFamily="34" charset="0"/>
                <a:ea typeface="Calibri" pitchFamily="34" charset="-122"/>
                <a:cs typeface="Calibri" pitchFamily="34" charset="-120"/>
              </a:rPr>
              <a:t>Questions and discussion</a:t>
            </a:r>
            <a:endParaRPr lang="en-US" sz="2400" dirty="0"/>
          </a:p>
        </p:txBody>
      </p:sp>
      <p:sp>
        <p:nvSpPr>
          <p:cNvPr id="6" name="Text 4"/>
          <p:cNvSpPr txBox="1"/>
          <p:nvPr/>
        </p:nvSpPr>
        <p:spPr>
          <a:xfrm>
            <a:off x="640080" y="5120640"/>
            <a:ext cx="10972800" cy="365760"/>
          </a:xfrm>
          <a:prstGeom prst="rect">
            <a:avLst/>
          </a:prstGeom>
          <a:noFill/>
          <a:ln/>
        </p:spPr>
        <p:txBody>
          <a:bodyPr wrap="square" lIns="0" tIns="0" rIns="0" bIns="0" rtlCol="0" anchor="t"/>
          <a:lstStyle/>
          <a:p>
            <a:pPr marL="0" indent="0">
              <a:buNone/>
            </a:pPr>
            <a:r>
              <a:rPr lang="en-US" sz="1600" b="1" dirty="0">
                <a:solidFill>
                  <a:srgbClr val="F59E0B"/>
                </a:solidFill>
                <a:latin typeface="Calibri" pitchFamily="34" charset="0"/>
                <a:ea typeface="Calibri" pitchFamily="34" charset="-122"/>
                <a:cs typeface="Calibri" pitchFamily="34" charset="-120"/>
              </a:rPr>
              <a:t>M. Sathya Krishna · Yashwanth · Aneeq · Abhinav      Guide: Dr. </a:t>
            </a:r>
            <a:r>
              <a:rPr lang="en-US" sz="1600" b="1">
                <a:solidFill>
                  <a:srgbClr val="F59E0B"/>
                </a:solidFill>
                <a:latin typeface="Calibri" pitchFamily="34" charset="0"/>
                <a:ea typeface="Calibri" pitchFamily="34" charset="-122"/>
                <a:cs typeface="Calibri" pitchFamily="34" charset="-120"/>
              </a:rPr>
              <a:t>P. Anitha</a:t>
            </a:r>
            <a:endParaRPr lang="en-US" sz="1600" dirty="0"/>
          </a:p>
        </p:txBody>
      </p:sp>
      <p:sp>
        <p:nvSpPr>
          <p:cNvPr id="7" name="Text 5"/>
          <p:cNvSpPr txBox="1"/>
          <p:nvPr/>
        </p:nvSpPr>
        <p:spPr>
          <a:xfrm>
            <a:off x="640080" y="5577840"/>
            <a:ext cx="10972800" cy="365760"/>
          </a:xfrm>
          <a:prstGeom prst="rect">
            <a:avLst/>
          </a:prstGeom>
          <a:noFill/>
          <a:ln/>
        </p:spPr>
        <p:txBody>
          <a:bodyPr wrap="square" lIns="0" tIns="0" rIns="0" bIns="0" rtlCol="0" anchor="t"/>
          <a:lstStyle/>
          <a:p>
            <a:pPr marL="0" indent="0">
              <a:buNone/>
            </a:pPr>
            <a:r>
              <a:rPr lang="en-US" sz="1500" dirty="0">
                <a:solidFill>
                  <a:srgbClr val="8C93B8"/>
                </a:solidFill>
                <a:latin typeface="Calibri" pitchFamily="34" charset="0"/>
                <a:ea typeface="Calibri" pitchFamily="34" charset="-122"/>
                <a:cs typeface="Calibri" pitchFamily="34" charset="-120"/>
              </a:rPr>
              <a:t>Department of Artificial Intelligence &amp; Data Science · KLH University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5082</Words>
  <Application>Microsoft Office PowerPoint</Application>
  <PresentationFormat>Widescreen</PresentationFormat>
  <Paragraphs>661</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TextHack: DSA-3 Review</dc:title>
  <dc:subject>PptxGenJS Presentation</dc:subject>
  <dc:creator>M. Sathya Krishna, Yashwanth, Aneeq, Abhinav</dc:creator>
  <cp:lastModifiedBy>Lucky 994</cp:lastModifiedBy>
  <cp:revision>3</cp:revision>
  <dcterms:created xsi:type="dcterms:W3CDTF">2026-09-29T09:45:40Z</dcterms:created>
  <dcterms:modified xsi:type="dcterms:W3CDTF">2026-10-07T05:10:01Z</dcterms:modified>
</cp:coreProperties>
</file>