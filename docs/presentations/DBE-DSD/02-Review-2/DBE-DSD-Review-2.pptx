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faculty. My project is Enterprise Knowledge Intelligence Platform, or EKIP. It combines secure access control, flexible knowledge storage, and semantic search so that enterprise knowledge can be found by meaning while still respecting user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review, I will first explain the project problem. Then I will discuss the literature review, including the newly added related papers. After that I will explain the research gaps, proposed architecture, methodology, and evaluation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 problem is that knowledge exists, but it is difficult to find. Keyword search only checks words. In enterprise systems, security is also important because every user should only see authorized content. EKIP solves this using semantic search plus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relational-only design gives structure but is too rigid for many documents. A wiki or document system stores content flexibly but usually cannot search by meaning and may have weak permissions. Our project combines these strengths in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storage literature. Relational databases are good for structured data like users and permissions. Document databases are better for flexible articles. Polyglot persistence says that we can combine specialized databases, but then we must manage integration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search means search by meaning. Sentence-BERT creates embeddings. HNSW searches those embeddings quickly. RAG uses retrieved information as context. This motivates why EKIP uses a vector store for semantic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security is part of the literature review. RBAC decides what each role can access. OAuth secures authorization. JWT carries user identity and role claims in API requests. In EKIP, search results are filtered using permissions before the response is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added three more papers. The first is FACTS about building enterprise RAG chatbots, which is close to our project because it talks about vector databases, access control, security and latency. The second paper focuses on enterprise RAG evaluation. The third paper is about secure enterprise search, which directly supports our permission-filtering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critical analysis, I should not just list papers. I should compare them. Storage solves data management, retrieval solves semantic matching, and security solves authorization. But none of them alone gives a complete governed enterprise knowledge platform. That is the space EKIP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gaps are easy to remember as governance, permission, linking, and evaluation. The most important gap is G2: semantic search may find a relevant document, but we must check user permissions before returning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architecture slide. The client sends requests to the API gateway. The services manage authentication, document repository, semantic search, embeddings and audit logs. PostgreSQL stores structured users and permissions. MongoDB stores the actual documents. The vector store contains embeddings. A canonical UUID connects the same document across all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modules show how the project can be implemented. User management handles roles and authentication. Repository management handles document operations. Search handles semantic retrieval. The API module exposes secure endpoints. Deployment and testing make the system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implementation, PostgreSQL is used for structured data and permissions, MongoDB for flexible knowledge documents, and a vector database for embeddings. The backend can be Node.js or FastAPI, and authentication uses JWT and OAuth.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is simple. The user sends a query with a JWT. The gateway verifies the token. The search service converts the query to an embedding and searches the vector database. Then permissions are checked using PostgreSQL. Only documents the user is allowed to access are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DSA or DBMS review, explain that our project uses database tables and indexes, document structures, vector embeddings, and HNSW graph search. So it is not only an application; it also uses data structures and algorithms for efficient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measure both search quality and system quality. Precision and recall evaluate retrieval. Latency and throughput evaluate performance. Access compliance is critical: every returned document must be checked against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EKIP combines secure access, flexible storage and semantic search. The future work is to add RAG-based Q&amp;A, connectors to enterprise systems, feedback-based ranking, and a large-scale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used in the deck. I should not call all of them papers. Some are books and standards. The key research papers are Sentence-BERT, HNSW, RAG, FACTS, Enterprise RAG evaluation, and secure enterprise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ready to answer questions about the literature review, gap analysis, architecture, or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A"/>
        </a:solidFill>
      </p:bgPr>
    </p:bg>
    <p:spTree>
      <p:nvGrpSpPr>
        <p:cNvPr id="1" name=""/>
        <p:cNvGrpSpPr/>
        <p:nvPr/>
      </p:nvGrpSpPr>
      <p:grpSpPr>
        <a:xfrm>
          <a:off x="0" y="0"/>
          <a:ext cx="0" cy="0"/>
          <a:chOff x="0" y="0"/>
          <a:chExt cx="0" cy="0"/>
        </a:xfrm>
      </p:grpSpPr>
      <p:sp>
        <p:nvSpPr>
          <p:cNvPr id="2" name="Shape 0"/>
          <p:cNvSpPr/>
          <p:nvPr/>
        </p:nvSpPr>
        <p:spPr>
          <a:xfrm rot="600000">
            <a:off x="10104120" y="502920"/>
            <a:ext cx="1600200" cy="1600200"/>
          </a:xfrm>
          <a:prstGeom prst="arc">
            <a:avLst/>
          </a:prstGeom>
          <a:solidFill>
            <a:srgbClr val="1D4ED8">
              <a:alpha val="88000"/>
            </a:srgbClr>
          </a:solidFill>
          <a:ln w="12700">
            <a:solidFill>
              <a:srgbClr val="1D4ED8">
                <a:alpha val="0"/>
              </a:srgbClr>
            </a:solidFill>
            <a:prstDash val="solid"/>
          </a:ln>
        </p:spPr>
      </p:sp>
      <p:sp>
        <p:nvSpPr>
          <p:cNvPr id="3" name="Shape 1"/>
          <p:cNvSpPr/>
          <p:nvPr/>
        </p:nvSpPr>
        <p:spPr>
          <a:xfrm>
            <a:off x="8458200" y="3886200"/>
            <a:ext cx="2148840" cy="2148840"/>
          </a:xfrm>
          <a:prstGeom prst="ellipse">
            <a:avLst/>
          </a:prstGeom>
          <a:solidFill>
            <a:srgbClr val="0EA5E9">
              <a:alpha val="80000"/>
            </a:srgbClr>
          </a:solidFill>
          <a:ln w="12700">
            <a:solidFill>
              <a:srgbClr val="0EA5E9">
                <a:alpha val="0"/>
              </a:srgbClr>
            </a:solidFill>
            <a:prstDash val="solid"/>
          </a:ln>
        </p:spPr>
      </p:sp>
      <p:sp>
        <p:nvSpPr>
          <p:cNvPr id="4" name="Text 2"/>
          <p:cNvSpPr/>
          <p:nvPr/>
        </p:nvSpPr>
        <p:spPr>
          <a:xfrm>
            <a:off x="713232" y="694944"/>
            <a:ext cx="1600200" cy="347472"/>
          </a:xfrm>
          <a:prstGeom prst="roundRect">
            <a:avLst>
              <a:gd name="adj" fmla="val 21053"/>
            </a:avLst>
          </a:prstGeom>
          <a:solidFill>
            <a:srgbClr val="2563EB"/>
          </a:solidFill>
          <a:ln>
            <a:solidFill>
              <a:srgbClr val="2563EB">
                <a:alpha val="0"/>
              </a:srgbClr>
            </a:solidFill>
          </a:ln>
        </p:spPr>
        <p:txBody>
          <a:bodyPr wrap="square" lIns="635" tIns="635" rIns="635" bIns="635" rtlCol="0" anchor="ctr">
            <a:normAutofit/>
          </a:bodyPr>
          <a:lstStyle/>
          <a:p>
            <a:pPr algn="ctr" indent="0" marL="0">
              <a:buNone/>
            </a:pPr>
            <a:r>
              <a:rPr lang="en-US" sz="1050" b="1" dirty="0">
                <a:solidFill>
                  <a:srgbClr val="FFFFFF"/>
                </a:solidFill>
              </a:rPr>
              <a:t>PROJECT REVIEW 2</a:t>
            </a:r>
            <a:endParaRPr lang="en-US" sz="1050" dirty="0"/>
          </a:p>
        </p:txBody>
      </p:sp>
      <p:sp>
        <p:nvSpPr>
          <p:cNvPr id="5" name="Text 3"/>
          <p:cNvSpPr/>
          <p:nvPr/>
        </p:nvSpPr>
        <p:spPr>
          <a:xfrm>
            <a:off x="713232" y="1417320"/>
            <a:ext cx="7772400" cy="1234440"/>
          </a:xfrm>
          <a:prstGeom prst="rect">
            <a:avLst/>
          </a:prstGeom>
          <a:noFill/>
          <a:ln/>
        </p:spPr>
        <p:txBody>
          <a:bodyPr wrap="square" lIns="0" tIns="0" rIns="0" bIns="0" rtlCol="0" anchor="ctr">
            <a:normAutofit/>
          </a:bodyPr>
          <a:lstStyle/>
          <a:p>
            <a:pPr indent="0" marL="0">
              <a:buNone/>
            </a:pPr>
            <a:r>
              <a:rPr lang="en-US" sz="4100" b="1" dirty="0">
                <a:solidFill>
                  <a:srgbClr val="FFFFFF"/>
                </a:solidFill>
                <a:latin typeface="Aptos Display" pitchFamily="34" charset="0"/>
                <a:ea typeface="Aptos Display" pitchFamily="34" charset="-122"/>
                <a:cs typeface="Aptos Display" pitchFamily="34" charset="-120"/>
              </a:rPr>
              <a:t>Enterprise Knowledge</a:t>
            </a:r>
            <a:endParaRPr lang="en-US" sz="4100" dirty="0"/>
          </a:p>
          <a:p>
            <a:pPr indent="0" marL="0">
              <a:buNone/>
            </a:pPr>
            <a:r>
              <a:rPr lang="en-US" sz="4100" b="1" dirty="0">
                <a:solidFill>
                  <a:srgbClr val="FFFFFF"/>
                </a:solidFill>
                <a:latin typeface="Aptos Display" pitchFamily="34" charset="0"/>
                <a:ea typeface="Aptos Display" pitchFamily="34" charset="-122"/>
                <a:cs typeface="Aptos Display" pitchFamily="34" charset="-120"/>
              </a:rPr>
              <a:t>Intelligence Platform</a:t>
            </a:r>
            <a:endParaRPr lang="en-US" sz="4100" dirty="0"/>
          </a:p>
        </p:txBody>
      </p:sp>
      <p:sp>
        <p:nvSpPr>
          <p:cNvPr id="6" name="Text 4"/>
          <p:cNvSpPr/>
          <p:nvPr/>
        </p:nvSpPr>
        <p:spPr>
          <a:xfrm>
            <a:off x="768096" y="2907792"/>
            <a:ext cx="6949440" cy="603504"/>
          </a:xfrm>
          <a:prstGeom prst="rect">
            <a:avLst/>
          </a:prstGeom>
          <a:noFill/>
          <a:ln/>
        </p:spPr>
        <p:txBody>
          <a:bodyPr wrap="square" lIns="0" tIns="0" rIns="0" bIns="0" rtlCol="0" anchor="ctr">
            <a:normAutofit/>
          </a:bodyPr>
          <a:lstStyle/>
          <a:p>
            <a:pPr indent="0" marL="0">
              <a:buNone/>
            </a:pPr>
            <a:r>
              <a:rPr lang="en-US" sz="1700" dirty="0">
                <a:solidFill>
                  <a:srgbClr val="CBD5E1"/>
                </a:solidFill>
              </a:rPr>
              <a:t>Hybrid relational, document, and vector data architecture for organizational knowledge management</a:t>
            </a:r>
            <a:endParaRPr lang="en-US" sz="1700" dirty="0"/>
          </a:p>
        </p:txBody>
      </p:sp>
      <p:sp>
        <p:nvSpPr>
          <p:cNvPr id="7" name="Text 5"/>
          <p:cNvSpPr/>
          <p:nvPr/>
        </p:nvSpPr>
        <p:spPr>
          <a:xfrm>
            <a:off x="768096" y="5879592"/>
            <a:ext cx="7498080" cy="292608"/>
          </a:xfrm>
          <a:prstGeom prst="rect">
            <a:avLst/>
          </a:prstGeom>
          <a:noFill/>
          <a:ln/>
        </p:spPr>
        <p:txBody>
          <a:bodyPr wrap="square" lIns="0" tIns="0" rIns="0" bIns="0" rtlCol="0" anchor="ctr"/>
          <a:lstStyle/>
          <a:p>
            <a:pPr indent="0" marL="0">
              <a:buNone/>
            </a:pPr>
            <a:r>
              <a:rPr lang="en-US" sz="1300" dirty="0">
                <a:solidFill>
                  <a:srgbClr val="E2E8F0"/>
                </a:solidFill>
              </a:rPr>
              <a:t>B.Tech CSE (AI &amp; Data Science)  ·  KL University, Hyderabad</a:t>
            </a:r>
            <a:endParaRPr lang="en-US" sz="1300" dirty="0"/>
          </a:p>
        </p:txBody>
      </p:sp>
      <p:sp>
        <p:nvSpPr>
          <p:cNvPr id="8" name="Text 6"/>
          <p:cNvSpPr/>
          <p:nvPr/>
        </p:nvSpPr>
        <p:spPr>
          <a:xfrm>
            <a:off x="768096" y="6199632"/>
            <a:ext cx="4389120" cy="219456"/>
          </a:xfrm>
          <a:prstGeom prst="rect">
            <a:avLst/>
          </a:prstGeom>
          <a:noFill/>
          <a:ln/>
        </p:spPr>
        <p:txBody>
          <a:bodyPr wrap="square" lIns="0" tIns="0" rIns="0" bIns="0" rtlCol="0" anchor="ctr"/>
          <a:lstStyle/>
          <a:p>
            <a:pPr indent="0" marL="0">
              <a:buNone/>
            </a:pPr>
            <a:r>
              <a:rPr lang="en-US" sz="1000" dirty="0">
                <a:solidFill>
                  <a:srgbClr val="94A3B8"/>
                </a:solidFill>
              </a:rPr>
              <a:t>Updated with additional related papers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OVERVIEW</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What this review covers</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Literature review → gaps → proposed architecture → methodology</a:t>
            </a:r>
            <a:endParaRPr lang="en-US" sz="1350" dirty="0"/>
          </a:p>
        </p:txBody>
      </p:sp>
      <p:sp>
        <p:nvSpPr>
          <p:cNvPr id="7" name="Text 5"/>
          <p:cNvSpPr/>
          <p:nvPr/>
        </p:nvSpPr>
        <p:spPr>
          <a:xfrm>
            <a:off x="685800" y="1828800"/>
            <a:ext cx="384048" cy="384048"/>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252728" y="1819656"/>
            <a:ext cx="4389120" cy="256032"/>
          </a:xfrm>
          <a:prstGeom prst="rect">
            <a:avLst/>
          </a:prstGeom>
          <a:noFill/>
          <a:ln/>
        </p:spPr>
        <p:txBody>
          <a:bodyPr wrap="square" lIns="0" tIns="0" rIns="0" bIns="0" rtlCol="0" anchor="ctr"/>
          <a:lstStyle/>
          <a:p>
            <a:pPr indent="0" marL="0">
              <a:buNone/>
            </a:pPr>
            <a:r>
              <a:rPr lang="en-US" sz="1500" b="1" dirty="0">
                <a:solidFill>
                  <a:srgbClr val="0E1B2A"/>
                </a:solidFill>
              </a:rPr>
              <a:t>Problem &amp; motivation</a:t>
            </a:r>
            <a:endParaRPr lang="en-US" sz="1500" dirty="0"/>
          </a:p>
        </p:txBody>
      </p:sp>
      <p:sp>
        <p:nvSpPr>
          <p:cNvPr id="9" name="Text 7"/>
          <p:cNvSpPr/>
          <p:nvPr/>
        </p:nvSpPr>
        <p:spPr>
          <a:xfrm>
            <a:off x="1252728" y="2176272"/>
            <a:ext cx="4663440" cy="310896"/>
          </a:xfrm>
          <a:prstGeom prst="rect">
            <a:avLst/>
          </a:prstGeom>
          <a:noFill/>
          <a:ln/>
        </p:spPr>
        <p:txBody>
          <a:bodyPr wrap="square" lIns="0" tIns="0" rIns="0" bIns="0" rtlCol="0" anchor="ctr">
            <a:normAutofit/>
          </a:bodyPr>
          <a:lstStyle/>
          <a:p>
            <a:pPr indent="0" marL="0">
              <a:buNone/>
            </a:pPr>
            <a:r>
              <a:rPr lang="en-US" sz="1250" dirty="0">
                <a:solidFill>
                  <a:srgbClr val="64748B"/>
                </a:solidFill>
              </a:rPr>
              <a:t>Why enterprise knowledge gets scattered and hard to retrieve</a:t>
            </a:r>
            <a:endParaRPr lang="en-US" sz="1250" dirty="0"/>
          </a:p>
        </p:txBody>
      </p:sp>
      <p:sp>
        <p:nvSpPr>
          <p:cNvPr id="10" name="Text 8"/>
          <p:cNvSpPr/>
          <p:nvPr/>
        </p:nvSpPr>
        <p:spPr>
          <a:xfrm>
            <a:off x="685800" y="2926080"/>
            <a:ext cx="384048" cy="384048"/>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1252728" y="2916936"/>
            <a:ext cx="4389120" cy="256032"/>
          </a:xfrm>
          <a:prstGeom prst="rect">
            <a:avLst/>
          </a:prstGeom>
          <a:noFill/>
          <a:ln/>
        </p:spPr>
        <p:txBody>
          <a:bodyPr wrap="square" lIns="0" tIns="0" rIns="0" bIns="0" rtlCol="0" anchor="ctr"/>
          <a:lstStyle/>
          <a:p>
            <a:pPr indent="0" marL="0">
              <a:buNone/>
            </a:pPr>
            <a:r>
              <a:rPr lang="en-US" sz="1500" b="1" dirty="0">
                <a:solidFill>
                  <a:srgbClr val="0E1B2A"/>
                </a:solidFill>
              </a:rPr>
              <a:t>Literature review</a:t>
            </a:r>
            <a:endParaRPr lang="en-US" sz="1500" dirty="0"/>
          </a:p>
        </p:txBody>
      </p:sp>
      <p:sp>
        <p:nvSpPr>
          <p:cNvPr id="12" name="Text 10"/>
          <p:cNvSpPr/>
          <p:nvPr/>
        </p:nvSpPr>
        <p:spPr>
          <a:xfrm>
            <a:off x="1252728" y="3273552"/>
            <a:ext cx="4663440" cy="310896"/>
          </a:xfrm>
          <a:prstGeom prst="rect">
            <a:avLst/>
          </a:prstGeom>
          <a:noFill/>
          <a:ln/>
        </p:spPr>
        <p:txBody>
          <a:bodyPr wrap="square" lIns="0" tIns="0" rIns="0" bIns="0" rtlCol="0" anchor="ctr">
            <a:normAutofit/>
          </a:bodyPr>
          <a:lstStyle/>
          <a:p>
            <a:pPr indent="0" marL="0">
              <a:buNone/>
            </a:pPr>
            <a:r>
              <a:rPr lang="en-US" sz="1250" dirty="0">
                <a:solidFill>
                  <a:srgbClr val="64748B"/>
                </a:solidFill>
              </a:rPr>
              <a:t>Storage, semantic retrieval, security, and enterprise RAG papers</a:t>
            </a:r>
            <a:endParaRPr lang="en-US" sz="1250" dirty="0"/>
          </a:p>
        </p:txBody>
      </p:sp>
      <p:sp>
        <p:nvSpPr>
          <p:cNvPr id="13" name="Text 11"/>
          <p:cNvSpPr/>
          <p:nvPr/>
        </p:nvSpPr>
        <p:spPr>
          <a:xfrm>
            <a:off x="685800" y="4023360"/>
            <a:ext cx="384048" cy="384048"/>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p:nvPr/>
        </p:nvSpPr>
        <p:spPr>
          <a:xfrm>
            <a:off x="1252728" y="4014216"/>
            <a:ext cx="4389120" cy="256032"/>
          </a:xfrm>
          <a:prstGeom prst="rect">
            <a:avLst/>
          </a:prstGeom>
          <a:noFill/>
          <a:ln/>
        </p:spPr>
        <p:txBody>
          <a:bodyPr wrap="square" lIns="0" tIns="0" rIns="0" bIns="0" rtlCol="0" anchor="ctr"/>
          <a:lstStyle/>
          <a:p>
            <a:pPr indent="0" marL="0">
              <a:buNone/>
            </a:pPr>
            <a:r>
              <a:rPr lang="en-US" sz="1500" b="1" dirty="0">
                <a:solidFill>
                  <a:srgbClr val="0E1B2A"/>
                </a:solidFill>
              </a:rPr>
              <a:t>Critical analysis</a:t>
            </a:r>
            <a:endParaRPr lang="en-US" sz="1500" dirty="0"/>
          </a:p>
        </p:txBody>
      </p:sp>
      <p:sp>
        <p:nvSpPr>
          <p:cNvPr id="15" name="Text 13"/>
          <p:cNvSpPr/>
          <p:nvPr/>
        </p:nvSpPr>
        <p:spPr>
          <a:xfrm>
            <a:off x="1252728" y="4370832"/>
            <a:ext cx="4663440" cy="310896"/>
          </a:xfrm>
          <a:prstGeom prst="rect">
            <a:avLst/>
          </a:prstGeom>
          <a:noFill/>
          <a:ln/>
        </p:spPr>
        <p:txBody>
          <a:bodyPr wrap="square" lIns="0" tIns="0" rIns="0" bIns="0" rtlCol="0" anchor="ctr">
            <a:normAutofit/>
          </a:bodyPr>
          <a:lstStyle/>
          <a:p>
            <a:pPr indent="0" marL="0">
              <a:buNone/>
            </a:pPr>
            <a:r>
              <a:rPr lang="en-US" sz="1250" dirty="0">
                <a:solidFill>
                  <a:srgbClr val="64748B"/>
                </a:solidFill>
              </a:rPr>
              <a:t>What each research area solves and where it is incomplete</a:t>
            </a:r>
            <a:endParaRPr lang="en-US" sz="1250" dirty="0"/>
          </a:p>
        </p:txBody>
      </p:sp>
      <p:sp>
        <p:nvSpPr>
          <p:cNvPr id="16" name="Text 14"/>
          <p:cNvSpPr/>
          <p:nvPr/>
        </p:nvSpPr>
        <p:spPr>
          <a:xfrm>
            <a:off x="6400800" y="1828800"/>
            <a:ext cx="384048" cy="384048"/>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p:nvPr/>
        </p:nvSpPr>
        <p:spPr>
          <a:xfrm>
            <a:off x="6967728" y="1819656"/>
            <a:ext cx="4389120" cy="256032"/>
          </a:xfrm>
          <a:prstGeom prst="rect">
            <a:avLst/>
          </a:prstGeom>
          <a:noFill/>
          <a:ln/>
        </p:spPr>
        <p:txBody>
          <a:bodyPr wrap="square" lIns="0" tIns="0" rIns="0" bIns="0" rtlCol="0" anchor="ctr"/>
          <a:lstStyle/>
          <a:p>
            <a:pPr indent="0" marL="0">
              <a:buNone/>
            </a:pPr>
            <a:r>
              <a:rPr lang="en-US" sz="1500" b="1" dirty="0">
                <a:solidFill>
                  <a:srgbClr val="0E1B2A"/>
                </a:solidFill>
              </a:rPr>
              <a:t>Gap analysis</a:t>
            </a:r>
            <a:endParaRPr lang="en-US" sz="1500" dirty="0"/>
          </a:p>
        </p:txBody>
      </p:sp>
      <p:sp>
        <p:nvSpPr>
          <p:cNvPr id="18" name="Text 16"/>
          <p:cNvSpPr/>
          <p:nvPr/>
        </p:nvSpPr>
        <p:spPr>
          <a:xfrm>
            <a:off x="6967728" y="2176272"/>
            <a:ext cx="4663440" cy="310896"/>
          </a:xfrm>
          <a:prstGeom prst="rect">
            <a:avLst/>
          </a:prstGeom>
          <a:noFill/>
          <a:ln/>
        </p:spPr>
        <p:txBody>
          <a:bodyPr wrap="square" lIns="0" tIns="0" rIns="0" bIns="0" rtlCol="0" anchor="ctr">
            <a:normAutofit/>
          </a:bodyPr>
          <a:lstStyle/>
          <a:p>
            <a:pPr indent="0" marL="0">
              <a:buNone/>
            </a:pPr>
            <a:r>
              <a:rPr lang="en-US" sz="1250" dirty="0">
                <a:solidFill>
                  <a:srgbClr val="64748B"/>
                </a:solidFill>
              </a:rPr>
              <a:t>Four gaps that define the EKIP problem space</a:t>
            </a:r>
            <a:endParaRPr lang="en-US" sz="1250" dirty="0"/>
          </a:p>
        </p:txBody>
      </p:sp>
      <p:sp>
        <p:nvSpPr>
          <p:cNvPr id="19" name="Text 17"/>
          <p:cNvSpPr/>
          <p:nvPr/>
        </p:nvSpPr>
        <p:spPr>
          <a:xfrm>
            <a:off x="6400800" y="2926080"/>
            <a:ext cx="384048" cy="384048"/>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8"/>
          <p:cNvSpPr/>
          <p:nvPr/>
        </p:nvSpPr>
        <p:spPr>
          <a:xfrm>
            <a:off x="6967728" y="2916936"/>
            <a:ext cx="4389120" cy="256032"/>
          </a:xfrm>
          <a:prstGeom prst="rect">
            <a:avLst/>
          </a:prstGeom>
          <a:noFill/>
          <a:ln/>
        </p:spPr>
        <p:txBody>
          <a:bodyPr wrap="square" lIns="0" tIns="0" rIns="0" bIns="0" rtlCol="0" anchor="ctr"/>
          <a:lstStyle/>
          <a:p>
            <a:pPr indent="0" marL="0">
              <a:buNone/>
            </a:pPr>
            <a:r>
              <a:rPr lang="en-US" sz="1500" b="1" dirty="0">
                <a:solidFill>
                  <a:srgbClr val="0E1B2A"/>
                </a:solidFill>
              </a:rPr>
              <a:t>Proposed system</a:t>
            </a:r>
            <a:endParaRPr lang="en-US" sz="1500" dirty="0"/>
          </a:p>
        </p:txBody>
      </p:sp>
      <p:sp>
        <p:nvSpPr>
          <p:cNvPr id="21" name="Text 19"/>
          <p:cNvSpPr/>
          <p:nvPr/>
        </p:nvSpPr>
        <p:spPr>
          <a:xfrm>
            <a:off x="6967728" y="3273552"/>
            <a:ext cx="4663440" cy="310896"/>
          </a:xfrm>
          <a:prstGeom prst="rect">
            <a:avLst/>
          </a:prstGeom>
          <a:noFill/>
          <a:ln/>
        </p:spPr>
        <p:txBody>
          <a:bodyPr wrap="square" lIns="0" tIns="0" rIns="0" bIns="0" rtlCol="0" anchor="ctr">
            <a:normAutofit/>
          </a:bodyPr>
          <a:lstStyle/>
          <a:p>
            <a:pPr indent="0" marL="0">
              <a:buNone/>
            </a:pPr>
            <a:r>
              <a:rPr lang="en-US" sz="1250" dirty="0">
                <a:solidFill>
                  <a:srgbClr val="64748B"/>
                </a:solidFill>
              </a:rPr>
              <a:t>Hybrid SQL + document + vector architecture</a:t>
            </a:r>
            <a:endParaRPr lang="en-US" sz="1250" dirty="0"/>
          </a:p>
        </p:txBody>
      </p:sp>
      <p:sp>
        <p:nvSpPr>
          <p:cNvPr id="22" name="Text 20"/>
          <p:cNvSpPr/>
          <p:nvPr/>
        </p:nvSpPr>
        <p:spPr>
          <a:xfrm>
            <a:off x="6400800" y="4023360"/>
            <a:ext cx="384048" cy="384048"/>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1"/>
          <p:cNvSpPr/>
          <p:nvPr/>
        </p:nvSpPr>
        <p:spPr>
          <a:xfrm>
            <a:off x="6967728" y="4014216"/>
            <a:ext cx="4389120" cy="256032"/>
          </a:xfrm>
          <a:prstGeom prst="rect">
            <a:avLst/>
          </a:prstGeom>
          <a:noFill/>
          <a:ln/>
        </p:spPr>
        <p:txBody>
          <a:bodyPr wrap="square" lIns="0" tIns="0" rIns="0" bIns="0" rtlCol="0" anchor="ctr"/>
          <a:lstStyle/>
          <a:p>
            <a:pPr indent="0" marL="0">
              <a:buNone/>
            </a:pPr>
            <a:r>
              <a:rPr lang="en-US" sz="1500" b="1" dirty="0">
                <a:solidFill>
                  <a:srgbClr val="0E1B2A"/>
                </a:solidFill>
              </a:rPr>
              <a:t>Methodology &amp; evaluation</a:t>
            </a:r>
            <a:endParaRPr lang="en-US" sz="1500" dirty="0"/>
          </a:p>
        </p:txBody>
      </p:sp>
      <p:sp>
        <p:nvSpPr>
          <p:cNvPr id="24" name="Text 22"/>
          <p:cNvSpPr/>
          <p:nvPr/>
        </p:nvSpPr>
        <p:spPr>
          <a:xfrm>
            <a:off x="6967728" y="4370832"/>
            <a:ext cx="4663440" cy="310896"/>
          </a:xfrm>
          <a:prstGeom prst="rect">
            <a:avLst/>
          </a:prstGeom>
          <a:noFill/>
          <a:ln/>
        </p:spPr>
        <p:txBody>
          <a:bodyPr wrap="square" lIns="0" tIns="0" rIns="0" bIns="0" rtlCol="0" anchor="ctr">
            <a:normAutofit/>
          </a:bodyPr>
          <a:lstStyle/>
          <a:p>
            <a:pPr indent="0" marL="0">
              <a:buNone/>
            </a:pPr>
            <a:r>
              <a:rPr lang="en-US" sz="1250" dirty="0">
                <a:solidFill>
                  <a:srgbClr val="64748B"/>
                </a:solidFill>
              </a:rPr>
              <a:t>Search flow, permission filtering, and metrics</a:t>
            </a:r>
            <a:endParaRPr lang="en-US" sz="1250" dirty="0"/>
          </a:p>
        </p:txBody>
      </p:sp>
      <p:sp>
        <p:nvSpPr>
          <p:cNvPr id="25" name="Text 23"/>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INTRODUCTION</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Why knowledge gets lost in organizations</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Enterprise knowledge is spread across documents, wikis, chats, tickets, and file stores.</a:t>
            </a:r>
            <a:endParaRPr lang="en-US" sz="1350" dirty="0"/>
          </a:p>
        </p:txBody>
      </p:sp>
      <p:sp>
        <p:nvSpPr>
          <p:cNvPr id="7" name="Text 5"/>
          <p:cNvSpPr/>
          <p:nvPr/>
        </p:nvSpPr>
        <p:spPr>
          <a:xfrm>
            <a:off x="594360" y="1755648"/>
            <a:ext cx="10424160" cy="493776"/>
          </a:xfrm>
          <a:prstGeom prst="rect">
            <a:avLst/>
          </a:prstGeom>
          <a:noFill/>
          <a:ln/>
        </p:spPr>
        <p:txBody>
          <a:bodyPr wrap="square" lIns="0" tIns="0" rIns="0" bIns="0" rtlCol="0" anchor="ctr">
            <a:normAutofit/>
          </a:bodyPr>
          <a:lstStyle/>
          <a:p>
            <a:pPr indent="0" marL="0">
              <a:buNone/>
            </a:pPr>
            <a:r>
              <a:rPr lang="en-US" sz="1900" b="1" dirty="0">
                <a:solidFill>
                  <a:srgbClr val="0E1B2A"/>
                </a:solidFill>
              </a:rPr>
              <a:t>In many organizations, important knowledge exists, but users cannot easily find the right document at the right time.</a:t>
            </a:r>
            <a:endParaRPr lang="en-US" sz="1900" dirty="0"/>
          </a:p>
        </p:txBody>
      </p:sp>
      <p:sp>
        <p:nvSpPr>
          <p:cNvPr id="8" name="Text 6"/>
          <p:cNvSpPr/>
          <p:nvPr/>
        </p:nvSpPr>
        <p:spPr>
          <a:xfrm>
            <a:off x="914400" y="2743200"/>
            <a:ext cx="402336" cy="402336"/>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444752" y="2761488"/>
            <a:ext cx="260604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Scattered content</a:t>
            </a:r>
            <a:endParaRPr lang="en-US" sz="1350" dirty="0"/>
          </a:p>
        </p:txBody>
      </p:sp>
      <p:sp>
        <p:nvSpPr>
          <p:cNvPr id="10" name="Text 8"/>
          <p:cNvSpPr/>
          <p:nvPr/>
        </p:nvSpPr>
        <p:spPr>
          <a:xfrm>
            <a:off x="1444752" y="3063240"/>
            <a:ext cx="2606040" cy="960120"/>
          </a:xfrm>
          <a:prstGeom prst="rect">
            <a:avLst/>
          </a:prstGeom>
          <a:noFill/>
          <a:ln/>
        </p:spPr>
        <p:txBody>
          <a:bodyPr wrap="square" lIns="0" tIns="0" rIns="0" bIns="0" rtlCol="0" anchor="ctr">
            <a:normAutofit/>
          </a:bodyPr>
          <a:lstStyle/>
          <a:p>
            <a:pPr indent="0" marL="0">
              <a:buNone/>
            </a:pPr>
            <a:r>
              <a:rPr lang="en-US" sz="1240" dirty="0">
                <a:solidFill>
                  <a:srgbClr val="334155"/>
                </a:solidFill>
              </a:rPr>
              <a:t>Knowledge is split across file shares, wikis, tools, and informal communication.</a:t>
            </a:r>
            <a:endParaRPr lang="en-US" sz="1240" dirty="0"/>
          </a:p>
        </p:txBody>
      </p:sp>
      <p:sp>
        <p:nvSpPr>
          <p:cNvPr id="11" name="Text 9"/>
          <p:cNvSpPr/>
          <p:nvPr/>
        </p:nvSpPr>
        <p:spPr>
          <a:xfrm>
            <a:off x="4663440" y="2743200"/>
            <a:ext cx="402336" cy="402336"/>
          </a:xfrm>
          <a:prstGeom prst="ellipse">
            <a:avLst/>
          </a:prstGeom>
          <a:solidFill>
            <a:srgbClr val="7C3AED"/>
          </a:solidFill>
          <a:ln>
            <a:solidFill>
              <a:srgbClr val="7C3AED">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p:nvPr/>
        </p:nvSpPr>
        <p:spPr>
          <a:xfrm>
            <a:off x="5193792" y="2761488"/>
            <a:ext cx="260604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Keyword search weakness</a:t>
            </a:r>
            <a:endParaRPr lang="en-US" sz="1350" dirty="0"/>
          </a:p>
        </p:txBody>
      </p:sp>
      <p:sp>
        <p:nvSpPr>
          <p:cNvPr id="13" name="Text 11"/>
          <p:cNvSpPr/>
          <p:nvPr/>
        </p:nvSpPr>
        <p:spPr>
          <a:xfrm>
            <a:off x="5193792" y="3063240"/>
            <a:ext cx="2606040" cy="960120"/>
          </a:xfrm>
          <a:prstGeom prst="rect">
            <a:avLst/>
          </a:prstGeom>
          <a:noFill/>
          <a:ln/>
        </p:spPr>
        <p:txBody>
          <a:bodyPr wrap="square" lIns="0" tIns="0" rIns="0" bIns="0" rtlCol="0" anchor="ctr">
            <a:normAutofit/>
          </a:bodyPr>
          <a:lstStyle/>
          <a:p>
            <a:pPr indent="0" marL="0">
              <a:buNone/>
            </a:pPr>
            <a:r>
              <a:rPr lang="en-US" sz="1240" dirty="0">
                <a:solidFill>
                  <a:srgbClr val="334155"/>
                </a:solidFill>
              </a:rPr>
              <a:t>Exact-word search misses documents that use different words but have the same meaning.</a:t>
            </a:r>
            <a:endParaRPr lang="en-US" sz="1240" dirty="0"/>
          </a:p>
        </p:txBody>
      </p:sp>
      <p:sp>
        <p:nvSpPr>
          <p:cNvPr id="14" name="Text 12"/>
          <p:cNvSpPr/>
          <p:nvPr/>
        </p:nvSpPr>
        <p:spPr>
          <a:xfrm>
            <a:off x="8412480" y="2743200"/>
            <a:ext cx="402336" cy="402336"/>
          </a:xfrm>
          <a:prstGeom prst="ellipse">
            <a:avLst/>
          </a:prstGeom>
          <a:solidFill>
            <a:srgbClr val="059669"/>
          </a:solidFill>
          <a:ln>
            <a:solidFill>
              <a:srgbClr val="059669">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p:nvPr/>
        </p:nvSpPr>
        <p:spPr>
          <a:xfrm>
            <a:off x="8942832" y="2761488"/>
            <a:ext cx="260604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Governance risk</a:t>
            </a:r>
            <a:endParaRPr lang="en-US" sz="1350" dirty="0"/>
          </a:p>
        </p:txBody>
      </p:sp>
      <p:sp>
        <p:nvSpPr>
          <p:cNvPr id="16" name="Text 14"/>
          <p:cNvSpPr/>
          <p:nvPr/>
        </p:nvSpPr>
        <p:spPr>
          <a:xfrm>
            <a:off x="8942832" y="3063240"/>
            <a:ext cx="2606040" cy="960120"/>
          </a:xfrm>
          <a:prstGeom prst="rect">
            <a:avLst/>
          </a:prstGeom>
          <a:noFill/>
          <a:ln/>
        </p:spPr>
        <p:txBody>
          <a:bodyPr wrap="square" lIns="0" tIns="0" rIns="0" bIns="0" rtlCol="0" anchor="ctr">
            <a:normAutofit/>
          </a:bodyPr>
          <a:lstStyle/>
          <a:p>
            <a:pPr indent="0" marL="0">
              <a:buNone/>
            </a:pPr>
            <a:r>
              <a:rPr lang="en-US" sz="1240" dirty="0">
                <a:solidFill>
                  <a:srgbClr val="334155"/>
                </a:solidFill>
              </a:rPr>
              <a:t>A search system must not reveal documents that the current user is not allowed to access.</a:t>
            </a:r>
            <a:endParaRPr lang="en-US" sz="1240" dirty="0"/>
          </a:p>
        </p:txBody>
      </p:sp>
      <p:sp>
        <p:nvSpPr>
          <p:cNvPr id="17" name="Text 15"/>
          <p:cNvSpPr/>
          <p:nvPr/>
        </p:nvSpPr>
        <p:spPr>
          <a:xfrm>
            <a:off x="1847088" y="5285232"/>
            <a:ext cx="8503920" cy="502920"/>
          </a:xfrm>
          <a:prstGeom prst="roundRect">
            <a:avLst>
              <a:gd name="adj" fmla="val 18182"/>
            </a:avLst>
          </a:prstGeom>
          <a:solidFill>
            <a:srgbClr val="DBEAFE"/>
          </a:solidFill>
          <a:ln>
            <a:solidFill>
              <a:srgbClr val="BFDBFE"/>
            </a:solidFill>
          </a:ln>
        </p:spPr>
        <p:txBody>
          <a:bodyPr wrap="square" lIns="1270" tIns="1270" rIns="1270" bIns="1270" rtlCol="0" anchor="ctr"/>
          <a:lstStyle/>
          <a:p>
            <a:pPr algn="ctr" indent="0" marL="0">
              <a:buNone/>
            </a:pPr>
            <a:r>
              <a:rPr lang="en-US" sz="1800" b="1" dirty="0">
                <a:solidFill>
                  <a:srgbClr val="0E1B2A"/>
                </a:solidFill>
              </a:rPr>
              <a:t>EKIP goal: secure, flexible, meaning-aware knowledge retrieval.</a:t>
            </a:r>
            <a:endParaRPr lang="en-US" sz="1800" dirty="0"/>
          </a:p>
        </p:txBody>
      </p:sp>
      <p:sp>
        <p:nvSpPr>
          <p:cNvPr id="18" name="Text 16"/>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PROBLEM STATEMENT</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Neither single-database nor simple wiki search is enough</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The project needs storage flexibility, retrieval quality, and access governance together.</a:t>
            </a:r>
            <a:endParaRPr lang="en-US" sz="1350" dirty="0"/>
          </a:p>
        </p:txBody>
      </p:sp>
      <p:sp>
        <p:nvSpPr>
          <p:cNvPr id="7" name="Text 5"/>
          <p:cNvSpPr/>
          <p:nvPr/>
        </p:nvSpPr>
        <p:spPr>
          <a:xfrm>
            <a:off x="685800" y="1920240"/>
            <a:ext cx="3200400" cy="438912"/>
          </a:xfrm>
          <a:prstGeom prst="rect">
            <a:avLst/>
          </a:prstGeom>
          <a:noFill/>
          <a:ln/>
        </p:spPr>
        <p:txBody>
          <a:bodyPr wrap="square" lIns="0" tIns="0" rIns="0" bIns="0" rtlCol="0" anchor="ctr"/>
          <a:lstStyle/>
          <a:p>
            <a:pPr algn="ctr" indent="0" marL="0">
              <a:buNone/>
            </a:pPr>
            <a:r>
              <a:rPr lang="en-US" sz="1800" b="1" dirty="0">
                <a:solidFill>
                  <a:srgbClr val="2563EB"/>
                </a:solidFill>
              </a:rPr>
              <a:t>Relational-only system</a:t>
            </a:r>
            <a:endParaRPr lang="en-US" sz="1800" dirty="0"/>
          </a:p>
        </p:txBody>
      </p:sp>
      <p:sp>
        <p:nvSpPr>
          <p:cNvPr id="8" name="Text 6"/>
          <p:cNvSpPr/>
          <p:nvPr/>
        </p:nvSpPr>
        <p:spPr>
          <a:xfrm>
            <a:off x="777240" y="2606040"/>
            <a:ext cx="3017520" cy="1143000"/>
          </a:xfrm>
          <a:prstGeom prst="rect">
            <a:avLst/>
          </a:prstGeom>
          <a:noFill/>
          <a:ln/>
        </p:spPr>
        <p:txBody>
          <a:bodyPr wrap="square" lIns="635" tIns="635" rIns="635" bIns="635" rtlCol="0" anchor="ctr">
            <a:normAutofit/>
          </a:bodyPr>
          <a:lstStyle/>
          <a:p>
            <a:pPr algn="ctr" indent="0" marL="0">
              <a:buNone/>
            </a:pPr>
            <a:r>
              <a:rPr lang="en-US" sz="1420" dirty="0">
                <a:solidFill>
                  <a:srgbClr val="334155"/>
                </a:solidFill>
              </a:rPr>
              <a:t>Strong structure and permissions, but rigid schema and weak meaning-based search.</a:t>
            </a:r>
            <a:endParaRPr lang="en-US" sz="1420" dirty="0"/>
          </a:p>
        </p:txBody>
      </p:sp>
      <p:sp>
        <p:nvSpPr>
          <p:cNvPr id="9" name="Text 7"/>
          <p:cNvSpPr/>
          <p:nvPr/>
        </p:nvSpPr>
        <p:spPr>
          <a:xfrm>
            <a:off x="1691640" y="3931920"/>
            <a:ext cx="1280160" cy="1280160"/>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4200" b="1" dirty="0">
                <a:solidFill>
                  <a:srgbClr val="FFFFFF"/>
                </a:solidFill>
              </a:rPr>
              <a:t>×</a:t>
            </a:r>
            <a:endParaRPr lang="en-US" sz="4200" dirty="0"/>
          </a:p>
        </p:txBody>
      </p:sp>
      <p:sp>
        <p:nvSpPr>
          <p:cNvPr id="10" name="Text 8"/>
          <p:cNvSpPr/>
          <p:nvPr/>
        </p:nvSpPr>
        <p:spPr>
          <a:xfrm>
            <a:off x="4489704" y="1920240"/>
            <a:ext cx="3200400" cy="438912"/>
          </a:xfrm>
          <a:prstGeom prst="rect">
            <a:avLst/>
          </a:prstGeom>
          <a:noFill/>
          <a:ln/>
        </p:spPr>
        <p:txBody>
          <a:bodyPr wrap="square" lIns="0" tIns="0" rIns="0" bIns="0" rtlCol="0" anchor="ctr"/>
          <a:lstStyle/>
          <a:p>
            <a:pPr algn="ctr" indent="0" marL="0">
              <a:buNone/>
            </a:pPr>
            <a:r>
              <a:rPr lang="en-US" sz="1800" b="1" dirty="0">
                <a:solidFill>
                  <a:srgbClr val="7C3AED"/>
                </a:solidFill>
              </a:rPr>
              <a:t>Document / wiki system</a:t>
            </a:r>
            <a:endParaRPr lang="en-US" sz="1800" dirty="0"/>
          </a:p>
        </p:txBody>
      </p:sp>
      <p:sp>
        <p:nvSpPr>
          <p:cNvPr id="11" name="Text 9"/>
          <p:cNvSpPr/>
          <p:nvPr/>
        </p:nvSpPr>
        <p:spPr>
          <a:xfrm>
            <a:off x="4581144" y="2606040"/>
            <a:ext cx="3017520" cy="1143000"/>
          </a:xfrm>
          <a:prstGeom prst="rect">
            <a:avLst/>
          </a:prstGeom>
          <a:noFill/>
          <a:ln/>
        </p:spPr>
        <p:txBody>
          <a:bodyPr wrap="square" lIns="635" tIns="635" rIns="635" bIns="635" rtlCol="0" anchor="ctr">
            <a:normAutofit/>
          </a:bodyPr>
          <a:lstStyle/>
          <a:p>
            <a:pPr algn="ctr" indent="0" marL="0">
              <a:buNone/>
            </a:pPr>
            <a:r>
              <a:rPr lang="en-US" sz="1420" dirty="0">
                <a:solidFill>
                  <a:srgbClr val="334155"/>
                </a:solidFill>
              </a:rPr>
              <a:t>Flexible content storage, but usually keyword-heavy and coarse access control.</a:t>
            </a:r>
            <a:endParaRPr lang="en-US" sz="1420" dirty="0"/>
          </a:p>
        </p:txBody>
      </p:sp>
      <p:sp>
        <p:nvSpPr>
          <p:cNvPr id="12" name="Text 10"/>
          <p:cNvSpPr/>
          <p:nvPr/>
        </p:nvSpPr>
        <p:spPr>
          <a:xfrm>
            <a:off x="5495544" y="3931920"/>
            <a:ext cx="1280160" cy="1280160"/>
          </a:xfrm>
          <a:prstGeom prst="ellipse">
            <a:avLst/>
          </a:prstGeom>
          <a:solidFill>
            <a:srgbClr val="7C3AED"/>
          </a:solidFill>
          <a:ln>
            <a:solidFill>
              <a:srgbClr val="7C3AED">
                <a:alpha val="0"/>
              </a:srgbClr>
            </a:solidFill>
          </a:ln>
        </p:spPr>
        <p:txBody>
          <a:bodyPr wrap="square" lIns="0" tIns="0" rIns="0" bIns="0" rtlCol="0" anchor="ctr"/>
          <a:lstStyle/>
          <a:p>
            <a:pPr algn="ctr" indent="0" marL="0">
              <a:buNone/>
            </a:pPr>
            <a:r>
              <a:rPr lang="en-US" sz="4200" b="1" dirty="0">
                <a:solidFill>
                  <a:srgbClr val="FFFFFF"/>
                </a:solidFill>
              </a:rPr>
              <a:t>×</a:t>
            </a:r>
            <a:endParaRPr lang="en-US" sz="4200" dirty="0"/>
          </a:p>
        </p:txBody>
      </p:sp>
      <p:sp>
        <p:nvSpPr>
          <p:cNvPr id="13" name="Text 11"/>
          <p:cNvSpPr/>
          <p:nvPr/>
        </p:nvSpPr>
        <p:spPr>
          <a:xfrm>
            <a:off x="8293608" y="1920240"/>
            <a:ext cx="3200400" cy="438912"/>
          </a:xfrm>
          <a:prstGeom prst="rect">
            <a:avLst/>
          </a:prstGeom>
          <a:noFill/>
          <a:ln/>
        </p:spPr>
        <p:txBody>
          <a:bodyPr wrap="square" lIns="0" tIns="0" rIns="0" bIns="0" rtlCol="0" anchor="ctr"/>
          <a:lstStyle/>
          <a:p>
            <a:pPr algn="ctr" indent="0" marL="0">
              <a:buNone/>
            </a:pPr>
            <a:r>
              <a:rPr lang="en-US" sz="1800" b="1" dirty="0">
                <a:solidFill>
                  <a:srgbClr val="059669"/>
                </a:solidFill>
              </a:rPr>
              <a:t>EKIP hybrid system</a:t>
            </a:r>
            <a:endParaRPr lang="en-US" sz="1800" dirty="0"/>
          </a:p>
        </p:txBody>
      </p:sp>
      <p:sp>
        <p:nvSpPr>
          <p:cNvPr id="14" name="Text 12"/>
          <p:cNvSpPr/>
          <p:nvPr/>
        </p:nvSpPr>
        <p:spPr>
          <a:xfrm>
            <a:off x="8385048" y="2606040"/>
            <a:ext cx="3017520" cy="1143000"/>
          </a:xfrm>
          <a:prstGeom prst="rect">
            <a:avLst/>
          </a:prstGeom>
          <a:noFill/>
          <a:ln/>
        </p:spPr>
        <p:txBody>
          <a:bodyPr wrap="square" lIns="635" tIns="635" rIns="635" bIns="635" rtlCol="0" anchor="ctr">
            <a:normAutofit/>
          </a:bodyPr>
          <a:lstStyle/>
          <a:p>
            <a:pPr algn="ctr" indent="0" marL="0">
              <a:buNone/>
            </a:pPr>
            <a:r>
              <a:rPr lang="en-US" sz="1420" dirty="0">
                <a:solidFill>
                  <a:srgbClr val="334155"/>
                </a:solidFill>
              </a:rPr>
              <a:t>Combines governed access, flexible documents, and semantic vector retrieval.</a:t>
            </a:r>
            <a:endParaRPr lang="en-US" sz="1420" dirty="0"/>
          </a:p>
        </p:txBody>
      </p:sp>
      <p:sp>
        <p:nvSpPr>
          <p:cNvPr id="15" name="Text 13"/>
          <p:cNvSpPr/>
          <p:nvPr/>
        </p:nvSpPr>
        <p:spPr>
          <a:xfrm>
            <a:off x="9299448" y="3931920"/>
            <a:ext cx="1280160" cy="1280160"/>
          </a:xfrm>
          <a:prstGeom prst="ellipse">
            <a:avLst/>
          </a:prstGeom>
          <a:solidFill>
            <a:srgbClr val="059669"/>
          </a:solidFill>
          <a:ln>
            <a:solidFill>
              <a:srgbClr val="059669">
                <a:alpha val="0"/>
              </a:srgbClr>
            </a:solidFill>
          </a:ln>
        </p:spPr>
        <p:txBody>
          <a:bodyPr wrap="square" lIns="0" tIns="0" rIns="0" bIns="0" rtlCol="0" anchor="ctr"/>
          <a:lstStyle/>
          <a:p>
            <a:pPr algn="ctr" indent="0" marL="0">
              <a:buNone/>
            </a:pPr>
            <a:r>
              <a:rPr lang="en-US" sz="4200" b="1" dirty="0">
                <a:solidFill>
                  <a:srgbClr val="FFFFFF"/>
                </a:solidFill>
              </a:rPr>
              <a:t>✓</a:t>
            </a:r>
            <a:endParaRPr lang="en-US" sz="4200" dirty="0"/>
          </a:p>
        </p:txBody>
      </p:sp>
      <p:sp>
        <p:nvSpPr>
          <p:cNvPr id="16" name="Text 14"/>
          <p:cNvSpPr/>
          <p:nvPr/>
        </p:nvSpPr>
        <p:spPr>
          <a:xfrm>
            <a:off x="822960" y="5623560"/>
            <a:ext cx="10515600" cy="329184"/>
          </a:xfrm>
          <a:prstGeom prst="rect">
            <a:avLst/>
          </a:prstGeom>
          <a:noFill/>
          <a:ln/>
        </p:spPr>
        <p:txBody>
          <a:bodyPr wrap="square" lIns="0" tIns="0" rIns="0" bIns="0" rtlCol="0" anchor="ctr"/>
          <a:lstStyle/>
          <a:p>
            <a:pPr algn="ctr" indent="0" marL="0">
              <a:buNone/>
            </a:pPr>
            <a:r>
              <a:rPr lang="en-US" sz="1550" b="1" dirty="0">
                <a:solidFill>
                  <a:srgbClr val="0E1B2A"/>
                </a:solidFill>
              </a:rPr>
              <a:t>Project statement: build a governed knowledge platform that stores enterprise content flexibly and retrieves it by meaning.</a:t>
            </a:r>
            <a:endParaRPr lang="en-US" sz="1550" dirty="0"/>
          </a:p>
        </p:txBody>
      </p:sp>
      <p:sp>
        <p:nvSpPr>
          <p:cNvPr id="17" name="Text 15"/>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LITERATURE REVIEW</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Literature Review 1: Data storage paradigms</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What existing work says about SQL, document databases, and polyglot persistence.</a:t>
            </a:r>
            <a:endParaRPr lang="en-US" sz="1350" dirty="0"/>
          </a:p>
        </p:txBody>
      </p:sp>
      <p:sp>
        <p:nvSpPr>
          <p:cNvPr id="7" name="Text 5"/>
          <p:cNvSpPr/>
          <p:nvPr/>
        </p:nvSpPr>
        <p:spPr>
          <a:xfrm>
            <a:off x="658368" y="1737360"/>
            <a:ext cx="1874520" cy="320040"/>
          </a:xfrm>
          <a:prstGeom prst="rect">
            <a:avLst/>
          </a:prstGeom>
          <a:solidFill>
            <a:srgbClr val="0E1B2A"/>
          </a:solidFill>
          <a:ln/>
        </p:spPr>
        <p:txBody>
          <a:bodyPr wrap="square" lIns="762" tIns="762" rIns="762" bIns="762" rtlCol="0" anchor="ctr"/>
          <a:lstStyle/>
          <a:p>
            <a:pPr indent="0" marL="0">
              <a:buNone/>
            </a:pPr>
            <a:r>
              <a:rPr lang="en-US" sz="1250" b="1" dirty="0">
                <a:solidFill>
                  <a:srgbClr val="FFFFFF"/>
                </a:solidFill>
              </a:rPr>
              <a:t>Research area</a:t>
            </a:r>
            <a:endParaRPr lang="en-US" sz="1250" dirty="0"/>
          </a:p>
        </p:txBody>
      </p:sp>
      <p:sp>
        <p:nvSpPr>
          <p:cNvPr id="8" name="Text 6"/>
          <p:cNvSpPr/>
          <p:nvPr/>
        </p:nvSpPr>
        <p:spPr>
          <a:xfrm>
            <a:off x="2788920" y="1737360"/>
            <a:ext cx="2011680" cy="320040"/>
          </a:xfrm>
          <a:prstGeom prst="rect">
            <a:avLst/>
          </a:prstGeom>
          <a:solidFill>
            <a:srgbClr val="0E1B2A"/>
          </a:solidFill>
          <a:ln/>
        </p:spPr>
        <p:txBody>
          <a:bodyPr wrap="square" lIns="762" tIns="762" rIns="762" bIns="762" rtlCol="0" anchor="ctr"/>
          <a:lstStyle/>
          <a:p>
            <a:pPr indent="0" marL="0">
              <a:buNone/>
            </a:pPr>
            <a:r>
              <a:rPr lang="en-US" sz="1250" b="1" dirty="0">
                <a:solidFill>
                  <a:srgbClr val="FFFFFF"/>
                </a:solidFill>
              </a:rPr>
              <a:t>Source</a:t>
            </a:r>
            <a:endParaRPr lang="en-US" sz="1250" dirty="0"/>
          </a:p>
        </p:txBody>
      </p:sp>
      <p:sp>
        <p:nvSpPr>
          <p:cNvPr id="9" name="Text 7"/>
          <p:cNvSpPr/>
          <p:nvPr/>
        </p:nvSpPr>
        <p:spPr>
          <a:xfrm>
            <a:off x="5074920" y="1737360"/>
            <a:ext cx="2971800" cy="320040"/>
          </a:xfrm>
          <a:prstGeom prst="rect">
            <a:avLst/>
          </a:prstGeom>
          <a:solidFill>
            <a:srgbClr val="0E1B2A"/>
          </a:solidFill>
          <a:ln/>
        </p:spPr>
        <p:txBody>
          <a:bodyPr wrap="square" lIns="762" tIns="762" rIns="762" bIns="762" rtlCol="0" anchor="ctr"/>
          <a:lstStyle/>
          <a:p>
            <a:pPr indent="0" marL="0">
              <a:buNone/>
            </a:pPr>
            <a:r>
              <a:rPr lang="en-US" sz="1250" b="1" dirty="0">
                <a:solidFill>
                  <a:srgbClr val="FFFFFF"/>
                </a:solidFill>
              </a:rPr>
              <a:t>Main contribution</a:t>
            </a:r>
            <a:endParaRPr lang="en-US" sz="1250" dirty="0"/>
          </a:p>
        </p:txBody>
      </p:sp>
      <p:sp>
        <p:nvSpPr>
          <p:cNvPr id="10" name="Text 8"/>
          <p:cNvSpPr/>
          <p:nvPr/>
        </p:nvSpPr>
        <p:spPr>
          <a:xfrm>
            <a:off x="8458200" y="1737360"/>
            <a:ext cx="2651760" cy="320040"/>
          </a:xfrm>
          <a:prstGeom prst="rect">
            <a:avLst/>
          </a:prstGeom>
          <a:solidFill>
            <a:srgbClr val="0E1B2A"/>
          </a:solidFill>
          <a:ln/>
        </p:spPr>
        <p:txBody>
          <a:bodyPr wrap="square" lIns="762" tIns="762" rIns="762" bIns="762" rtlCol="0" anchor="ctr"/>
          <a:lstStyle/>
          <a:p>
            <a:pPr indent="0" marL="0">
              <a:buNone/>
            </a:pPr>
            <a:r>
              <a:rPr lang="en-US" sz="1250" b="1" dirty="0">
                <a:solidFill>
                  <a:srgbClr val="FFFFFF"/>
                </a:solidFill>
              </a:rPr>
              <a:t>Limitation</a:t>
            </a:r>
            <a:endParaRPr lang="en-US" sz="1250" dirty="0"/>
          </a:p>
        </p:txBody>
      </p:sp>
      <p:sp>
        <p:nvSpPr>
          <p:cNvPr id="11" name="Text 9"/>
          <p:cNvSpPr/>
          <p:nvPr/>
        </p:nvSpPr>
        <p:spPr>
          <a:xfrm>
            <a:off x="658368" y="2157984"/>
            <a:ext cx="187452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Relational modeling</a:t>
            </a:r>
            <a:endParaRPr lang="en-US" sz="1120" dirty="0"/>
          </a:p>
        </p:txBody>
      </p:sp>
      <p:sp>
        <p:nvSpPr>
          <p:cNvPr id="12" name="Text 10"/>
          <p:cNvSpPr/>
          <p:nvPr/>
        </p:nvSpPr>
        <p:spPr>
          <a:xfrm>
            <a:off x="2788920" y="2157984"/>
            <a:ext cx="201168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Kimball &amp; Ross (2013)</a:t>
            </a:r>
            <a:endParaRPr lang="en-US" sz="1120" dirty="0"/>
          </a:p>
        </p:txBody>
      </p:sp>
      <p:sp>
        <p:nvSpPr>
          <p:cNvPr id="13" name="Text 11"/>
          <p:cNvSpPr/>
          <p:nvPr/>
        </p:nvSpPr>
        <p:spPr>
          <a:xfrm>
            <a:off x="5074920" y="2157984"/>
            <a:ext cx="297180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Strong consistency, relationships, and structured querying.</a:t>
            </a:r>
            <a:endParaRPr lang="en-US" sz="1120" dirty="0"/>
          </a:p>
        </p:txBody>
      </p:sp>
      <p:sp>
        <p:nvSpPr>
          <p:cNvPr id="14" name="Text 12"/>
          <p:cNvSpPr/>
          <p:nvPr/>
        </p:nvSpPr>
        <p:spPr>
          <a:xfrm>
            <a:off x="8458200" y="2157984"/>
            <a:ext cx="265176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Rigid for uneven documents.</a:t>
            </a:r>
            <a:endParaRPr lang="en-US" sz="1120" dirty="0"/>
          </a:p>
        </p:txBody>
      </p:sp>
      <p:sp>
        <p:nvSpPr>
          <p:cNvPr id="15" name="Text 13"/>
          <p:cNvSpPr/>
          <p:nvPr/>
        </p:nvSpPr>
        <p:spPr>
          <a:xfrm>
            <a:off x="658368" y="3145536"/>
            <a:ext cx="1874520" cy="749808"/>
          </a:xfrm>
          <a:prstGeom prst="rect">
            <a:avLst/>
          </a:prstGeom>
          <a:solidFill>
            <a:srgbClr val="F1F5F9"/>
          </a:solidFill>
          <a:ln/>
        </p:spPr>
        <p:txBody>
          <a:bodyPr wrap="square" lIns="762" tIns="762" rIns="762" bIns="762" rtlCol="0" anchor="ctr">
            <a:normAutofit/>
          </a:bodyPr>
          <a:lstStyle/>
          <a:p>
            <a:pPr indent="0" marL="0">
              <a:buNone/>
            </a:pPr>
            <a:r>
              <a:rPr lang="en-US" sz="1120" dirty="0">
                <a:solidFill>
                  <a:srgbClr val="334155"/>
                </a:solidFill>
              </a:rPr>
              <a:t>Polyglot persistence</a:t>
            </a:r>
            <a:endParaRPr lang="en-US" sz="1120" dirty="0"/>
          </a:p>
        </p:txBody>
      </p:sp>
      <p:sp>
        <p:nvSpPr>
          <p:cNvPr id="16" name="Text 14"/>
          <p:cNvSpPr/>
          <p:nvPr/>
        </p:nvSpPr>
        <p:spPr>
          <a:xfrm>
            <a:off x="2788920" y="3145536"/>
            <a:ext cx="2011680" cy="749808"/>
          </a:xfrm>
          <a:prstGeom prst="rect">
            <a:avLst/>
          </a:prstGeom>
          <a:solidFill>
            <a:srgbClr val="F1F5F9"/>
          </a:solidFill>
          <a:ln/>
        </p:spPr>
        <p:txBody>
          <a:bodyPr wrap="square" lIns="762" tIns="762" rIns="762" bIns="762" rtlCol="0" anchor="ctr">
            <a:normAutofit/>
          </a:bodyPr>
          <a:lstStyle/>
          <a:p>
            <a:pPr indent="0" marL="0">
              <a:buNone/>
            </a:pPr>
            <a:r>
              <a:rPr lang="en-US" sz="1120" dirty="0">
                <a:solidFill>
                  <a:srgbClr val="334155"/>
                </a:solidFill>
              </a:rPr>
              <a:t>Sadalage &amp; Fowler (2012)</a:t>
            </a:r>
            <a:endParaRPr lang="en-US" sz="1120" dirty="0"/>
          </a:p>
        </p:txBody>
      </p:sp>
      <p:sp>
        <p:nvSpPr>
          <p:cNvPr id="17" name="Text 15"/>
          <p:cNvSpPr/>
          <p:nvPr/>
        </p:nvSpPr>
        <p:spPr>
          <a:xfrm>
            <a:off x="5074920" y="3145536"/>
            <a:ext cx="2971800" cy="749808"/>
          </a:xfrm>
          <a:prstGeom prst="rect">
            <a:avLst/>
          </a:prstGeom>
          <a:solidFill>
            <a:srgbClr val="F1F5F9"/>
          </a:solidFill>
          <a:ln/>
        </p:spPr>
        <p:txBody>
          <a:bodyPr wrap="square" lIns="762" tIns="762" rIns="762" bIns="762" rtlCol="0" anchor="ctr">
            <a:normAutofit/>
          </a:bodyPr>
          <a:lstStyle/>
          <a:p>
            <a:pPr indent="0" marL="0">
              <a:buNone/>
            </a:pPr>
            <a:r>
              <a:rPr lang="en-US" sz="1120" dirty="0">
                <a:solidFill>
                  <a:srgbClr val="334155"/>
                </a:solidFill>
              </a:rPr>
              <a:t>Use different databases for different workloads.</a:t>
            </a:r>
            <a:endParaRPr lang="en-US" sz="1120" dirty="0"/>
          </a:p>
        </p:txBody>
      </p:sp>
      <p:sp>
        <p:nvSpPr>
          <p:cNvPr id="18" name="Text 16"/>
          <p:cNvSpPr/>
          <p:nvPr/>
        </p:nvSpPr>
        <p:spPr>
          <a:xfrm>
            <a:off x="8458200" y="3145536"/>
            <a:ext cx="2651760" cy="749808"/>
          </a:xfrm>
          <a:prstGeom prst="rect">
            <a:avLst/>
          </a:prstGeom>
          <a:solidFill>
            <a:srgbClr val="F1F5F9"/>
          </a:solidFill>
          <a:ln/>
        </p:spPr>
        <p:txBody>
          <a:bodyPr wrap="square" lIns="762" tIns="762" rIns="762" bIns="762" rtlCol="0" anchor="ctr">
            <a:normAutofit/>
          </a:bodyPr>
          <a:lstStyle/>
          <a:p>
            <a:pPr indent="0" marL="0">
              <a:buNone/>
            </a:pPr>
            <a:r>
              <a:rPr lang="en-US" sz="1120" dirty="0">
                <a:solidFill>
                  <a:srgbClr val="334155"/>
                </a:solidFill>
              </a:rPr>
              <a:t>Adds integration and consistency complexity.</a:t>
            </a:r>
            <a:endParaRPr lang="en-US" sz="1120" dirty="0"/>
          </a:p>
        </p:txBody>
      </p:sp>
      <p:sp>
        <p:nvSpPr>
          <p:cNvPr id="19" name="Text 17"/>
          <p:cNvSpPr/>
          <p:nvPr/>
        </p:nvSpPr>
        <p:spPr>
          <a:xfrm>
            <a:off x="658368" y="4133088"/>
            <a:ext cx="187452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Document databases</a:t>
            </a:r>
            <a:endParaRPr lang="en-US" sz="1120" dirty="0"/>
          </a:p>
        </p:txBody>
      </p:sp>
      <p:sp>
        <p:nvSpPr>
          <p:cNvPr id="20" name="Text 18"/>
          <p:cNvSpPr/>
          <p:nvPr/>
        </p:nvSpPr>
        <p:spPr>
          <a:xfrm>
            <a:off x="2788920" y="4133088"/>
            <a:ext cx="201168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MongoDB documentation (2023)</a:t>
            </a:r>
            <a:endParaRPr lang="en-US" sz="1120" dirty="0"/>
          </a:p>
        </p:txBody>
      </p:sp>
      <p:sp>
        <p:nvSpPr>
          <p:cNvPr id="21" name="Text 19"/>
          <p:cNvSpPr/>
          <p:nvPr/>
        </p:nvSpPr>
        <p:spPr>
          <a:xfrm>
            <a:off x="5074920" y="4133088"/>
            <a:ext cx="297180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Flexible JSON-like documents match evolving content.</a:t>
            </a:r>
            <a:endParaRPr lang="en-US" sz="1120" dirty="0"/>
          </a:p>
        </p:txBody>
      </p:sp>
      <p:sp>
        <p:nvSpPr>
          <p:cNvPr id="22" name="Text 20"/>
          <p:cNvSpPr/>
          <p:nvPr/>
        </p:nvSpPr>
        <p:spPr>
          <a:xfrm>
            <a:off x="8458200" y="4133088"/>
            <a:ext cx="2651760" cy="749808"/>
          </a:xfrm>
          <a:prstGeom prst="rect">
            <a:avLst/>
          </a:prstGeom>
          <a:solidFill>
            <a:srgbClr val="FFFFFF"/>
          </a:solidFill>
          <a:ln/>
        </p:spPr>
        <p:txBody>
          <a:bodyPr wrap="square" lIns="762" tIns="762" rIns="762" bIns="762" rtlCol="0" anchor="ctr">
            <a:normAutofit/>
          </a:bodyPr>
          <a:lstStyle/>
          <a:p>
            <a:pPr indent="0" marL="0">
              <a:buNone/>
            </a:pPr>
            <a:r>
              <a:rPr lang="en-US" sz="1120" dirty="0">
                <a:solidFill>
                  <a:srgbClr val="334155"/>
                </a:solidFill>
              </a:rPr>
              <a:t>Weaker joins than SQL.</a:t>
            </a:r>
            <a:endParaRPr lang="en-US" sz="1120" dirty="0"/>
          </a:p>
        </p:txBody>
      </p:sp>
      <p:sp>
        <p:nvSpPr>
          <p:cNvPr id="23" name="Text 21"/>
          <p:cNvSpPr/>
          <p:nvPr/>
        </p:nvSpPr>
        <p:spPr>
          <a:xfrm>
            <a:off x="1188720" y="5532120"/>
            <a:ext cx="9601200" cy="384048"/>
          </a:xfrm>
          <a:prstGeom prst="roundRect">
            <a:avLst/>
          </a:prstGeom>
          <a:solidFill>
            <a:srgbClr val="E0F2FE"/>
          </a:solidFill>
          <a:ln>
            <a:solidFill>
              <a:srgbClr val="BAE6FD"/>
            </a:solidFill>
          </a:ln>
        </p:spPr>
        <p:txBody>
          <a:bodyPr wrap="square" lIns="635" tIns="635" rIns="635" bIns="635" rtlCol="0" anchor="ctr"/>
          <a:lstStyle/>
          <a:p>
            <a:pPr algn="ctr" indent="0" marL="0">
              <a:buNone/>
            </a:pPr>
            <a:r>
              <a:rPr lang="en-US" sz="1500" b="1" dirty="0">
                <a:solidFill>
                  <a:srgbClr val="0E1B2A"/>
                </a:solidFill>
              </a:rPr>
              <a:t>Learning for EKIP: no single database is best for every knowledge-management workload.</a:t>
            </a:r>
            <a:endParaRPr lang="en-US" sz="1500" dirty="0"/>
          </a:p>
        </p:txBody>
      </p:sp>
      <p:sp>
        <p:nvSpPr>
          <p:cNvPr id="24" name="Text 22"/>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LITERATURE REVIEW</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Literature Review 2: Semantic search and vector retrieval</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Search by meaning instead of only exact words.</a:t>
            </a:r>
            <a:endParaRPr lang="en-US" sz="1350" dirty="0"/>
          </a:p>
        </p:txBody>
      </p:sp>
      <p:sp>
        <p:nvSpPr>
          <p:cNvPr id="7" name="Text 5"/>
          <p:cNvSpPr/>
          <p:nvPr/>
        </p:nvSpPr>
        <p:spPr>
          <a:xfrm>
            <a:off x="731520" y="1828800"/>
            <a:ext cx="402336" cy="402336"/>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261872" y="1847088"/>
            <a:ext cx="31089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Sentence-BERT — Reimers &amp; Gurevych (2019)</a:t>
            </a:r>
            <a:endParaRPr lang="en-US" sz="1350" dirty="0"/>
          </a:p>
        </p:txBody>
      </p:sp>
      <p:sp>
        <p:nvSpPr>
          <p:cNvPr id="9" name="Text 7"/>
          <p:cNvSpPr/>
          <p:nvPr/>
        </p:nvSpPr>
        <p:spPr>
          <a:xfrm>
            <a:off x="1261872" y="2148840"/>
            <a:ext cx="3108960" cy="822960"/>
          </a:xfrm>
          <a:prstGeom prst="rect">
            <a:avLst/>
          </a:prstGeom>
          <a:noFill/>
          <a:ln/>
        </p:spPr>
        <p:txBody>
          <a:bodyPr wrap="square" lIns="0" tIns="0" rIns="0" bIns="0" rtlCol="0" anchor="ctr">
            <a:normAutofit/>
          </a:bodyPr>
          <a:lstStyle/>
          <a:p>
            <a:pPr indent="0" marL="0">
              <a:buNone/>
            </a:pPr>
            <a:r>
              <a:rPr lang="en-US" sz="1240" dirty="0">
                <a:solidFill>
                  <a:srgbClr val="334155"/>
                </a:solidFill>
              </a:rPr>
              <a:t>Converts sentences into embeddings, so similar meaning becomes close vector distance.</a:t>
            </a:r>
            <a:endParaRPr lang="en-US" sz="1240" dirty="0"/>
          </a:p>
        </p:txBody>
      </p:sp>
      <p:sp>
        <p:nvSpPr>
          <p:cNvPr id="10" name="Text 8"/>
          <p:cNvSpPr/>
          <p:nvPr/>
        </p:nvSpPr>
        <p:spPr>
          <a:xfrm>
            <a:off x="731520" y="3246120"/>
            <a:ext cx="402336" cy="402336"/>
          </a:xfrm>
          <a:prstGeom prst="ellipse">
            <a:avLst/>
          </a:prstGeom>
          <a:solidFill>
            <a:srgbClr val="7C3AED"/>
          </a:solidFill>
          <a:ln>
            <a:solidFill>
              <a:srgbClr val="7C3AED">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1261872" y="3264408"/>
            <a:ext cx="31089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HNSW — Malkov &amp; Yashunin (2020)</a:t>
            </a:r>
            <a:endParaRPr lang="en-US" sz="1350" dirty="0"/>
          </a:p>
        </p:txBody>
      </p:sp>
      <p:sp>
        <p:nvSpPr>
          <p:cNvPr id="12" name="Text 10"/>
          <p:cNvSpPr/>
          <p:nvPr/>
        </p:nvSpPr>
        <p:spPr>
          <a:xfrm>
            <a:off x="1261872" y="3566160"/>
            <a:ext cx="3108960" cy="822960"/>
          </a:xfrm>
          <a:prstGeom prst="rect">
            <a:avLst/>
          </a:prstGeom>
          <a:noFill/>
          <a:ln/>
        </p:spPr>
        <p:txBody>
          <a:bodyPr wrap="square" lIns="0" tIns="0" rIns="0" bIns="0" rtlCol="0" anchor="ctr">
            <a:normAutofit/>
          </a:bodyPr>
          <a:lstStyle/>
          <a:p>
            <a:pPr indent="0" marL="0">
              <a:buNone/>
            </a:pPr>
            <a:r>
              <a:rPr lang="en-US" sz="1240" dirty="0">
                <a:solidFill>
                  <a:srgbClr val="334155"/>
                </a:solidFill>
              </a:rPr>
              <a:t>Approximate nearest-neighbor graph makes large-scale vector search fast.</a:t>
            </a:r>
            <a:endParaRPr lang="en-US" sz="1240" dirty="0"/>
          </a:p>
        </p:txBody>
      </p:sp>
      <p:sp>
        <p:nvSpPr>
          <p:cNvPr id="13" name="Text 11"/>
          <p:cNvSpPr/>
          <p:nvPr/>
        </p:nvSpPr>
        <p:spPr>
          <a:xfrm>
            <a:off x="731520" y="4663440"/>
            <a:ext cx="402336" cy="402336"/>
          </a:xfrm>
          <a:prstGeom prst="ellipse">
            <a:avLst/>
          </a:prstGeom>
          <a:solidFill>
            <a:srgbClr val="059669"/>
          </a:solidFill>
          <a:ln>
            <a:solidFill>
              <a:srgbClr val="059669">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p:nvPr/>
        </p:nvSpPr>
        <p:spPr>
          <a:xfrm>
            <a:off x="1261872" y="4681728"/>
            <a:ext cx="31089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RAG — Lewis et al. (2020)</a:t>
            </a:r>
            <a:endParaRPr lang="en-US" sz="1350" dirty="0"/>
          </a:p>
        </p:txBody>
      </p:sp>
      <p:sp>
        <p:nvSpPr>
          <p:cNvPr id="15" name="Text 13"/>
          <p:cNvSpPr/>
          <p:nvPr/>
        </p:nvSpPr>
        <p:spPr>
          <a:xfrm>
            <a:off x="1261872" y="4983480"/>
            <a:ext cx="3108960" cy="822960"/>
          </a:xfrm>
          <a:prstGeom prst="rect">
            <a:avLst/>
          </a:prstGeom>
          <a:noFill/>
          <a:ln/>
        </p:spPr>
        <p:txBody>
          <a:bodyPr wrap="square" lIns="0" tIns="0" rIns="0" bIns="0" rtlCol="0" anchor="ctr">
            <a:normAutofit/>
          </a:bodyPr>
          <a:lstStyle/>
          <a:p>
            <a:pPr indent="0" marL="0">
              <a:buNone/>
            </a:pPr>
            <a:r>
              <a:rPr lang="en-US" sz="1240" dirty="0">
                <a:solidFill>
                  <a:srgbClr val="334155"/>
                </a:solidFill>
              </a:rPr>
              <a:t>Retrieves relevant context first, then uses it for downstream language tasks.</a:t>
            </a:r>
            <a:endParaRPr lang="en-US" sz="1240" dirty="0"/>
          </a:p>
        </p:txBody>
      </p:sp>
      <p:sp>
        <p:nvSpPr>
          <p:cNvPr id="16" name="Text 14"/>
          <p:cNvSpPr/>
          <p:nvPr/>
        </p:nvSpPr>
        <p:spPr>
          <a:xfrm>
            <a:off x="5897880" y="1828800"/>
            <a:ext cx="2011680" cy="320040"/>
          </a:xfrm>
          <a:prstGeom prst="rect">
            <a:avLst/>
          </a:prstGeom>
          <a:noFill/>
          <a:ln/>
        </p:spPr>
        <p:txBody>
          <a:bodyPr wrap="square" lIns="0" tIns="0" rIns="0" bIns="0" rtlCol="0" anchor="ctr"/>
          <a:lstStyle/>
          <a:p>
            <a:pPr algn="ctr" indent="0" marL="0">
              <a:buNone/>
            </a:pPr>
            <a:r>
              <a:rPr lang="en-US" sz="1500" b="1" dirty="0">
                <a:solidFill>
                  <a:srgbClr val="DC2626"/>
                </a:solidFill>
              </a:rPr>
              <a:t>Keyword search</a:t>
            </a:r>
            <a:endParaRPr lang="en-US" sz="1500" dirty="0"/>
          </a:p>
        </p:txBody>
      </p:sp>
      <p:sp>
        <p:nvSpPr>
          <p:cNvPr id="17" name="Text 15"/>
          <p:cNvSpPr/>
          <p:nvPr/>
        </p:nvSpPr>
        <p:spPr>
          <a:xfrm>
            <a:off x="5897880" y="2286000"/>
            <a:ext cx="2011680" cy="411480"/>
          </a:xfrm>
          <a:prstGeom prst="roundRect">
            <a:avLst/>
          </a:prstGeom>
          <a:solidFill>
            <a:srgbClr val="FEE2E2"/>
          </a:solidFill>
          <a:ln>
            <a:solidFill>
              <a:srgbClr val="FECACA"/>
            </a:solidFill>
          </a:ln>
        </p:spPr>
        <p:txBody>
          <a:bodyPr wrap="square" lIns="0" tIns="0" rIns="0" bIns="0" rtlCol="0" anchor="ctr"/>
          <a:lstStyle/>
          <a:p>
            <a:pPr algn="ctr" indent="0" marL="0">
              <a:buNone/>
            </a:pPr>
            <a:r>
              <a:rPr lang="en-US" sz="1600" b="1" dirty="0">
                <a:solidFill>
                  <a:srgbClr val="DC2626"/>
                </a:solidFill>
              </a:rPr>
              <a:t>same words</a:t>
            </a:r>
            <a:endParaRPr lang="en-US" sz="1600" dirty="0"/>
          </a:p>
        </p:txBody>
      </p:sp>
      <p:sp>
        <p:nvSpPr>
          <p:cNvPr id="18" name="Text 16"/>
          <p:cNvSpPr/>
          <p:nvPr/>
        </p:nvSpPr>
        <p:spPr>
          <a:xfrm>
            <a:off x="8549640" y="1828800"/>
            <a:ext cx="2286000" cy="320040"/>
          </a:xfrm>
          <a:prstGeom prst="rect">
            <a:avLst/>
          </a:prstGeom>
          <a:noFill/>
          <a:ln/>
        </p:spPr>
        <p:txBody>
          <a:bodyPr wrap="square" lIns="0" tIns="0" rIns="0" bIns="0" rtlCol="0" anchor="ctr"/>
          <a:lstStyle/>
          <a:p>
            <a:pPr algn="ctr" indent="0" marL="0">
              <a:buNone/>
            </a:pPr>
            <a:r>
              <a:rPr lang="en-US" sz="1500" b="1" dirty="0">
                <a:solidFill>
                  <a:srgbClr val="059669"/>
                </a:solidFill>
              </a:rPr>
              <a:t>Semantic search</a:t>
            </a:r>
            <a:endParaRPr lang="en-US" sz="1500" dirty="0"/>
          </a:p>
        </p:txBody>
      </p:sp>
      <p:sp>
        <p:nvSpPr>
          <p:cNvPr id="19" name="Text 17"/>
          <p:cNvSpPr/>
          <p:nvPr/>
        </p:nvSpPr>
        <p:spPr>
          <a:xfrm>
            <a:off x="8549640" y="2286000"/>
            <a:ext cx="2286000" cy="411480"/>
          </a:xfrm>
          <a:prstGeom prst="roundRect">
            <a:avLst/>
          </a:prstGeom>
          <a:solidFill>
            <a:srgbClr val="DCFCE7"/>
          </a:solidFill>
          <a:ln>
            <a:solidFill>
              <a:srgbClr val="BBF7D0"/>
            </a:solidFill>
          </a:ln>
        </p:spPr>
        <p:txBody>
          <a:bodyPr wrap="square" lIns="0" tIns="0" rIns="0" bIns="0" rtlCol="0" anchor="ctr"/>
          <a:lstStyle/>
          <a:p>
            <a:pPr algn="ctr" indent="0" marL="0">
              <a:buNone/>
            </a:pPr>
            <a:r>
              <a:rPr lang="en-US" sz="1600" b="1" dirty="0">
                <a:solidFill>
                  <a:srgbClr val="059669"/>
                </a:solidFill>
              </a:rPr>
              <a:t>same meaning</a:t>
            </a:r>
            <a:endParaRPr lang="en-US" sz="1600" dirty="0"/>
          </a:p>
        </p:txBody>
      </p:sp>
      <p:sp>
        <p:nvSpPr>
          <p:cNvPr id="20" name="Text 18"/>
          <p:cNvSpPr/>
          <p:nvPr/>
        </p:nvSpPr>
        <p:spPr>
          <a:xfrm>
            <a:off x="5715000" y="3246120"/>
            <a:ext cx="5394960" cy="960120"/>
          </a:xfrm>
          <a:prstGeom prst="rect">
            <a:avLst/>
          </a:prstGeom>
          <a:noFill/>
          <a:ln/>
        </p:spPr>
        <p:txBody>
          <a:bodyPr wrap="square" lIns="635" tIns="635" rIns="635" bIns="635" rtlCol="0" anchor="ctr">
            <a:normAutofit/>
          </a:bodyPr>
          <a:lstStyle/>
          <a:p>
            <a:pPr algn="ctr" indent="0" marL="0">
              <a:buNone/>
            </a:pPr>
            <a:r>
              <a:rPr lang="en-US" sz="1800" b="1" dirty="0">
                <a:solidFill>
                  <a:srgbClr val="0E1B2A"/>
                </a:solidFill>
              </a:rPr>
              <a:t>Example: “employee vacation rules” can retrieve “leave policy” even when the exact words differ.</a:t>
            </a:r>
            <a:endParaRPr lang="en-US" sz="1800" dirty="0"/>
          </a:p>
        </p:txBody>
      </p:sp>
      <p:sp>
        <p:nvSpPr>
          <p:cNvPr id="21" name="Text 19"/>
          <p:cNvSpPr/>
          <p:nvPr/>
        </p:nvSpPr>
        <p:spPr>
          <a:xfrm>
            <a:off x="5760720" y="4956048"/>
            <a:ext cx="5303520" cy="566928"/>
          </a:xfrm>
          <a:prstGeom prst="roundRect">
            <a:avLst/>
          </a:prstGeom>
          <a:solidFill>
            <a:srgbClr val="EEF2FF"/>
          </a:solidFill>
          <a:ln>
            <a:solidFill>
              <a:srgbClr val="C7D2FE"/>
            </a:solidFill>
          </a:ln>
        </p:spPr>
        <p:txBody>
          <a:bodyPr wrap="square" lIns="635" tIns="635" rIns="635" bIns="635" rtlCol="0" anchor="ctr">
            <a:normAutofit/>
          </a:bodyPr>
          <a:lstStyle/>
          <a:p>
            <a:pPr algn="ctr" indent="0" marL="0">
              <a:buNone/>
            </a:pPr>
            <a:r>
              <a:rPr lang="en-US" sz="1550" b="1" dirty="0">
                <a:solidFill>
                  <a:srgbClr val="4338CA"/>
                </a:solidFill>
              </a:rPr>
              <a:t>Learning for EKIP: semantic retrieval needs embeddings plus an efficient vector index.</a:t>
            </a:r>
            <a:endParaRPr lang="en-US" sz="1550" dirty="0"/>
          </a:p>
        </p:txBody>
      </p:sp>
      <p:sp>
        <p:nvSpPr>
          <p:cNvPr id="22" name="Text 20"/>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LITERATURE REVIEW</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Literature Review 3: Access control and API security</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Enterprise search must return only permitted content.</a:t>
            </a:r>
            <a:endParaRPr lang="en-US" sz="1350" dirty="0"/>
          </a:p>
        </p:txBody>
      </p:sp>
      <p:sp>
        <p:nvSpPr>
          <p:cNvPr id="7" name="Text 5"/>
          <p:cNvSpPr/>
          <p:nvPr/>
        </p:nvSpPr>
        <p:spPr>
          <a:xfrm>
            <a:off x="731520" y="1828800"/>
            <a:ext cx="2971800" cy="420624"/>
          </a:xfrm>
          <a:prstGeom prst="roundRect">
            <a:avLst/>
          </a:prstGeom>
          <a:solidFill>
            <a:srgbClr val="2563EB"/>
          </a:solidFill>
          <a:ln>
            <a:solidFill>
              <a:srgbClr val="2563EB">
                <a:alpha val="0"/>
              </a:srgbClr>
            </a:solidFill>
          </a:ln>
        </p:spPr>
        <p:txBody>
          <a:bodyPr wrap="square" lIns="0" tIns="0" rIns="0" bIns="0" rtlCol="0" anchor="ctr"/>
          <a:lstStyle/>
          <a:p>
            <a:pPr algn="ctr" indent="0" marL="0">
              <a:buNone/>
            </a:pPr>
            <a:r>
              <a:rPr lang="en-US" sz="1800" b="1" dirty="0">
                <a:solidFill>
                  <a:srgbClr val="FFFFFF"/>
                </a:solidFill>
              </a:rPr>
              <a:t>RBAC</a:t>
            </a:r>
            <a:endParaRPr lang="en-US" sz="1800" dirty="0"/>
          </a:p>
        </p:txBody>
      </p:sp>
      <p:sp>
        <p:nvSpPr>
          <p:cNvPr id="8" name="Text 6"/>
          <p:cNvSpPr/>
          <p:nvPr/>
        </p:nvSpPr>
        <p:spPr>
          <a:xfrm>
            <a:off x="868680" y="2514600"/>
            <a:ext cx="2743200" cy="320040"/>
          </a:xfrm>
          <a:prstGeom prst="rect">
            <a:avLst/>
          </a:prstGeom>
          <a:noFill/>
          <a:ln/>
        </p:spPr>
        <p:txBody>
          <a:bodyPr wrap="square" lIns="0" tIns="0" rIns="0" bIns="0" rtlCol="0" anchor="ctr">
            <a:normAutofit/>
          </a:bodyPr>
          <a:lstStyle/>
          <a:p>
            <a:pPr algn="ctr" indent="0" marL="0">
              <a:buNone/>
            </a:pPr>
            <a:r>
              <a:rPr lang="en-US" sz="1180" b="1" dirty="0">
                <a:solidFill>
                  <a:srgbClr val="64748B"/>
                </a:solidFill>
              </a:rPr>
              <a:t>Ferraiolo, Kuhn &amp; Chandramouli (2007)</a:t>
            </a:r>
            <a:endParaRPr lang="en-US" sz="1180" dirty="0"/>
          </a:p>
        </p:txBody>
      </p:sp>
      <p:sp>
        <p:nvSpPr>
          <p:cNvPr id="9" name="Text 7"/>
          <p:cNvSpPr/>
          <p:nvPr/>
        </p:nvSpPr>
        <p:spPr>
          <a:xfrm>
            <a:off x="868680" y="3063240"/>
            <a:ext cx="2743200" cy="914400"/>
          </a:xfrm>
          <a:prstGeom prst="rect">
            <a:avLst/>
          </a:prstGeom>
          <a:noFill/>
          <a:ln/>
        </p:spPr>
        <p:txBody>
          <a:bodyPr wrap="square" lIns="508" tIns="508" rIns="508" bIns="508" rtlCol="0" anchor="ctr">
            <a:normAutofit/>
          </a:bodyPr>
          <a:lstStyle/>
          <a:p>
            <a:pPr algn="ctr" indent="0" marL="0">
              <a:buNone/>
            </a:pPr>
            <a:r>
              <a:rPr lang="en-US" sz="1400" dirty="0">
                <a:solidFill>
                  <a:srgbClr val="334155"/>
                </a:solidFill>
              </a:rPr>
              <a:t>Permissions are assigned by user role, such as admin, manager, or employee.</a:t>
            </a:r>
            <a:endParaRPr lang="en-US" sz="1400" dirty="0"/>
          </a:p>
        </p:txBody>
      </p:sp>
      <p:sp>
        <p:nvSpPr>
          <p:cNvPr id="10" name="Text 8"/>
          <p:cNvSpPr/>
          <p:nvPr/>
        </p:nvSpPr>
        <p:spPr>
          <a:xfrm>
            <a:off x="4526280" y="1828800"/>
            <a:ext cx="2971800" cy="420624"/>
          </a:xfrm>
          <a:prstGeom prst="roundRect">
            <a:avLst/>
          </a:prstGeom>
          <a:solidFill>
            <a:srgbClr val="7C3AED"/>
          </a:solidFill>
          <a:ln>
            <a:solidFill>
              <a:srgbClr val="7C3AED">
                <a:alpha val="0"/>
              </a:srgbClr>
            </a:solidFill>
          </a:ln>
        </p:spPr>
        <p:txBody>
          <a:bodyPr wrap="square" lIns="0" tIns="0" rIns="0" bIns="0" rtlCol="0" anchor="ctr"/>
          <a:lstStyle/>
          <a:p>
            <a:pPr algn="ctr" indent="0" marL="0">
              <a:buNone/>
            </a:pPr>
            <a:r>
              <a:rPr lang="en-US" sz="1800" b="1" dirty="0">
                <a:solidFill>
                  <a:srgbClr val="FFFFFF"/>
                </a:solidFill>
              </a:rPr>
              <a:t>OAuth 2.0</a:t>
            </a:r>
            <a:endParaRPr lang="en-US" sz="1800" dirty="0"/>
          </a:p>
        </p:txBody>
      </p:sp>
      <p:sp>
        <p:nvSpPr>
          <p:cNvPr id="11" name="Text 9"/>
          <p:cNvSpPr/>
          <p:nvPr/>
        </p:nvSpPr>
        <p:spPr>
          <a:xfrm>
            <a:off x="4663440" y="2514600"/>
            <a:ext cx="2743200" cy="320040"/>
          </a:xfrm>
          <a:prstGeom prst="rect">
            <a:avLst/>
          </a:prstGeom>
          <a:noFill/>
          <a:ln/>
        </p:spPr>
        <p:txBody>
          <a:bodyPr wrap="square" lIns="0" tIns="0" rIns="0" bIns="0" rtlCol="0" anchor="ctr">
            <a:normAutofit/>
          </a:bodyPr>
          <a:lstStyle/>
          <a:p>
            <a:pPr algn="ctr" indent="0" marL="0">
              <a:buNone/>
            </a:pPr>
            <a:r>
              <a:rPr lang="en-US" sz="1180" b="1" dirty="0">
                <a:solidFill>
                  <a:srgbClr val="64748B"/>
                </a:solidFill>
              </a:rPr>
              <a:t>IETF RFC 6749 — Hardt (2012)</a:t>
            </a:r>
            <a:endParaRPr lang="en-US" sz="1180" dirty="0"/>
          </a:p>
        </p:txBody>
      </p:sp>
      <p:sp>
        <p:nvSpPr>
          <p:cNvPr id="12" name="Text 10"/>
          <p:cNvSpPr/>
          <p:nvPr/>
        </p:nvSpPr>
        <p:spPr>
          <a:xfrm>
            <a:off x="4663440" y="3063240"/>
            <a:ext cx="2743200" cy="914400"/>
          </a:xfrm>
          <a:prstGeom prst="rect">
            <a:avLst/>
          </a:prstGeom>
          <a:noFill/>
          <a:ln/>
        </p:spPr>
        <p:txBody>
          <a:bodyPr wrap="square" lIns="508" tIns="508" rIns="508" bIns="508" rtlCol="0" anchor="ctr">
            <a:normAutofit/>
          </a:bodyPr>
          <a:lstStyle/>
          <a:p>
            <a:pPr algn="ctr" indent="0" marL="0">
              <a:buNone/>
            </a:pPr>
            <a:r>
              <a:rPr lang="en-US" sz="1400" dirty="0">
                <a:solidFill>
                  <a:srgbClr val="334155"/>
                </a:solidFill>
              </a:rPr>
              <a:t>Standard framework for delegated authorization in web APIs.</a:t>
            </a:r>
            <a:endParaRPr lang="en-US" sz="1400" dirty="0"/>
          </a:p>
        </p:txBody>
      </p:sp>
      <p:sp>
        <p:nvSpPr>
          <p:cNvPr id="13" name="Text 11"/>
          <p:cNvSpPr/>
          <p:nvPr/>
        </p:nvSpPr>
        <p:spPr>
          <a:xfrm>
            <a:off x="8321040" y="1828800"/>
            <a:ext cx="2971800" cy="420624"/>
          </a:xfrm>
          <a:prstGeom prst="roundRect">
            <a:avLst/>
          </a:prstGeom>
          <a:solidFill>
            <a:srgbClr val="059669"/>
          </a:solidFill>
          <a:ln>
            <a:solidFill>
              <a:srgbClr val="059669">
                <a:alpha val="0"/>
              </a:srgbClr>
            </a:solidFill>
          </a:ln>
        </p:spPr>
        <p:txBody>
          <a:bodyPr wrap="square" lIns="0" tIns="0" rIns="0" bIns="0" rtlCol="0" anchor="ctr"/>
          <a:lstStyle/>
          <a:p>
            <a:pPr algn="ctr" indent="0" marL="0">
              <a:buNone/>
            </a:pPr>
            <a:r>
              <a:rPr lang="en-US" sz="1800" b="1" dirty="0">
                <a:solidFill>
                  <a:srgbClr val="FFFFFF"/>
                </a:solidFill>
              </a:rPr>
              <a:t>JWT</a:t>
            </a:r>
            <a:endParaRPr lang="en-US" sz="1800" dirty="0"/>
          </a:p>
        </p:txBody>
      </p:sp>
      <p:sp>
        <p:nvSpPr>
          <p:cNvPr id="14" name="Text 12"/>
          <p:cNvSpPr/>
          <p:nvPr/>
        </p:nvSpPr>
        <p:spPr>
          <a:xfrm>
            <a:off x="8458200" y="2514600"/>
            <a:ext cx="2743200" cy="320040"/>
          </a:xfrm>
          <a:prstGeom prst="rect">
            <a:avLst/>
          </a:prstGeom>
          <a:noFill/>
          <a:ln/>
        </p:spPr>
        <p:txBody>
          <a:bodyPr wrap="square" lIns="0" tIns="0" rIns="0" bIns="0" rtlCol="0" anchor="ctr">
            <a:normAutofit/>
          </a:bodyPr>
          <a:lstStyle/>
          <a:p>
            <a:pPr algn="ctr" indent="0" marL="0">
              <a:buNone/>
            </a:pPr>
            <a:r>
              <a:rPr lang="en-US" sz="1180" b="1" dirty="0">
                <a:solidFill>
                  <a:srgbClr val="64748B"/>
                </a:solidFill>
              </a:rPr>
              <a:t>IETF RFC 7519 — Jones et al. (2015)</a:t>
            </a:r>
            <a:endParaRPr lang="en-US" sz="1180" dirty="0"/>
          </a:p>
        </p:txBody>
      </p:sp>
      <p:sp>
        <p:nvSpPr>
          <p:cNvPr id="15" name="Text 13"/>
          <p:cNvSpPr/>
          <p:nvPr/>
        </p:nvSpPr>
        <p:spPr>
          <a:xfrm>
            <a:off x="8458200" y="3063240"/>
            <a:ext cx="2743200" cy="914400"/>
          </a:xfrm>
          <a:prstGeom prst="rect">
            <a:avLst/>
          </a:prstGeom>
          <a:noFill/>
          <a:ln/>
        </p:spPr>
        <p:txBody>
          <a:bodyPr wrap="square" lIns="508" tIns="508" rIns="508" bIns="508" rtlCol="0" anchor="ctr">
            <a:normAutofit/>
          </a:bodyPr>
          <a:lstStyle/>
          <a:p>
            <a:pPr algn="ctr" indent="0" marL="0">
              <a:buNone/>
            </a:pPr>
            <a:r>
              <a:rPr lang="en-US" sz="1400" dirty="0">
                <a:solidFill>
                  <a:srgbClr val="334155"/>
                </a:solidFill>
              </a:rPr>
              <a:t>Compact token used to verify user identity and role claims.</a:t>
            </a:r>
            <a:endParaRPr lang="en-US" sz="1400" dirty="0"/>
          </a:p>
        </p:txBody>
      </p:sp>
      <p:sp>
        <p:nvSpPr>
          <p:cNvPr id="16" name="Text 14"/>
          <p:cNvSpPr/>
          <p:nvPr/>
        </p:nvSpPr>
        <p:spPr>
          <a:xfrm>
            <a:off x="1005840" y="5212080"/>
            <a:ext cx="10149840" cy="457200"/>
          </a:xfrm>
          <a:prstGeom prst="roundRect">
            <a:avLst/>
          </a:prstGeom>
          <a:solidFill>
            <a:srgbClr val="F1F5F9"/>
          </a:solidFill>
          <a:ln>
            <a:solidFill>
              <a:srgbClr val="E2E8F0"/>
            </a:solidFill>
          </a:ln>
        </p:spPr>
        <p:txBody>
          <a:bodyPr wrap="square" lIns="635" tIns="635" rIns="635" bIns="635" rtlCol="0" anchor="ctr"/>
          <a:lstStyle/>
          <a:p>
            <a:pPr algn="ctr" indent="0" marL="0">
              <a:buNone/>
            </a:pPr>
            <a:r>
              <a:rPr lang="en-US" sz="1650" b="1" dirty="0">
                <a:solidFill>
                  <a:srgbClr val="0E1B2A"/>
                </a:solidFill>
              </a:rPr>
              <a:t>Simple security flow: Login → JWT generated → API checks role → access allowed or denied</a:t>
            </a:r>
            <a:endParaRPr lang="en-US" sz="1650" dirty="0"/>
          </a:p>
        </p:txBody>
      </p:sp>
      <p:sp>
        <p:nvSpPr>
          <p:cNvPr id="17" name="Text 15"/>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LITERATURE REVIEW</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Additional related papers added</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These strengthen the link between EKIP and enterprise-grade RAG/search systems.</a:t>
            </a:r>
            <a:endParaRPr lang="en-US" sz="1350" dirty="0"/>
          </a:p>
        </p:txBody>
      </p:sp>
      <p:sp>
        <p:nvSpPr>
          <p:cNvPr id="7" name="Text 5"/>
          <p:cNvSpPr/>
          <p:nvPr/>
        </p:nvSpPr>
        <p:spPr>
          <a:xfrm>
            <a:off x="502920" y="1719072"/>
            <a:ext cx="2514600" cy="292608"/>
          </a:xfrm>
          <a:prstGeom prst="rect">
            <a:avLst/>
          </a:prstGeom>
          <a:solidFill>
            <a:srgbClr val="0E1B2A"/>
          </a:solidFill>
          <a:ln/>
        </p:spPr>
        <p:txBody>
          <a:bodyPr wrap="square" lIns="635" tIns="635" rIns="635" bIns="635" rtlCol="0" anchor="ctr">
            <a:normAutofit/>
          </a:bodyPr>
          <a:lstStyle/>
          <a:p>
            <a:pPr indent="0" marL="0">
              <a:buNone/>
            </a:pPr>
            <a:r>
              <a:rPr lang="en-US" sz="1080" b="1" dirty="0">
                <a:solidFill>
                  <a:srgbClr val="FFFFFF"/>
                </a:solidFill>
              </a:rPr>
              <a:t>Paper</a:t>
            </a:r>
            <a:endParaRPr lang="en-US" sz="1080" dirty="0"/>
          </a:p>
        </p:txBody>
      </p:sp>
      <p:sp>
        <p:nvSpPr>
          <p:cNvPr id="8" name="Text 6"/>
          <p:cNvSpPr/>
          <p:nvPr/>
        </p:nvSpPr>
        <p:spPr>
          <a:xfrm>
            <a:off x="3291840" y="1719072"/>
            <a:ext cx="2423160" cy="292608"/>
          </a:xfrm>
          <a:prstGeom prst="rect">
            <a:avLst/>
          </a:prstGeom>
          <a:solidFill>
            <a:srgbClr val="0E1B2A"/>
          </a:solidFill>
          <a:ln/>
        </p:spPr>
        <p:txBody>
          <a:bodyPr wrap="square" lIns="635" tIns="635" rIns="635" bIns="635" rtlCol="0" anchor="ctr">
            <a:normAutofit/>
          </a:bodyPr>
          <a:lstStyle/>
          <a:p>
            <a:pPr indent="0" marL="0">
              <a:buNone/>
            </a:pPr>
            <a:r>
              <a:rPr lang="en-US" sz="1080" b="1" dirty="0">
                <a:solidFill>
                  <a:srgbClr val="FFFFFF"/>
                </a:solidFill>
              </a:rPr>
              <a:t>Method / focus</a:t>
            </a:r>
            <a:endParaRPr lang="en-US" sz="1080" dirty="0"/>
          </a:p>
        </p:txBody>
      </p:sp>
      <p:sp>
        <p:nvSpPr>
          <p:cNvPr id="9" name="Text 7"/>
          <p:cNvSpPr/>
          <p:nvPr/>
        </p:nvSpPr>
        <p:spPr>
          <a:xfrm>
            <a:off x="6080760" y="1719072"/>
            <a:ext cx="2514600" cy="292608"/>
          </a:xfrm>
          <a:prstGeom prst="rect">
            <a:avLst/>
          </a:prstGeom>
          <a:solidFill>
            <a:srgbClr val="0E1B2A"/>
          </a:solidFill>
          <a:ln/>
        </p:spPr>
        <p:txBody>
          <a:bodyPr wrap="square" lIns="635" tIns="635" rIns="635" bIns="635" rtlCol="0" anchor="ctr">
            <a:normAutofit/>
          </a:bodyPr>
          <a:lstStyle/>
          <a:p>
            <a:pPr indent="0" marL="0">
              <a:buNone/>
            </a:pPr>
            <a:r>
              <a:rPr lang="en-US" sz="1080" b="1" dirty="0">
                <a:solidFill>
                  <a:srgbClr val="FFFFFF"/>
                </a:solidFill>
              </a:rPr>
              <a:t>Main finding</a:t>
            </a:r>
            <a:endParaRPr lang="en-US" sz="1080" dirty="0"/>
          </a:p>
        </p:txBody>
      </p:sp>
      <p:sp>
        <p:nvSpPr>
          <p:cNvPr id="10" name="Text 8"/>
          <p:cNvSpPr/>
          <p:nvPr/>
        </p:nvSpPr>
        <p:spPr>
          <a:xfrm>
            <a:off x="8869680" y="1719072"/>
            <a:ext cx="2651760" cy="292608"/>
          </a:xfrm>
          <a:prstGeom prst="rect">
            <a:avLst/>
          </a:prstGeom>
          <a:solidFill>
            <a:srgbClr val="0E1B2A"/>
          </a:solidFill>
          <a:ln/>
        </p:spPr>
        <p:txBody>
          <a:bodyPr wrap="square" lIns="635" tIns="635" rIns="635" bIns="635" rtlCol="0" anchor="ctr">
            <a:normAutofit/>
          </a:bodyPr>
          <a:lstStyle/>
          <a:p>
            <a:pPr indent="0" marL="0">
              <a:buNone/>
            </a:pPr>
            <a:r>
              <a:rPr lang="en-US" sz="1080" b="1" dirty="0">
                <a:solidFill>
                  <a:srgbClr val="FFFFFF"/>
                </a:solidFill>
              </a:rPr>
              <a:t>How it helps EKIP</a:t>
            </a:r>
            <a:endParaRPr lang="en-US" sz="1080" dirty="0"/>
          </a:p>
        </p:txBody>
      </p:sp>
      <p:sp>
        <p:nvSpPr>
          <p:cNvPr id="11" name="Text 9"/>
          <p:cNvSpPr/>
          <p:nvPr/>
        </p:nvSpPr>
        <p:spPr>
          <a:xfrm>
            <a:off x="502920" y="2139696"/>
            <a:ext cx="251460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FACTS About Building RAG-based Chatbots</a:t>
            </a:r>
            <a:endParaRPr lang="en-US" sz="980" dirty="0"/>
          </a:p>
          <a:p>
            <a:pPr indent="0" marL="0">
              <a:buNone/>
            </a:pPr>
            <a:r>
              <a:rPr lang="en-US" sz="980" dirty="0">
                <a:solidFill>
                  <a:srgbClr val="334155"/>
                </a:solidFill>
              </a:rPr>
              <a:t>Akkiraju et al., 2024</a:t>
            </a:r>
            <a:endParaRPr lang="en-US" sz="980" dirty="0"/>
          </a:p>
        </p:txBody>
      </p:sp>
      <p:sp>
        <p:nvSpPr>
          <p:cNvPr id="12" name="Text 10"/>
          <p:cNvSpPr/>
          <p:nvPr/>
        </p:nvSpPr>
        <p:spPr>
          <a:xfrm>
            <a:off x="3291840" y="2139696"/>
            <a:ext cx="242316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Covers enterprise RAG pipeline design, access control, security, testing, latency, and references.</a:t>
            </a:r>
            <a:endParaRPr lang="en-US" sz="980" dirty="0"/>
          </a:p>
        </p:txBody>
      </p:sp>
      <p:sp>
        <p:nvSpPr>
          <p:cNvPr id="13" name="Text 11"/>
          <p:cNvSpPr/>
          <p:nvPr/>
        </p:nvSpPr>
        <p:spPr>
          <a:xfrm>
            <a:off x="6080760" y="2139696"/>
            <a:ext cx="251460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Enterprise RAG needs retrieval, security, testing, and performance together.</a:t>
            </a:r>
            <a:endParaRPr lang="en-US" sz="980" dirty="0"/>
          </a:p>
        </p:txBody>
      </p:sp>
      <p:sp>
        <p:nvSpPr>
          <p:cNvPr id="14" name="Text 12"/>
          <p:cNvSpPr/>
          <p:nvPr/>
        </p:nvSpPr>
        <p:spPr>
          <a:xfrm>
            <a:off x="8869680" y="2139696"/>
            <a:ext cx="265176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Directly supports secure enterprise semantic retrieval.</a:t>
            </a:r>
            <a:endParaRPr lang="en-US" sz="980" dirty="0"/>
          </a:p>
        </p:txBody>
      </p:sp>
      <p:sp>
        <p:nvSpPr>
          <p:cNvPr id="15" name="Text 13"/>
          <p:cNvSpPr/>
          <p:nvPr/>
        </p:nvSpPr>
        <p:spPr>
          <a:xfrm>
            <a:off x="502920" y="3255264"/>
            <a:ext cx="2514600" cy="804672"/>
          </a:xfrm>
          <a:prstGeom prst="rect">
            <a:avLst/>
          </a:prstGeom>
          <a:solidFill>
            <a:srgbClr val="F8FAFC"/>
          </a:solidFill>
          <a:ln/>
        </p:spPr>
        <p:txBody>
          <a:bodyPr wrap="square" lIns="762" tIns="762" rIns="762" bIns="762" rtlCol="0" anchor="ctr">
            <a:normAutofit/>
          </a:bodyPr>
          <a:lstStyle/>
          <a:p>
            <a:pPr indent="0" marL="0">
              <a:buNone/>
            </a:pPr>
            <a:r>
              <a:rPr lang="en-US" sz="980" dirty="0">
                <a:solidFill>
                  <a:srgbClr val="334155"/>
                </a:solidFill>
              </a:rPr>
              <a:t>Optimizing &amp; Evaluating Enterprise RAG</a:t>
            </a:r>
            <a:endParaRPr lang="en-US" sz="980" dirty="0"/>
          </a:p>
          <a:p>
            <a:pPr indent="0" marL="0">
              <a:buNone/>
            </a:pPr>
            <a:r>
              <a:rPr lang="en-US" sz="980" dirty="0">
                <a:solidFill>
                  <a:srgbClr val="334155"/>
                </a:solidFill>
              </a:rPr>
              <a:t>Packowski et al., 2024</a:t>
            </a:r>
            <a:endParaRPr lang="en-US" sz="980" dirty="0"/>
          </a:p>
        </p:txBody>
      </p:sp>
      <p:sp>
        <p:nvSpPr>
          <p:cNvPr id="16" name="Text 14"/>
          <p:cNvSpPr/>
          <p:nvPr/>
        </p:nvSpPr>
        <p:spPr>
          <a:xfrm>
            <a:off x="3291840" y="3255264"/>
            <a:ext cx="2423160" cy="804672"/>
          </a:xfrm>
          <a:prstGeom prst="rect">
            <a:avLst/>
          </a:prstGeom>
          <a:solidFill>
            <a:srgbClr val="F8FAFC"/>
          </a:solidFill>
          <a:ln/>
        </p:spPr>
        <p:txBody>
          <a:bodyPr wrap="square" lIns="762" tIns="762" rIns="762" bIns="762" rtlCol="0" anchor="ctr">
            <a:normAutofit/>
          </a:bodyPr>
          <a:lstStyle/>
          <a:p>
            <a:pPr indent="0" marL="0">
              <a:buNone/>
            </a:pPr>
            <a:r>
              <a:rPr lang="en-US" sz="980" dirty="0">
                <a:solidFill>
                  <a:srgbClr val="334155"/>
                </a:solidFill>
              </a:rPr>
              <a:t>Shows practical enterprise RAG evaluation and importance of content design.</a:t>
            </a:r>
            <a:endParaRPr lang="en-US" sz="980" dirty="0"/>
          </a:p>
        </p:txBody>
      </p:sp>
      <p:sp>
        <p:nvSpPr>
          <p:cNvPr id="17" name="Text 15"/>
          <p:cNvSpPr/>
          <p:nvPr/>
        </p:nvSpPr>
        <p:spPr>
          <a:xfrm>
            <a:off x="6080760" y="3255264"/>
            <a:ext cx="2514600" cy="804672"/>
          </a:xfrm>
          <a:prstGeom prst="rect">
            <a:avLst/>
          </a:prstGeom>
          <a:solidFill>
            <a:srgbClr val="F8FAFC"/>
          </a:solidFill>
          <a:ln/>
        </p:spPr>
        <p:txBody>
          <a:bodyPr wrap="square" lIns="762" tIns="762" rIns="762" bIns="762" rtlCol="0" anchor="ctr">
            <a:normAutofit/>
          </a:bodyPr>
          <a:lstStyle/>
          <a:p>
            <a:pPr indent="0" marL="0">
              <a:buNone/>
            </a:pPr>
            <a:r>
              <a:rPr lang="en-US" sz="980" dirty="0">
                <a:solidFill>
                  <a:srgbClr val="334155"/>
                </a:solidFill>
              </a:rPr>
              <a:t>Enterprise RAG quality needs monitoring and evaluation, not only model choice.</a:t>
            </a:r>
            <a:endParaRPr lang="en-US" sz="980" dirty="0"/>
          </a:p>
        </p:txBody>
      </p:sp>
      <p:sp>
        <p:nvSpPr>
          <p:cNvPr id="18" name="Text 16"/>
          <p:cNvSpPr/>
          <p:nvPr/>
        </p:nvSpPr>
        <p:spPr>
          <a:xfrm>
            <a:off x="8869680" y="3255264"/>
            <a:ext cx="2651760" cy="804672"/>
          </a:xfrm>
          <a:prstGeom prst="rect">
            <a:avLst/>
          </a:prstGeom>
          <a:solidFill>
            <a:srgbClr val="F8FAFC"/>
          </a:solidFill>
          <a:ln/>
        </p:spPr>
        <p:txBody>
          <a:bodyPr wrap="square" lIns="762" tIns="762" rIns="762" bIns="762" rtlCol="0" anchor="ctr">
            <a:normAutofit/>
          </a:bodyPr>
          <a:lstStyle/>
          <a:p>
            <a:pPr indent="0" marL="0">
              <a:buNone/>
            </a:pPr>
            <a:r>
              <a:rPr lang="en-US" sz="980" dirty="0">
                <a:solidFill>
                  <a:srgbClr val="334155"/>
                </a:solidFill>
              </a:rPr>
              <a:t>Supports EKIP evaluation metrics and hybrid retrieval testing.</a:t>
            </a:r>
            <a:endParaRPr lang="en-US" sz="980" dirty="0"/>
          </a:p>
        </p:txBody>
      </p:sp>
      <p:sp>
        <p:nvSpPr>
          <p:cNvPr id="19" name="Text 17"/>
          <p:cNvSpPr/>
          <p:nvPr/>
        </p:nvSpPr>
        <p:spPr>
          <a:xfrm>
            <a:off x="502920" y="4370832"/>
            <a:ext cx="251460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Secure Search in Enterprise Webs</a:t>
            </a:r>
            <a:endParaRPr lang="en-US" sz="980" dirty="0"/>
          </a:p>
          <a:p>
            <a:pPr indent="0" marL="0">
              <a:buNone/>
            </a:pPr>
            <a:r>
              <a:rPr lang="en-US" sz="980" dirty="0">
                <a:solidFill>
                  <a:srgbClr val="334155"/>
                </a:solidFill>
              </a:rPr>
              <a:t>Bailey, Hawking &amp; Matson, 2006</a:t>
            </a:r>
            <a:endParaRPr lang="en-US" sz="980" dirty="0"/>
          </a:p>
        </p:txBody>
      </p:sp>
      <p:sp>
        <p:nvSpPr>
          <p:cNvPr id="20" name="Text 18"/>
          <p:cNvSpPr/>
          <p:nvPr/>
        </p:nvSpPr>
        <p:spPr>
          <a:xfrm>
            <a:off x="3291840" y="4370832"/>
            <a:ext cx="242316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Studies document-level security during enterprise search.</a:t>
            </a:r>
            <a:endParaRPr lang="en-US" sz="980" dirty="0"/>
          </a:p>
        </p:txBody>
      </p:sp>
      <p:sp>
        <p:nvSpPr>
          <p:cNvPr id="21" name="Text 19"/>
          <p:cNvSpPr/>
          <p:nvPr/>
        </p:nvSpPr>
        <p:spPr>
          <a:xfrm>
            <a:off x="6080760" y="4370832"/>
            <a:ext cx="251460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Search must enforce document-level access before showing results.</a:t>
            </a:r>
            <a:endParaRPr lang="en-US" sz="980" dirty="0"/>
          </a:p>
        </p:txBody>
      </p:sp>
      <p:sp>
        <p:nvSpPr>
          <p:cNvPr id="22" name="Text 20"/>
          <p:cNvSpPr/>
          <p:nvPr/>
        </p:nvSpPr>
        <p:spPr>
          <a:xfrm>
            <a:off x="8869680" y="4370832"/>
            <a:ext cx="2651760" cy="804672"/>
          </a:xfrm>
          <a:prstGeom prst="rect">
            <a:avLst/>
          </a:prstGeom>
          <a:solidFill>
            <a:srgbClr val="FFFFFF"/>
          </a:solidFill>
          <a:ln/>
        </p:spPr>
        <p:txBody>
          <a:bodyPr wrap="square" lIns="762" tIns="762" rIns="762" bIns="762" rtlCol="0" anchor="ctr">
            <a:normAutofit/>
          </a:bodyPr>
          <a:lstStyle/>
          <a:p>
            <a:pPr indent="0" marL="0">
              <a:buNone/>
            </a:pPr>
            <a:r>
              <a:rPr lang="en-US" sz="980" dirty="0">
                <a:solidFill>
                  <a:srgbClr val="334155"/>
                </a:solidFill>
              </a:rPr>
              <a:t>Supports the G2 gap: retrieval must respect permissions.</a:t>
            </a:r>
            <a:endParaRPr lang="en-US" sz="980" dirty="0"/>
          </a:p>
        </p:txBody>
      </p:sp>
      <p:sp>
        <p:nvSpPr>
          <p:cNvPr id="23" name="Text 21"/>
          <p:cNvSpPr/>
          <p:nvPr/>
        </p:nvSpPr>
        <p:spPr>
          <a:xfrm>
            <a:off x="1234440" y="5687568"/>
            <a:ext cx="9692640" cy="365760"/>
          </a:xfrm>
          <a:prstGeom prst="roundRect">
            <a:avLst/>
          </a:prstGeom>
          <a:solidFill>
            <a:srgbClr val="FEF3C7"/>
          </a:solidFill>
          <a:ln>
            <a:solidFill>
              <a:srgbClr val="FDE68A"/>
            </a:solidFill>
          </a:ln>
        </p:spPr>
        <p:txBody>
          <a:bodyPr wrap="square" lIns="508" tIns="508" rIns="508" bIns="508" rtlCol="0" anchor="ctr"/>
          <a:lstStyle/>
          <a:p>
            <a:pPr algn="ctr" indent="0" marL="0">
              <a:buNone/>
            </a:pPr>
            <a:r>
              <a:rPr lang="en-US" sz="1450" b="1" dirty="0">
                <a:solidFill>
                  <a:srgbClr val="92400E"/>
                </a:solidFill>
              </a:rPr>
              <a:t>Use these as 3 extra papers; do not add too many, because quality matters more than count.</a:t>
            </a:r>
            <a:endParaRPr lang="en-US" sz="1450" dirty="0"/>
          </a:p>
        </p:txBody>
      </p:sp>
      <p:sp>
        <p:nvSpPr>
          <p:cNvPr id="24" name="Text 22"/>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CRITICAL ANALYSIS</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Synthesis of the research strands</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Each research area is strong alone, but incomplete for a full enterprise KMS.</a:t>
            </a:r>
            <a:endParaRPr lang="en-US" sz="1350" dirty="0"/>
          </a:p>
        </p:txBody>
      </p:sp>
      <p:sp>
        <p:nvSpPr>
          <p:cNvPr id="7" name="Text 5"/>
          <p:cNvSpPr/>
          <p:nvPr/>
        </p:nvSpPr>
        <p:spPr>
          <a:xfrm>
            <a:off x="822960" y="1828800"/>
            <a:ext cx="2926080" cy="320040"/>
          </a:xfrm>
          <a:prstGeom prst="rect">
            <a:avLst/>
          </a:prstGeom>
          <a:noFill/>
          <a:ln/>
        </p:spPr>
        <p:txBody>
          <a:bodyPr wrap="square" lIns="0" tIns="0" rIns="0" bIns="0" rtlCol="0" anchor="ctr"/>
          <a:lstStyle/>
          <a:p>
            <a:pPr algn="ctr" indent="0" marL="0">
              <a:buNone/>
            </a:pPr>
            <a:r>
              <a:rPr lang="en-US" sz="1650" b="1" dirty="0">
                <a:solidFill>
                  <a:srgbClr val="2563EB"/>
                </a:solidFill>
              </a:rPr>
              <a:t>Storage literature</a:t>
            </a:r>
            <a:endParaRPr lang="en-US" sz="1650" dirty="0"/>
          </a:p>
        </p:txBody>
      </p:sp>
      <p:sp>
        <p:nvSpPr>
          <p:cNvPr id="8" name="Text 6"/>
          <p:cNvSpPr/>
          <p:nvPr/>
        </p:nvSpPr>
        <p:spPr>
          <a:xfrm>
            <a:off x="731520" y="2423160"/>
            <a:ext cx="3108960" cy="1325880"/>
          </a:xfrm>
          <a:prstGeom prst="roundRect">
            <a:avLst/>
          </a:prstGeom>
          <a:solidFill>
            <a:srgbClr val="FFFFFF"/>
          </a:solidFill>
          <a:ln>
            <a:solidFill>
              <a:srgbClr val="E2E8F0"/>
            </a:solidFill>
          </a:ln>
        </p:spPr>
        <p:txBody>
          <a:bodyPr wrap="square" lIns="1524" tIns="1524" rIns="1524" bIns="1524" rtlCol="0" anchor="ctr">
            <a:normAutofit/>
          </a:bodyPr>
          <a:lstStyle/>
          <a:p>
            <a:pPr indent="0" marL="0">
              <a:buNone/>
            </a:pPr>
            <a:r>
              <a:rPr lang="en-US" sz="1430" dirty="0">
                <a:solidFill>
                  <a:srgbClr val="334155"/>
                </a:solidFill>
              </a:rPr>
              <a:t>✓ Structure and flexibility</a:t>
            </a:r>
            <a:endParaRPr lang="en-US" sz="1430" dirty="0"/>
          </a:p>
          <a:p>
            <a:pPr indent="0" marL="0">
              <a:buNone/>
            </a:pPr>
            <a:r>
              <a:rPr lang="en-US" sz="1430" dirty="0">
                <a:solidFill>
                  <a:srgbClr val="334155"/>
                </a:solidFill>
              </a:rPr>
              <a:t>✗ Does not solve retrieval quality or security</a:t>
            </a:r>
            <a:endParaRPr lang="en-US" sz="1430" dirty="0"/>
          </a:p>
        </p:txBody>
      </p:sp>
      <p:sp>
        <p:nvSpPr>
          <p:cNvPr id="9" name="Text 7"/>
          <p:cNvSpPr/>
          <p:nvPr/>
        </p:nvSpPr>
        <p:spPr>
          <a:xfrm>
            <a:off x="4572000" y="1828800"/>
            <a:ext cx="2926080" cy="320040"/>
          </a:xfrm>
          <a:prstGeom prst="rect">
            <a:avLst/>
          </a:prstGeom>
          <a:noFill/>
          <a:ln/>
        </p:spPr>
        <p:txBody>
          <a:bodyPr wrap="square" lIns="0" tIns="0" rIns="0" bIns="0" rtlCol="0" anchor="ctr"/>
          <a:lstStyle/>
          <a:p>
            <a:pPr algn="ctr" indent="0" marL="0">
              <a:buNone/>
            </a:pPr>
            <a:r>
              <a:rPr lang="en-US" sz="1650" b="1" dirty="0">
                <a:solidFill>
                  <a:srgbClr val="7C3AED"/>
                </a:solidFill>
              </a:rPr>
              <a:t>Retrieval literature</a:t>
            </a:r>
            <a:endParaRPr lang="en-US" sz="1650" dirty="0"/>
          </a:p>
        </p:txBody>
      </p:sp>
      <p:sp>
        <p:nvSpPr>
          <p:cNvPr id="10" name="Text 8"/>
          <p:cNvSpPr/>
          <p:nvPr/>
        </p:nvSpPr>
        <p:spPr>
          <a:xfrm>
            <a:off x="4480560" y="2423160"/>
            <a:ext cx="3108960" cy="1325880"/>
          </a:xfrm>
          <a:prstGeom prst="roundRect">
            <a:avLst/>
          </a:prstGeom>
          <a:solidFill>
            <a:srgbClr val="FFFFFF"/>
          </a:solidFill>
          <a:ln>
            <a:solidFill>
              <a:srgbClr val="E2E8F0"/>
            </a:solidFill>
          </a:ln>
        </p:spPr>
        <p:txBody>
          <a:bodyPr wrap="square" lIns="1524" tIns="1524" rIns="1524" bIns="1524" rtlCol="0" anchor="ctr">
            <a:normAutofit/>
          </a:bodyPr>
          <a:lstStyle/>
          <a:p>
            <a:pPr indent="0" marL="0">
              <a:buNone/>
            </a:pPr>
            <a:r>
              <a:rPr lang="en-US" sz="1430" dirty="0">
                <a:solidFill>
                  <a:srgbClr val="334155"/>
                </a:solidFill>
              </a:rPr>
              <a:t>✓ Semantic matching and vector search</a:t>
            </a:r>
            <a:endParaRPr lang="en-US" sz="1430" dirty="0"/>
          </a:p>
          <a:p>
            <a:pPr indent="0" marL="0">
              <a:buNone/>
            </a:pPr>
            <a:r>
              <a:rPr lang="en-US" sz="1430" dirty="0">
                <a:solidFill>
                  <a:srgbClr val="334155"/>
                </a:solidFill>
              </a:rPr>
              <a:t>✗ Often assumes an open corpus</a:t>
            </a:r>
            <a:endParaRPr lang="en-US" sz="1430" dirty="0"/>
          </a:p>
        </p:txBody>
      </p:sp>
      <p:sp>
        <p:nvSpPr>
          <p:cNvPr id="11" name="Text 9"/>
          <p:cNvSpPr/>
          <p:nvPr/>
        </p:nvSpPr>
        <p:spPr>
          <a:xfrm>
            <a:off x="8321040" y="1828800"/>
            <a:ext cx="2926080" cy="320040"/>
          </a:xfrm>
          <a:prstGeom prst="rect">
            <a:avLst/>
          </a:prstGeom>
          <a:noFill/>
          <a:ln/>
        </p:spPr>
        <p:txBody>
          <a:bodyPr wrap="square" lIns="0" tIns="0" rIns="0" bIns="0" rtlCol="0" anchor="ctr"/>
          <a:lstStyle/>
          <a:p>
            <a:pPr algn="ctr" indent="0" marL="0">
              <a:buNone/>
            </a:pPr>
            <a:r>
              <a:rPr lang="en-US" sz="1650" b="1" dirty="0">
                <a:solidFill>
                  <a:srgbClr val="059669"/>
                </a:solidFill>
              </a:rPr>
              <a:t>Security literature</a:t>
            </a:r>
            <a:endParaRPr lang="en-US" sz="1650" dirty="0"/>
          </a:p>
        </p:txBody>
      </p:sp>
      <p:sp>
        <p:nvSpPr>
          <p:cNvPr id="12" name="Text 10"/>
          <p:cNvSpPr/>
          <p:nvPr/>
        </p:nvSpPr>
        <p:spPr>
          <a:xfrm>
            <a:off x="8229600" y="2423160"/>
            <a:ext cx="3108960" cy="1325880"/>
          </a:xfrm>
          <a:prstGeom prst="roundRect">
            <a:avLst/>
          </a:prstGeom>
          <a:solidFill>
            <a:srgbClr val="FFFFFF"/>
          </a:solidFill>
          <a:ln>
            <a:solidFill>
              <a:srgbClr val="E2E8F0"/>
            </a:solidFill>
          </a:ln>
        </p:spPr>
        <p:txBody>
          <a:bodyPr wrap="square" lIns="1524" tIns="1524" rIns="1524" bIns="1524" rtlCol="0" anchor="ctr">
            <a:normAutofit/>
          </a:bodyPr>
          <a:lstStyle/>
          <a:p>
            <a:pPr indent="0" marL="0">
              <a:buNone/>
            </a:pPr>
            <a:r>
              <a:rPr lang="en-US" sz="1430" dirty="0">
                <a:solidFill>
                  <a:srgbClr val="334155"/>
                </a:solidFill>
              </a:rPr>
              <a:t>✓ Authorization and stateless API security</a:t>
            </a:r>
            <a:endParaRPr lang="en-US" sz="1430" dirty="0"/>
          </a:p>
          <a:p>
            <a:pPr indent="0" marL="0">
              <a:buNone/>
            </a:pPr>
            <a:r>
              <a:rPr lang="en-US" sz="1430" dirty="0">
                <a:solidFill>
                  <a:srgbClr val="334155"/>
                </a:solidFill>
              </a:rPr>
              <a:t>✗ Does not organize or retrieve content</a:t>
            </a:r>
            <a:endParaRPr lang="en-US" sz="1430" dirty="0"/>
          </a:p>
        </p:txBody>
      </p:sp>
      <p:sp>
        <p:nvSpPr>
          <p:cNvPr id="13" name="Text 11"/>
          <p:cNvSpPr/>
          <p:nvPr/>
        </p:nvSpPr>
        <p:spPr>
          <a:xfrm>
            <a:off x="4434840" y="4709160"/>
            <a:ext cx="3291840" cy="256032"/>
          </a:xfrm>
          <a:prstGeom prst="rect">
            <a:avLst/>
          </a:prstGeom>
          <a:noFill/>
          <a:ln/>
        </p:spPr>
        <p:txBody>
          <a:bodyPr wrap="square" lIns="0" tIns="0" rIns="0" bIns="0" rtlCol="0" anchor="ctr"/>
          <a:lstStyle/>
          <a:p>
            <a:pPr algn="ctr" indent="0" marL="0">
              <a:buNone/>
            </a:pPr>
            <a:r>
              <a:rPr lang="en-US" sz="1200" b="1" dirty="0">
                <a:solidFill>
                  <a:srgbClr val="64748B"/>
                </a:solidFill>
              </a:rPr>
              <a:t>Critical conclusion</a:t>
            </a:r>
            <a:endParaRPr lang="en-US" sz="1200" dirty="0"/>
          </a:p>
        </p:txBody>
      </p:sp>
      <p:sp>
        <p:nvSpPr>
          <p:cNvPr id="14" name="Text 12"/>
          <p:cNvSpPr/>
          <p:nvPr/>
        </p:nvSpPr>
        <p:spPr>
          <a:xfrm>
            <a:off x="1325880" y="5084064"/>
            <a:ext cx="9555480" cy="566928"/>
          </a:xfrm>
          <a:prstGeom prst="roundRect">
            <a:avLst/>
          </a:prstGeom>
          <a:solidFill>
            <a:srgbClr val="DBEAFE"/>
          </a:solidFill>
          <a:ln>
            <a:solidFill>
              <a:srgbClr val="BFDBFE"/>
            </a:solidFill>
          </a:ln>
        </p:spPr>
        <p:txBody>
          <a:bodyPr wrap="square" lIns="762" tIns="762" rIns="762" bIns="762" rtlCol="0" anchor="ctr">
            <a:normAutofit/>
          </a:bodyPr>
          <a:lstStyle/>
          <a:p>
            <a:pPr algn="ctr" indent="0" marL="0">
              <a:buNone/>
            </a:pPr>
            <a:r>
              <a:rPr lang="en-US" sz="1700" b="1" dirty="0">
                <a:solidFill>
                  <a:srgbClr val="0E1B2A"/>
                </a:solidFill>
              </a:rPr>
              <a:t>The gap is not absence of technology; the gap is secure integration of storage + search + access control.</a:t>
            </a:r>
            <a:endParaRPr lang="en-US" sz="1700" dirty="0"/>
          </a:p>
        </p:txBody>
      </p:sp>
      <p:sp>
        <p:nvSpPr>
          <p:cNvPr id="15" name="Text 13"/>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GAP ANALYSIS</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Research gaps identified</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Four gaps shape the EKIP design.</a:t>
            </a:r>
            <a:endParaRPr lang="en-US" sz="1350" dirty="0"/>
          </a:p>
        </p:txBody>
      </p:sp>
      <p:sp>
        <p:nvSpPr>
          <p:cNvPr id="7" name="Text 5"/>
          <p:cNvSpPr/>
          <p:nvPr/>
        </p:nvSpPr>
        <p:spPr>
          <a:xfrm>
            <a:off x="685800" y="1828800"/>
            <a:ext cx="566928" cy="402336"/>
          </a:xfrm>
          <a:prstGeom prst="roundRect">
            <a:avLst/>
          </a:prstGeom>
          <a:solidFill>
            <a:srgbClr val="2563EB"/>
          </a:solidFill>
          <a:ln>
            <a:solidFill>
              <a:srgbClr val="2563EB">
                <a:alpha val="0"/>
              </a:srgbClr>
            </a:solidFill>
          </a:ln>
        </p:spPr>
        <p:txBody>
          <a:bodyPr wrap="square" lIns="0" tIns="0" rIns="0" bIns="0" rtlCol="0" anchor="ctr"/>
          <a:lstStyle/>
          <a:p>
            <a:pPr algn="ctr" indent="0" marL="0">
              <a:buNone/>
            </a:pPr>
            <a:r>
              <a:rPr lang="en-US" sz="1400" b="1" dirty="0">
                <a:solidFill>
                  <a:srgbClr val="FFFFFF"/>
                </a:solidFill>
              </a:rPr>
              <a:t>G1</a:t>
            </a:r>
            <a:endParaRPr lang="en-US" sz="1400" dirty="0"/>
          </a:p>
        </p:txBody>
      </p:sp>
      <p:sp>
        <p:nvSpPr>
          <p:cNvPr id="8" name="Text 6"/>
          <p:cNvSpPr/>
          <p:nvPr/>
        </p:nvSpPr>
        <p:spPr>
          <a:xfrm>
            <a:off x="1399032" y="1847088"/>
            <a:ext cx="4389120" cy="256032"/>
          </a:xfrm>
          <a:prstGeom prst="rect">
            <a:avLst/>
          </a:prstGeom>
          <a:noFill/>
          <a:ln/>
        </p:spPr>
        <p:txBody>
          <a:bodyPr wrap="square" lIns="0" tIns="0" rIns="0" bIns="0" rtlCol="0" anchor="ctr">
            <a:normAutofit/>
          </a:bodyPr>
          <a:lstStyle/>
          <a:p>
            <a:pPr indent="0" marL="0">
              <a:buNone/>
            </a:pPr>
            <a:r>
              <a:rPr lang="en-US" sz="1420" b="1" dirty="0">
                <a:solidFill>
                  <a:srgbClr val="0E1B2A"/>
                </a:solidFill>
              </a:rPr>
              <a:t>No unified governance across content types</a:t>
            </a:r>
            <a:endParaRPr lang="en-US" sz="1420" dirty="0"/>
          </a:p>
        </p:txBody>
      </p:sp>
      <p:sp>
        <p:nvSpPr>
          <p:cNvPr id="9" name="Text 7"/>
          <p:cNvSpPr/>
          <p:nvPr/>
        </p:nvSpPr>
        <p:spPr>
          <a:xfrm>
            <a:off x="1399032" y="2221992"/>
            <a:ext cx="4709160" cy="713232"/>
          </a:xfrm>
          <a:prstGeom prst="rect">
            <a:avLst/>
          </a:prstGeom>
          <a:noFill/>
          <a:ln/>
        </p:spPr>
        <p:txBody>
          <a:bodyPr wrap="square" lIns="0" tIns="0" rIns="0" bIns="0" rtlCol="0" anchor="ctr">
            <a:normAutofit/>
          </a:bodyPr>
          <a:lstStyle/>
          <a:p>
            <a:pPr indent="0" marL="0">
              <a:buNone/>
            </a:pPr>
            <a:r>
              <a:rPr lang="en-US" sz="1230" dirty="0">
                <a:solidFill>
                  <a:srgbClr val="334155"/>
                </a:solidFill>
              </a:rPr>
              <a:t>Permissions are not consistently enforced across relational, document, and vector stores.</a:t>
            </a:r>
            <a:endParaRPr lang="en-US" sz="1230" dirty="0"/>
          </a:p>
        </p:txBody>
      </p:sp>
      <p:sp>
        <p:nvSpPr>
          <p:cNvPr id="10" name="Text 8"/>
          <p:cNvSpPr/>
          <p:nvPr/>
        </p:nvSpPr>
        <p:spPr>
          <a:xfrm>
            <a:off x="6263640" y="1828800"/>
            <a:ext cx="566928" cy="402336"/>
          </a:xfrm>
          <a:prstGeom prst="roundRect">
            <a:avLst/>
          </a:prstGeom>
          <a:solidFill>
            <a:srgbClr val="DC2626"/>
          </a:solidFill>
          <a:ln>
            <a:solidFill>
              <a:srgbClr val="DC2626">
                <a:alpha val="0"/>
              </a:srgbClr>
            </a:solidFill>
          </a:ln>
        </p:spPr>
        <p:txBody>
          <a:bodyPr wrap="square" lIns="0" tIns="0" rIns="0" bIns="0" rtlCol="0" anchor="ctr"/>
          <a:lstStyle/>
          <a:p>
            <a:pPr algn="ctr" indent="0" marL="0">
              <a:buNone/>
            </a:pPr>
            <a:r>
              <a:rPr lang="en-US" sz="1400" b="1" dirty="0">
                <a:solidFill>
                  <a:srgbClr val="FFFFFF"/>
                </a:solidFill>
              </a:rPr>
              <a:t>G2</a:t>
            </a:r>
            <a:endParaRPr lang="en-US" sz="1400" dirty="0"/>
          </a:p>
        </p:txBody>
      </p:sp>
      <p:sp>
        <p:nvSpPr>
          <p:cNvPr id="11" name="Text 9"/>
          <p:cNvSpPr/>
          <p:nvPr/>
        </p:nvSpPr>
        <p:spPr>
          <a:xfrm>
            <a:off x="6976872" y="1847088"/>
            <a:ext cx="4389120" cy="256032"/>
          </a:xfrm>
          <a:prstGeom prst="rect">
            <a:avLst/>
          </a:prstGeom>
          <a:noFill/>
          <a:ln/>
        </p:spPr>
        <p:txBody>
          <a:bodyPr wrap="square" lIns="0" tIns="0" rIns="0" bIns="0" rtlCol="0" anchor="ctr">
            <a:normAutofit/>
          </a:bodyPr>
          <a:lstStyle/>
          <a:p>
            <a:pPr indent="0" marL="0">
              <a:buNone/>
            </a:pPr>
            <a:r>
              <a:rPr lang="en-US" sz="1420" b="1" dirty="0">
                <a:solidFill>
                  <a:srgbClr val="0E1B2A"/>
                </a:solidFill>
              </a:rPr>
              <a:t>Semantic retrieval often assumes an ungoverned corpus</a:t>
            </a:r>
            <a:endParaRPr lang="en-US" sz="1420" dirty="0"/>
          </a:p>
        </p:txBody>
      </p:sp>
      <p:sp>
        <p:nvSpPr>
          <p:cNvPr id="12" name="Text 10"/>
          <p:cNvSpPr/>
          <p:nvPr/>
        </p:nvSpPr>
        <p:spPr>
          <a:xfrm>
            <a:off x="6976872" y="2221992"/>
            <a:ext cx="4709160" cy="713232"/>
          </a:xfrm>
          <a:prstGeom prst="rect">
            <a:avLst/>
          </a:prstGeom>
          <a:noFill/>
          <a:ln/>
        </p:spPr>
        <p:txBody>
          <a:bodyPr wrap="square" lIns="0" tIns="0" rIns="0" bIns="0" rtlCol="0" anchor="ctr">
            <a:normAutofit/>
          </a:bodyPr>
          <a:lstStyle/>
          <a:p>
            <a:pPr indent="0" marL="0">
              <a:buNone/>
            </a:pPr>
            <a:r>
              <a:rPr lang="en-US" sz="1230" dirty="0">
                <a:solidFill>
                  <a:srgbClr val="334155"/>
                </a:solidFill>
              </a:rPr>
              <a:t>Vector search may retrieve relevant content before checking whether the user can view it.</a:t>
            </a:r>
            <a:endParaRPr lang="en-US" sz="1230" dirty="0"/>
          </a:p>
        </p:txBody>
      </p:sp>
      <p:sp>
        <p:nvSpPr>
          <p:cNvPr id="13" name="Text 11"/>
          <p:cNvSpPr/>
          <p:nvPr/>
        </p:nvSpPr>
        <p:spPr>
          <a:xfrm>
            <a:off x="685800" y="3886200"/>
            <a:ext cx="566928" cy="402336"/>
          </a:xfrm>
          <a:prstGeom prst="roundRect">
            <a:avLst/>
          </a:prstGeom>
          <a:solidFill>
            <a:srgbClr val="7C3AED"/>
          </a:solidFill>
          <a:ln>
            <a:solidFill>
              <a:srgbClr val="7C3AED">
                <a:alpha val="0"/>
              </a:srgbClr>
            </a:solidFill>
          </a:ln>
        </p:spPr>
        <p:txBody>
          <a:bodyPr wrap="square" lIns="0" tIns="0" rIns="0" bIns="0" rtlCol="0" anchor="ctr"/>
          <a:lstStyle/>
          <a:p>
            <a:pPr algn="ctr" indent="0" marL="0">
              <a:buNone/>
            </a:pPr>
            <a:r>
              <a:rPr lang="en-US" sz="1400" b="1" dirty="0">
                <a:solidFill>
                  <a:srgbClr val="FFFFFF"/>
                </a:solidFill>
              </a:rPr>
              <a:t>G3</a:t>
            </a:r>
            <a:endParaRPr lang="en-US" sz="1400" dirty="0"/>
          </a:p>
        </p:txBody>
      </p:sp>
      <p:sp>
        <p:nvSpPr>
          <p:cNvPr id="14" name="Text 12"/>
          <p:cNvSpPr/>
          <p:nvPr/>
        </p:nvSpPr>
        <p:spPr>
          <a:xfrm>
            <a:off x="1399032" y="3904488"/>
            <a:ext cx="4389120" cy="256032"/>
          </a:xfrm>
          <a:prstGeom prst="rect">
            <a:avLst/>
          </a:prstGeom>
          <a:noFill/>
          <a:ln/>
        </p:spPr>
        <p:txBody>
          <a:bodyPr wrap="square" lIns="0" tIns="0" rIns="0" bIns="0" rtlCol="0" anchor="ctr">
            <a:normAutofit/>
          </a:bodyPr>
          <a:lstStyle/>
          <a:p>
            <a:pPr indent="0" marL="0">
              <a:buNone/>
            </a:pPr>
            <a:r>
              <a:rPr lang="en-US" sz="1420" b="1" dirty="0">
                <a:solidFill>
                  <a:srgbClr val="0E1B2A"/>
                </a:solidFill>
              </a:rPr>
              <a:t>Weak canonical linkage between stores</a:t>
            </a:r>
            <a:endParaRPr lang="en-US" sz="1420" dirty="0"/>
          </a:p>
        </p:txBody>
      </p:sp>
      <p:sp>
        <p:nvSpPr>
          <p:cNvPr id="15" name="Text 13"/>
          <p:cNvSpPr/>
          <p:nvPr/>
        </p:nvSpPr>
        <p:spPr>
          <a:xfrm>
            <a:off x="1399032" y="4279392"/>
            <a:ext cx="4709160" cy="713232"/>
          </a:xfrm>
          <a:prstGeom prst="rect">
            <a:avLst/>
          </a:prstGeom>
          <a:noFill/>
          <a:ln/>
        </p:spPr>
        <p:txBody>
          <a:bodyPr wrap="square" lIns="0" tIns="0" rIns="0" bIns="0" rtlCol="0" anchor="ctr">
            <a:normAutofit/>
          </a:bodyPr>
          <a:lstStyle/>
          <a:p>
            <a:pPr indent="0" marL="0">
              <a:buNone/>
            </a:pPr>
            <a:r>
              <a:rPr lang="en-US" sz="1230" dirty="0">
                <a:solidFill>
                  <a:srgbClr val="334155"/>
                </a:solidFill>
              </a:rPr>
              <a:t>A common document UUID is needed to link SQL metadata, document content, and vectors.</a:t>
            </a:r>
            <a:endParaRPr lang="en-US" sz="1230" dirty="0"/>
          </a:p>
        </p:txBody>
      </p:sp>
      <p:sp>
        <p:nvSpPr>
          <p:cNvPr id="16" name="Text 14"/>
          <p:cNvSpPr/>
          <p:nvPr/>
        </p:nvSpPr>
        <p:spPr>
          <a:xfrm>
            <a:off x="6263640" y="3886200"/>
            <a:ext cx="566928" cy="402336"/>
          </a:xfrm>
          <a:prstGeom prst="roundRect">
            <a:avLst/>
          </a:prstGeom>
          <a:solidFill>
            <a:srgbClr val="059669"/>
          </a:solidFill>
          <a:ln>
            <a:solidFill>
              <a:srgbClr val="059669">
                <a:alpha val="0"/>
              </a:srgbClr>
            </a:solidFill>
          </a:ln>
        </p:spPr>
        <p:txBody>
          <a:bodyPr wrap="square" lIns="0" tIns="0" rIns="0" bIns="0" rtlCol="0" anchor="ctr"/>
          <a:lstStyle/>
          <a:p>
            <a:pPr algn="ctr" indent="0" marL="0">
              <a:buNone/>
            </a:pPr>
            <a:r>
              <a:rPr lang="en-US" sz="1400" b="1" dirty="0">
                <a:solidFill>
                  <a:srgbClr val="FFFFFF"/>
                </a:solidFill>
              </a:rPr>
              <a:t>G4</a:t>
            </a:r>
            <a:endParaRPr lang="en-US" sz="1400" dirty="0"/>
          </a:p>
        </p:txBody>
      </p:sp>
      <p:sp>
        <p:nvSpPr>
          <p:cNvPr id="17" name="Text 15"/>
          <p:cNvSpPr/>
          <p:nvPr/>
        </p:nvSpPr>
        <p:spPr>
          <a:xfrm>
            <a:off x="6976872" y="3904488"/>
            <a:ext cx="4389120" cy="256032"/>
          </a:xfrm>
          <a:prstGeom prst="rect">
            <a:avLst/>
          </a:prstGeom>
          <a:noFill/>
          <a:ln/>
        </p:spPr>
        <p:txBody>
          <a:bodyPr wrap="square" lIns="0" tIns="0" rIns="0" bIns="0" rtlCol="0" anchor="ctr">
            <a:normAutofit/>
          </a:bodyPr>
          <a:lstStyle/>
          <a:p>
            <a:pPr indent="0" marL="0">
              <a:buNone/>
            </a:pPr>
            <a:r>
              <a:rPr lang="en-US" sz="1420" b="1" dirty="0">
                <a:solidFill>
                  <a:srgbClr val="0E1B2A"/>
                </a:solidFill>
              </a:rPr>
              <a:t>Limited hybrid retrieval evaluation</a:t>
            </a:r>
            <a:endParaRPr lang="en-US" sz="1420" dirty="0"/>
          </a:p>
        </p:txBody>
      </p:sp>
      <p:sp>
        <p:nvSpPr>
          <p:cNvPr id="18" name="Text 16"/>
          <p:cNvSpPr/>
          <p:nvPr/>
        </p:nvSpPr>
        <p:spPr>
          <a:xfrm>
            <a:off x="6976872" y="4279392"/>
            <a:ext cx="4709160" cy="713232"/>
          </a:xfrm>
          <a:prstGeom prst="rect">
            <a:avLst/>
          </a:prstGeom>
          <a:noFill/>
          <a:ln/>
        </p:spPr>
        <p:txBody>
          <a:bodyPr wrap="square" lIns="0" tIns="0" rIns="0" bIns="0" rtlCol="0" anchor="ctr">
            <a:normAutofit/>
          </a:bodyPr>
          <a:lstStyle/>
          <a:p>
            <a:pPr indent="0" marL="0">
              <a:buNone/>
            </a:pPr>
            <a:r>
              <a:rPr lang="en-US" sz="1230" dirty="0">
                <a:solidFill>
                  <a:srgbClr val="334155"/>
                </a:solidFill>
              </a:rPr>
              <a:t>Few systems compare keyword, semantic, and hybrid search in a governed setting.</a:t>
            </a:r>
            <a:endParaRPr lang="en-US" sz="1230" dirty="0"/>
          </a:p>
        </p:txBody>
      </p:sp>
      <p:sp>
        <p:nvSpPr>
          <p:cNvPr id="19" name="Text 17"/>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PROPOSED SYSTEM</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EKIP hybrid architecture</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A single secure API connects three specialized data stores.</a:t>
            </a:r>
            <a:endParaRPr lang="en-US" sz="1350" dirty="0"/>
          </a:p>
        </p:txBody>
      </p:sp>
      <p:sp>
        <p:nvSpPr>
          <p:cNvPr id="7" name="Text 5"/>
          <p:cNvSpPr/>
          <p:nvPr/>
        </p:nvSpPr>
        <p:spPr>
          <a:xfrm>
            <a:off x="731520" y="1783080"/>
            <a:ext cx="2103120" cy="475488"/>
          </a:xfrm>
          <a:prstGeom prst="roundRect">
            <a:avLst/>
          </a:prstGeom>
          <a:solidFill>
            <a:srgbClr val="0E1B2A"/>
          </a:solidFill>
          <a:ln>
            <a:solidFill>
              <a:srgbClr val="0E1B2A">
                <a:alpha val="0"/>
              </a:srgbClr>
            </a:solidFill>
          </a:ln>
        </p:spPr>
        <p:txBody>
          <a:bodyPr wrap="square" lIns="762" tIns="762" rIns="762" bIns="762" rtlCol="0" anchor="ctr">
            <a:normAutofit/>
          </a:bodyPr>
          <a:lstStyle/>
          <a:p>
            <a:pPr algn="ctr" indent="0" marL="0">
              <a:buNone/>
            </a:pPr>
            <a:r>
              <a:rPr lang="en-US" sz="1350" b="1" dirty="0">
                <a:solidFill>
                  <a:srgbClr val="FFFFFF"/>
                </a:solidFill>
              </a:rPr>
              <a:t>Client Applications</a:t>
            </a:r>
            <a:endParaRPr lang="en-US" sz="1350" dirty="0"/>
          </a:p>
        </p:txBody>
      </p:sp>
      <p:sp>
        <p:nvSpPr>
          <p:cNvPr id="8" name="Text 6"/>
          <p:cNvSpPr/>
          <p:nvPr/>
        </p:nvSpPr>
        <p:spPr>
          <a:xfrm>
            <a:off x="3657600" y="1691640"/>
            <a:ext cx="2926080" cy="658368"/>
          </a:xfrm>
          <a:prstGeom prst="roundRect">
            <a:avLst/>
          </a:prstGeom>
          <a:solidFill>
            <a:srgbClr val="2563EB"/>
          </a:solidFill>
          <a:ln>
            <a:solidFill>
              <a:srgbClr val="2563EB">
                <a:alpha val="0"/>
              </a:srgbClr>
            </a:solidFill>
          </a:ln>
        </p:spPr>
        <p:txBody>
          <a:bodyPr wrap="square" lIns="762" tIns="762" rIns="762" bIns="762" rtlCol="0" anchor="ctr">
            <a:normAutofit/>
          </a:bodyPr>
          <a:lstStyle/>
          <a:p>
            <a:pPr algn="ctr" indent="0" marL="0">
              <a:buNone/>
            </a:pPr>
            <a:r>
              <a:rPr lang="en-US" sz="1350" b="1" dirty="0">
                <a:solidFill>
                  <a:srgbClr val="FFFFFF"/>
                </a:solidFill>
              </a:rPr>
              <a:t>API Gateway</a:t>
            </a:r>
            <a:endParaRPr lang="en-US" sz="1350" dirty="0"/>
          </a:p>
          <a:p>
            <a:pPr algn="ctr" indent="0" marL="0">
              <a:buNone/>
            </a:pPr>
            <a:r>
              <a:rPr lang="en-US" sz="1350" b="1" dirty="0">
                <a:solidFill>
                  <a:srgbClr val="FFFFFF"/>
                </a:solidFill>
              </a:rPr>
              <a:t>Auth · Routing · Rate limiting</a:t>
            </a:r>
            <a:endParaRPr lang="en-US" sz="1350" dirty="0"/>
          </a:p>
        </p:txBody>
      </p:sp>
      <p:sp>
        <p:nvSpPr>
          <p:cNvPr id="9" name="Text 7"/>
          <p:cNvSpPr/>
          <p:nvPr/>
        </p:nvSpPr>
        <p:spPr>
          <a:xfrm>
            <a:off x="7406640" y="1691640"/>
            <a:ext cx="3566160" cy="658368"/>
          </a:xfrm>
          <a:prstGeom prst="roundRect">
            <a:avLst/>
          </a:prstGeom>
          <a:solidFill>
            <a:srgbClr val="7C3AED"/>
          </a:solidFill>
          <a:ln>
            <a:solidFill>
              <a:srgbClr val="7C3AED">
                <a:alpha val="0"/>
              </a:srgbClr>
            </a:solidFill>
          </a:ln>
        </p:spPr>
        <p:txBody>
          <a:bodyPr wrap="square" lIns="762" tIns="762" rIns="762" bIns="762" rtlCol="0" anchor="ctr">
            <a:normAutofit/>
          </a:bodyPr>
          <a:lstStyle/>
          <a:p>
            <a:pPr algn="ctr" indent="0" marL="0">
              <a:buNone/>
            </a:pPr>
            <a:r>
              <a:rPr lang="en-US" sz="1350" b="1" dirty="0">
                <a:solidFill>
                  <a:srgbClr val="FFFFFF"/>
                </a:solidFill>
              </a:rPr>
              <a:t>Services</a:t>
            </a:r>
            <a:endParaRPr lang="en-US" sz="1350" dirty="0"/>
          </a:p>
          <a:p>
            <a:pPr algn="ctr" indent="0" marL="0">
              <a:buNone/>
            </a:pPr>
            <a:r>
              <a:rPr lang="en-US" sz="1350" b="1" dirty="0">
                <a:solidFill>
                  <a:srgbClr val="FFFFFF"/>
                </a:solidFill>
              </a:rPr>
              <a:t>Auth · Repository · Search · Embedding · Audit</a:t>
            </a:r>
            <a:endParaRPr lang="en-US" sz="1350" dirty="0"/>
          </a:p>
        </p:txBody>
      </p:sp>
      <p:sp>
        <p:nvSpPr>
          <p:cNvPr id="10" name="Text 8"/>
          <p:cNvSpPr/>
          <p:nvPr/>
        </p:nvSpPr>
        <p:spPr>
          <a:xfrm>
            <a:off x="868680" y="3794760"/>
            <a:ext cx="3108960" cy="786384"/>
          </a:xfrm>
          <a:prstGeom prst="roundRect">
            <a:avLst/>
          </a:prstGeom>
          <a:solidFill>
            <a:srgbClr val="059669"/>
          </a:solidFill>
          <a:ln>
            <a:solidFill>
              <a:srgbClr val="059669">
                <a:alpha val="0"/>
              </a:srgbClr>
            </a:solidFill>
          </a:ln>
        </p:spPr>
        <p:txBody>
          <a:bodyPr wrap="square" lIns="762" tIns="762" rIns="762" bIns="762" rtlCol="0" anchor="ctr">
            <a:normAutofit/>
          </a:bodyPr>
          <a:lstStyle/>
          <a:p>
            <a:pPr algn="ctr" indent="0" marL="0">
              <a:buNone/>
            </a:pPr>
            <a:r>
              <a:rPr lang="en-US" sz="1350" b="1" dirty="0">
                <a:solidFill>
                  <a:srgbClr val="FFFFFF"/>
                </a:solidFill>
              </a:rPr>
              <a:t>PostgreSQL</a:t>
            </a:r>
            <a:endParaRPr lang="en-US" sz="1350" dirty="0"/>
          </a:p>
          <a:p>
            <a:pPr algn="ctr" indent="0" marL="0">
              <a:buNone/>
            </a:pPr>
            <a:r>
              <a:rPr lang="en-US" sz="1350" b="1" dirty="0">
                <a:solidFill>
                  <a:srgbClr val="FFFFFF"/>
                </a:solidFill>
              </a:rPr>
              <a:t>Users · Roles · Permissions · Audit</a:t>
            </a:r>
            <a:endParaRPr lang="en-US" sz="1350" dirty="0"/>
          </a:p>
        </p:txBody>
      </p:sp>
      <p:sp>
        <p:nvSpPr>
          <p:cNvPr id="11" name="Text 9"/>
          <p:cNvSpPr/>
          <p:nvPr/>
        </p:nvSpPr>
        <p:spPr>
          <a:xfrm>
            <a:off x="4526280" y="3794760"/>
            <a:ext cx="3108960" cy="786384"/>
          </a:xfrm>
          <a:prstGeom prst="roundRect">
            <a:avLst/>
          </a:prstGeom>
          <a:solidFill>
            <a:srgbClr val="D97706"/>
          </a:solidFill>
          <a:ln>
            <a:solidFill>
              <a:srgbClr val="D97706">
                <a:alpha val="0"/>
              </a:srgbClr>
            </a:solidFill>
          </a:ln>
        </p:spPr>
        <p:txBody>
          <a:bodyPr wrap="square" lIns="762" tIns="762" rIns="762" bIns="762" rtlCol="0" anchor="ctr">
            <a:normAutofit/>
          </a:bodyPr>
          <a:lstStyle/>
          <a:p>
            <a:pPr algn="ctr" indent="0" marL="0">
              <a:buNone/>
            </a:pPr>
            <a:r>
              <a:rPr lang="en-US" sz="1350" b="1" dirty="0">
                <a:solidFill>
                  <a:srgbClr val="FFFFFF"/>
                </a:solidFill>
              </a:rPr>
              <a:t>MongoDB</a:t>
            </a:r>
            <a:endParaRPr lang="en-US" sz="1350" dirty="0"/>
          </a:p>
          <a:p>
            <a:pPr algn="ctr" indent="0" marL="0">
              <a:buNone/>
            </a:pPr>
            <a:r>
              <a:rPr lang="en-US" sz="1350" b="1" dirty="0">
                <a:solidFill>
                  <a:srgbClr val="FFFFFF"/>
                </a:solidFill>
              </a:rPr>
              <a:t>Knowledge articles · Versions · Tags</a:t>
            </a:r>
            <a:endParaRPr lang="en-US" sz="1350" dirty="0"/>
          </a:p>
        </p:txBody>
      </p:sp>
      <p:sp>
        <p:nvSpPr>
          <p:cNvPr id="12" name="Text 10"/>
          <p:cNvSpPr/>
          <p:nvPr/>
        </p:nvSpPr>
        <p:spPr>
          <a:xfrm>
            <a:off x="8183880" y="3794760"/>
            <a:ext cx="3108960" cy="786384"/>
          </a:xfrm>
          <a:prstGeom prst="roundRect">
            <a:avLst/>
          </a:prstGeom>
          <a:solidFill>
            <a:srgbClr val="4338CA"/>
          </a:solidFill>
          <a:ln>
            <a:solidFill>
              <a:srgbClr val="4338CA">
                <a:alpha val="0"/>
              </a:srgbClr>
            </a:solidFill>
          </a:ln>
        </p:spPr>
        <p:txBody>
          <a:bodyPr wrap="square" lIns="762" tIns="762" rIns="762" bIns="762" rtlCol="0" anchor="ctr">
            <a:normAutofit/>
          </a:bodyPr>
          <a:lstStyle/>
          <a:p>
            <a:pPr algn="ctr" indent="0" marL="0">
              <a:buNone/>
            </a:pPr>
            <a:r>
              <a:rPr lang="en-US" sz="1350" b="1" dirty="0">
                <a:solidFill>
                  <a:srgbClr val="FFFFFF"/>
                </a:solidFill>
              </a:rPr>
              <a:t>Vector Store</a:t>
            </a:r>
            <a:endParaRPr lang="en-US" sz="1350" dirty="0"/>
          </a:p>
          <a:p>
            <a:pPr algn="ctr" indent="0" marL="0">
              <a:buNone/>
            </a:pPr>
            <a:r>
              <a:rPr lang="en-US" sz="1350" b="1" dirty="0">
                <a:solidFill>
                  <a:srgbClr val="FFFFFF"/>
                </a:solidFill>
              </a:rPr>
              <a:t>Embeddings for semantic similarity</a:t>
            </a:r>
            <a:endParaRPr lang="en-US" sz="1350" dirty="0"/>
          </a:p>
        </p:txBody>
      </p:sp>
      <p:sp>
        <p:nvSpPr>
          <p:cNvPr id="13" name="Text 11"/>
          <p:cNvSpPr/>
          <p:nvPr/>
        </p:nvSpPr>
        <p:spPr>
          <a:xfrm>
            <a:off x="3063240" y="1810512"/>
            <a:ext cx="320040" cy="256032"/>
          </a:xfrm>
          <a:prstGeom prst="rect">
            <a:avLst/>
          </a:prstGeom>
          <a:noFill/>
          <a:ln/>
        </p:spPr>
        <p:txBody>
          <a:bodyPr wrap="square" lIns="0" tIns="0" rIns="0" bIns="0" rtlCol="0" anchor="ctr"/>
          <a:lstStyle/>
          <a:p>
            <a:pPr indent="0" marL="0">
              <a:buNone/>
            </a:pPr>
            <a:r>
              <a:rPr lang="en-US" sz="2400" b="1" dirty="0">
                <a:solidFill>
                  <a:srgbClr val="64748B"/>
                </a:solidFill>
              </a:rPr>
              <a:t>→</a:t>
            </a:r>
            <a:endParaRPr lang="en-US" sz="2400" dirty="0"/>
          </a:p>
        </p:txBody>
      </p:sp>
      <p:sp>
        <p:nvSpPr>
          <p:cNvPr id="14" name="Text 12"/>
          <p:cNvSpPr/>
          <p:nvPr/>
        </p:nvSpPr>
        <p:spPr>
          <a:xfrm>
            <a:off x="6858000" y="1810512"/>
            <a:ext cx="320040" cy="256032"/>
          </a:xfrm>
          <a:prstGeom prst="rect">
            <a:avLst/>
          </a:prstGeom>
          <a:noFill/>
          <a:ln/>
        </p:spPr>
        <p:txBody>
          <a:bodyPr wrap="square" lIns="0" tIns="0" rIns="0" bIns="0" rtlCol="0" anchor="ctr"/>
          <a:lstStyle/>
          <a:p>
            <a:pPr indent="0" marL="0">
              <a:buNone/>
            </a:pPr>
            <a:r>
              <a:rPr lang="en-US" sz="2400" b="1" dirty="0">
                <a:solidFill>
                  <a:srgbClr val="64748B"/>
                </a:solidFill>
              </a:rPr>
              <a:t>→</a:t>
            </a:r>
            <a:endParaRPr lang="en-US" sz="2400" dirty="0"/>
          </a:p>
        </p:txBody>
      </p:sp>
      <p:sp>
        <p:nvSpPr>
          <p:cNvPr id="15" name="Text 13"/>
          <p:cNvSpPr/>
          <p:nvPr/>
        </p:nvSpPr>
        <p:spPr>
          <a:xfrm>
            <a:off x="5440680" y="2587752"/>
            <a:ext cx="320040" cy="320040"/>
          </a:xfrm>
          <a:prstGeom prst="rect">
            <a:avLst/>
          </a:prstGeom>
          <a:noFill/>
          <a:ln/>
        </p:spPr>
        <p:txBody>
          <a:bodyPr wrap="square" lIns="0" tIns="0" rIns="0" bIns="0" rtlCol="0" anchor="ctr"/>
          <a:lstStyle/>
          <a:p>
            <a:pPr indent="0" marL="0">
              <a:buNone/>
            </a:pPr>
            <a:r>
              <a:rPr lang="en-US" sz="2400" b="1" dirty="0">
                <a:solidFill>
                  <a:srgbClr val="64748B"/>
                </a:solidFill>
              </a:rPr>
              <a:t>↓</a:t>
            </a:r>
            <a:endParaRPr lang="en-US" sz="2400" dirty="0"/>
          </a:p>
        </p:txBody>
      </p:sp>
      <p:sp>
        <p:nvSpPr>
          <p:cNvPr id="16" name="Text 14"/>
          <p:cNvSpPr/>
          <p:nvPr/>
        </p:nvSpPr>
        <p:spPr>
          <a:xfrm>
            <a:off x="1371600" y="5394960"/>
            <a:ext cx="9418320" cy="457200"/>
          </a:xfrm>
          <a:prstGeom prst="roundRect">
            <a:avLst/>
          </a:prstGeom>
          <a:solidFill>
            <a:srgbClr val="EEF2FF"/>
          </a:solidFill>
          <a:ln>
            <a:solidFill>
              <a:srgbClr val="C7D2FE"/>
            </a:solidFill>
          </a:ln>
        </p:spPr>
        <p:txBody>
          <a:bodyPr wrap="square" lIns="635" tIns="635" rIns="635" bIns="635" rtlCol="0" anchor="ctr">
            <a:normAutofit/>
          </a:bodyPr>
          <a:lstStyle/>
          <a:p>
            <a:pPr algn="ctr" indent="0" marL="0">
              <a:buNone/>
            </a:pPr>
            <a:r>
              <a:rPr lang="en-US" sz="1600" b="1" dirty="0">
                <a:solidFill>
                  <a:srgbClr val="4338CA"/>
                </a:solidFill>
              </a:rPr>
              <a:t>Canonical Document UUID links the same document across SQL, MongoDB, and the vector store.</a:t>
            </a:r>
            <a:endParaRPr lang="en-US" sz="1600" dirty="0"/>
          </a:p>
        </p:txBody>
      </p:sp>
      <p:sp>
        <p:nvSpPr>
          <p:cNvPr id="17" name="Text 15"/>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SYSTEM DESIGN</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Five functional modules</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The system is divided by responsibility.</a:t>
            </a:r>
            <a:endParaRPr lang="en-US" sz="1350" dirty="0"/>
          </a:p>
        </p:txBody>
      </p:sp>
      <p:sp>
        <p:nvSpPr>
          <p:cNvPr id="7" name="Text 5"/>
          <p:cNvSpPr/>
          <p:nvPr/>
        </p:nvSpPr>
        <p:spPr>
          <a:xfrm>
            <a:off x="777240" y="1874520"/>
            <a:ext cx="438912" cy="438912"/>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371600" y="1892808"/>
            <a:ext cx="2560320" cy="292608"/>
          </a:xfrm>
          <a:prstGeom prst="rect">
            <a:avLst/>
          </a:prstGeom>
          <a:noFill/>
          <a:ln/>
        </p:spPr>
        <p:txBody>
          <a:bodyPr wrap="square" lIns="0" tIns="0" rIns="0" bIns="0" rtlCol="0" anchor="ctr">
            <a:normAutofit/>
          </a:bodyPr>
          <a:lstStyle/>
          <a:p>
            <a:pPr indent="0" marL="0">
              <a:buNone/>
            </a:pPr>
            <a:r>
              <a:rPr lang="en-US" sz="1370" b="1" dirty="0">
                <a:solidFill>
                  <a:srgbClr val="0E1B2A"/>
                </a:solidFill>
              </a:rPr>
              <a:t>User &amp; Role Management</a:t>
            </a:r>
            <a:endParaRPr lang="en-US" sz="1370" dirty="0"/>
          </a:p>
        </p:txBody>
      </p:sp>
      <p:sp>
        <p:nvSpPr>
          <p:cNvPr id="9" name="Text 7"/>
          <p:cNvSpPr/>
          <p:nvPr/>
        </p:nvSpPr>
        <p:spPr>
          <a:xfrm>
            <a:off x="1371600" y="2276856"/>
            <a:ext cx="2560320" cy="530352"/>
          </a:xfrm>
          <a:prstGeom prst="rect">
            <a:avLst/>
          </a:prstGeom>
          <a:noFill/>
          <a:ln/>
        </p:spPr>
        <p:txBody>
          <a:bodyPr wrap="square" lIns="0" tIns="0" rIns="0" bIns="0" rtlCol="0" anchor="ctr">
            <a:normAutofit/>
          </a:bodyPr>
          <a:lstStyle/>
          <a:p>
            <a:pPr indent="0" marL="0">
              <a:buNone/>
            </a:pPr>
            <a:r>
              <a:rPr lang="en-US" sz="1220" dirty="0">
                <a:solidFill>
                  <a:srgbClr val="334155"/>
                </a:solidFill>
              </a:rPr>
              <a:t>RBAC, JWT authentication, salted password hashing</a:t>
            </a:r>
            <a:endParaRPr lang="en-US" sz="1220" dirty="0"/>
          </a:p>
        </p:txBody>
      </p:sp>
      <p:sp>
        <p:nvSpPr>
          <p:cNvPr id="10" name="Text 8"/>
          <p:cNvSpPr/>
          <p:nvPr/>
        </p:nvSpPr>
        <p:spPr>
          <a:xfrm>
            <a:off x="4480560" y="1874520"/>
            <a:ext cx="438912" cy="438912"/>
          </a:xfrm>
          <a:prstGeom prst="ellipse">
            <a:avLst/>
          </a:prstGeom>
          <a:solidFill>
            <a:srgbClr val="7C3AED"/>
          </a:solidFill>
          <a:ln>
            <a:solidFill>
              <a:srgbClr val="7C3AED">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5074920" y="1892808"/>
            <a:ext cx="2560320" cy="292608"/>
          </a:xfrm>
          <a:prstGeom prst="rect">
            <a:avLst/>
          </a:prstGeom>
          <a:noFill/>
          <a:ln/>
        </p:spPr>
        <p:txBody>
          <a:bodyPr wrap="square" lIns="0" tIns="0" rIns="0" bIns="0" rtlCol="0" anchor="ctr">
            <a:normAutofit/>
          </a:bodyPr>
          <a:lstStyle/>
          <a:p>
            <a:pPr indent="0" marL="0">
              <a:buNone/>
            </a:pPr>
            <a:r>
              <a:rPr lang="en-US" sz="1370" b="1" dirty="0">
                <a:solidFill>
                  <a:srgbClr val="0E1B2A"/>
                </a:solidFill>
              </a:rPr>
              <a:t>Knowledge Repository Management</a:t>
            </a:r>
            <a:endParaRPr lang="en-US" sz="1370" dirty="0"/>
          </a:p>
        </p:txBody>
      </p:sp>
      <p:sp>
        <p:nvSpPr>
          <p:cNvPr id="12" name="Text 10"/>
          <p:cNvSpPr/>
          <p:nvPr/>
        </p:nvSpPr>
        <p:spPr>
          <a:xfrm>
            <a:off x="5074920" y="2276856"/>
            <a:ext cx="2560320" cy="530352"/>
          </a:xfrm>
          <a:prstGeom prst="rect">
            <a:avLst/>
          </a:prstGeom>
          <a:noFill/>
          <a:ln/>
        </p:spPr>
        <p:txBody>
          <a:bodyPr wrap="square" lIns="0" tIns="0" rIns="0" bIns="0" rtlCol="0" anchor="ctr">
            <a:normAutofit/>
          </a:bodyPr>
          <a:lstStyle/>
          <a:p>
            <a:pPr indent="0" marL="0">
              <a:buNone/>
            </a:pPr>
            <a:r>
              <a:rPr lang="en-US" sz="1220" dirty="0">
                <a:solidFill>
                  <a:srgbClr val="334155"/>
                </a:solidFill>
              </a:rPr>
              <a:t>Article CRUD, versioning, tagging, taxonomy</a:t>
            </a:r>
            <a:endParaRPr lang="en-US" sz="1220" dirty="0"/>
          </a:p>
        </p:txBody>
      </p:sp>
      <p:sp>
        <p:nvSpPr>
          <p:cNvPr id="13" name="Text 11"/>
          <p:cNvSpPr/>
          <p:nvPr/>
        </p:nvSpPr>
        <p:spPr>
          <a:xfrm>
            <a:off x="8183880" y="1874520"/>
            <a:ext cx="438912" cy="438912"/>
          </a:xfrm>
          <a:prstGeom prst="ellipse">
            <a:avLst/>
          </a:prstGeom>
          <a:solidFill>
            <a:srgbClr val="059669"/>
          </a:solidFill>
          <a:ln>
            <a:solidFill>
              <a:srgbClr val="059669">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p:nvPr/>
        </p:nvSpPr>
        <p:spPr>
          <a:xfrm>
            <a:off x="8778240" y="1892808"/>
            <a:ext cx="2560320" cy="292608"/>
          </a:xfrm>
          <a:prstGeom prst="rect">
            <a:avLst/>
          </a:prstGeom>
          <a:noFill/>
          <a:ln/>
        </p:spPr>
        <p:txBody>
          <a:bodyPr wrap="square" lIns="0" tIns="0" rIns="0" bIns="0" rtlCol="0" anchor="ctr">
            <a:normAutofit/>
          </a:bodyPr>
          <a:lstStyle/>
          <a:p>
            <a:pPr indent="0" marL="0">
              <a:buNone/>
            </a:pPr>
            <a:r>
              <a:rPr lang="en-US" sz="1370" b="1" dirty="0">
                <a:solidFill>
                  <a:srgbClr val="0E1B2A"/>
                </a:solidFill>
              </a:rPr>
              <a:t>Document &amp; Semantic Search</a:t>
            </a:r>
            <a:endParaRPr lang="en-US" sz="1370" dirty="0"/>
          </a:p>
        </p:txBody>
      </p:sp>
      <p:sp>
        <p:nvSpPr>
          <p:cNvPr id="15" name="Text 13"/>
          <p:cNvSpPr/>
          <p:nvPr/>
        </p:nvSpPr>
        <p:spPr>
          <a:xfrm>
            <a:off x="8778240" y="2276856"/>
            <a:ext cx="2560320" cy="530352"/>
          </a:xfrm>
          <a:prstGeom prst="rect">
            <a:avLst/>
          </a:prstGeom>
          <a:noFill/>
          <a:ln/>
        </p:spPr>
        <p:txBody>
          <a:bodyPr wrap="square" lIns="0" tIns="0" rIns="0" bIns="0" rtlCol="0" anchor="ctr">
            <a:normAutofit/>
          </a:bodyPr>
          <a:lstStyle/>
          <a:p>
            <a:pPr indent="0" marL="0">
              <a:buNone/>
            </a:pPr>
            <a:r>
              <a:rPr lang="en-US" sz="1220" dirty="0">
                <a:solidFill>
                  <a:srgbClr val="334155"/>
                </a:solidFill>
              </a:rPr>
              <a:t>Chunking, embeddings, hybrid re-ranked retrieval</a:t>
            </a:r>
            <a:endParaRPr lang="en-US" sz="1220" dirty="0"/>
          </a:p>
        </p:txBody>
      </p:sp>
      <p:sp>
        <p:nvSpPr>
          <p:cNvPr id="16" name="Text 14"/>
          <p:cNvSpPr/>
          <p:nvPr/>
        </p:nvSpPr>
        <p:spPr>
          <a:xfrm>
            <a:off x="1828800" y="4023360"/>
            <a:ext cx="438912" cy="438912"/>
          </a:xfrm>
          <a:prstGeom prst="ellipse">
            <a:avLst/>
          </a:prstGeom>
          <a:solidFill>
            <a:srgbClr val="D97706"/>
          </a:solidFill>
          <a:ln>
            <a:solidFill>
              <a:srgbClr val="D97706">
                <a:alpha val="0"/>
              </a:srgbClr>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p:nvPr/>
        </p:nvSpPr>
        <p:spPr>
          <a:xfrm>
            <a:off x="2423160" y="4041648"/>
            <a:ext cx="3063240" cy="292608"/>
          </a:xfrm>
          <a:prstGeom prst="rect">
            <a:avLst/>
          </a:prstGeom>
          <a:noFill/>
          <a:ln/>
        </p:spPr>
        <p:txBody>
          <a:bodyPr wrap="square" lIns="0" tIns="0" rIns="0" bIns="0" rtlCol="0" anchor="ctr">
            <a:normAutofit/>
          </a:bodyPr>
          <a:lstStyle/>
          <a:p>
            <a:pPr indent="0" marL="0">
              <a:buNone/>
            </a:pPr>
            <a:r>
              <a:rPr lang="en-US" sz="1370" b="1" dirty="0">
                <a:solidFill>
                  <a:srgbClr val="0E1B2A"/>
                </a:solidFill>
              </a:rPr>
              <a:t>REST API &amp; Authentication</a:t>
            </a:r>
            <a:endParaRPr lang="en-US" sz="1370" dirty="0"/>
          </a:p>
        </p:txBody>
      </p:sp>
      <p:sp>
        <p:nvSpPr>
          <p:cNvPr id="18" name="Text 16"/>
          <p:cNvSpPr/>
          <p:nvPr/>
        </p:nvSpPr>
        <p:spPr>
          <a:xfrm>
            <a:off x="2423160" y="4425696"/>
            <a:ext cx="3063240" cy="530352"/>
          </a:xfrm>
          <a:prstGeom prst="rect">
            <a:avLst/>
          </a:prstGeom>
          <a:noFill/>
          <a:ln/>
        </p:spPr>
        <p:txBody>
          <a:bodyPr wrap="square" lIns="0" tIns="0" rIns="0" bIns="0" rtlCol="0" anchor="ctr">
            <a:normAutofit/>
          </a:bodyPr>
          <a:lstStyle/>
          <a:p>
            <a:pPr indent="0" marL="0">
              <a:buNone/>
            </a:pPr>
            <a:r>
              <a:rPr lang="en-US" sz="1220" dirty="0">
                <a:solidFill>
                  <a:srgbClr val="334155"/>
                </a:solidFill>
              </a:rPr>
              <a:t>OpenAPI-documented, OAuth 2.0 / JWT secured</a:t>
            </a:r>
            <a:endParaRPr lang="en-US" sz="1220" dirty="0"/>
          </a:p>
        </p:txBody>
      </p:sp>
      <p:sp>
        <p:nvSpPr>
          <p:cNvPr id="19" name="Text 17"/>
          <p:cNvSpPr/>
          <p:nvPr/>
        </p:nvSpPr>
        <p:spPr>
          <a:xfrm>
            <a:off x="6492240" y="4023360"/>
            <a:ext cx="438912" cy="438912"/>
          </a:xfrm>
          <a:prstGeom prst="ellipse">
            <a:avLst/>
          </a:prstGeom>
          <a:solidFill>
            <a:srgbClr val="4338CA"/>
          </a:solidFill>
          <a:ln>
            <a:solidFill>
              <a:srgbClr val="4338CA">
                <a:alpha val="0"/>
              </a:srgbClr>
            </a:solid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8"/>
          <p:cNvSpPr/>
          <p:nvPr/>
        </p:nvSpPr>
        <p:spPr>
          <a:xfrm>
            <a:off x="7086600" y="4041648"/>
            <a:ext cx="3063240" cy="292608"/>
          </a:xfrm>
          <a:prstGeom prst="rect">
            <a:avLst/>
          </a:prstGeom>
          <a:noFill/>
          <a:ln/>
        </p:spPr>
        <p:txBody>
          <a:bodyPr wrap="square" lIns="0" tIns="0" rIns="0" bIns="0" rtlCol="0" anchor="ctr">
            <a:normAutofit/>
          </a:bodyPr>
          <a:lstStyle/>
          <a:p>
            <a:pPr indent="0" marL="0">
              <a:buNone/>
            </a:pPr>
            <a:r>
              <a:rPr lang="en-US" sz="1370" b="1" dirty="0">
                <a:solidFill>
                  <a:srgbClr val="0E1B2A"/>
                </a:solidFill>
              </a:rPr>
              <a:t>Deployment, Testing &amp; Docs</a:t>
            </a:r>
            <a:endParaRPr lang="en-US" sz="1370" dirty="0"/>
          </a:p>
        </p:txBody>
      </p:sp>
      <p:sp>
        <p:nvSpPr>
          <p:cNvPr id="21" name="Text 19"/>
          <p:cNvSpPr/>
          <p:nvPr/>
        </p:nvSpPr>
        <p:spPr>
          <a:xfrm>
            <a:off x="7086600" y="4425696"/>
            <a:ext cx="3063240" cy="530352"/>
          </a:xfrm>
          <a:prstGeom prst="rect">
            <a:avLst/>
          </a:prstGeom>
          <a:noFill/>
          <a:ln/>
        </p:spPr>
        <p:txBody>
          <a:bodyPr wrap="square" lIns="0" tIns="0" rIns="0" bIns="0" rtlCol="0" anchor="ctr">
            <a:normAutofit/>
          </a:bodyPr>
          <a:lstStyle/>
          <a:p>
            <a:pPr indent="0" marL="0">
              <a:buNone/>
            </a:pPr>
            <a:r>
              <a:rPr lang="en-US" sz="1220" dirty="0">
                <a:solidFill>
                  <a:srgbClr val="334155"/>
                </a:solidFill>
              </a:rPr>
              <a:t>Containers, CI/CD, ADRs, monitoring</a:t>
            </a:r>
            <a:endParaRPr lang="en-US" sz="1220" dirty="0"/>
          </a:p>
        </p:txBody>
      </p:sp>
      <p:sp>
        <p:nvSpPr>
          <p:cNvPr id="22" name="Text 20"/>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IMPLEMENTATION</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Technology stack</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Each tool is selected for one clear system responsibility.</a:t>
            </a:r>
            <a:endParaRPr lang="en-US" sz="1350" dirty="0"/>
          </a:p>
        </p:txBody>
      </p:sp>
      <p:sp>
        <p:nvSpPr>
          <p:cNvPr id="7" name="Text 5"/>
          <p:cNvSpPr/>
          <p:nvPr/>
        </p:nvSpPr>
        <p:spPr>
          <a:xfrm>
            <a:off x="777240" y="173736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Backend</a:t>
            </a:r>
            <a:endParaRPr lang="en-US" sz="1100" dirty="0"/>
          </a:p>
        </p:txBody>
      </p:sp>
      <p:sp>
        <p:nvSpPr>
          <p:cNvPr id="8" name="Text 6"/>
          <p:cNvSpPr/>
          <p:nvPr/>
        </p:nvSpPr>
        <p:spPr>
          <a:xfrm>
            <a:off x="777240" y="206654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Node.js / NestJS or FastAPI</a:t>
            </a:r>
            <a:endParaRPr lang="en-US" sz="1520" dirty="0"/>
          </a:p>
        </p:txBody>
      </p:sp>
      <p:sp>
        <p:nvSpPr>
          <p:cNvPr id="9" name="Text 7"/>
          <p:cNvSpPr/>
          <p:nvPr/>
        </p:nvSpPr>
        <p:spPr>
          <a:xfrm>
            <a:off x="4572000" y="173736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Relational DB</a:t>
            </a:r>
            <a:endParaRPr lang="en-US" sz="1100" dirty="0"/>
          </a:p>
        </p:txBody>
      </p:sp>
      <p:sp>
        <p:nvSpPr>
          <p:cNvPr id="10" name="Text 8"/>
          <p:cNvSpPr/>
          <p:nvPr/>
        </p:nvSpPr>
        <p:spPr>
          <a:xfrm>
            <a:off x="4572000" y="206654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PostgreSQL</a:t>
            </a:r>
            <a:endParaRPr lang="en-US" sz="1520" dirty="0"/>
          </a:p>
        </p:txBody>
      </p:sp>
      <p:sp>
        <p:nvSpPr>
          <p:cNvPr id="11" name="Text 9"/>
          <p:cNvSpPr/>
          <p:nvPr/>
        </p:nvSpPr>
        <p:spPr>
          <a:xfrm>
            <a:off x="8366760" y="173736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Document DB</a:t>
            </a:r>
            <a:endParaRPr lang="en-US" sz="1100" dirty="0"/>
          </a:p>
        </p:txBody>
      </p:sp>
      <p:sp>
        <p:nvSpPr>
          <p:cNvPr id="12" name="Text 10"/>
          <p:cNvSpPr/>
          <p:nvPr/>
        </p:nvSpPr>
        <p:spPr>
          <a:xfrm>
            <a:off x="8366760" y="206654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MongoDB</a:t>
            </a:r>
            <a:endParaRPr lang="en-US" sz="1520" dirty="0"/>
          </a:p>
        </p:txBody>
      </p:sp>
      <p:sp>
        <p:nvSpPr>
          <p:cNvPr id="13" name="Text 11"/>
          <p:cNvSpPr/>
          <p:nvPr/>
        </p:nvSpPr>
        <p:spPr>
          <a:xfrm>
            <a:off x="777240" y="297180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Vector DB</a:t>
            </a:r>
            <a:endParaRPr lang="en-US" sz="1100" dirty="0"/>
          </a:p>
        </p:txBody>
      </p:sp>
      <p:sp>
        <p:nvSpPr>
          <p:cNvPr id="14" name="Text 12"/>
          <p:cNvSpPr/>
          <p:nvPr/>
        </p:nvSpPr>
        <p:spPr>
          <a:xfrm>
            <a:off x="777240" y="330098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Pinecone / Weaviate / pgvector</a:t>
            </a:r>
            <a:endParaRPr lang="en-US" sz="1520" dirty="0"/>
          </a:p>
        </p:txBody>
      </p:sp>
      <p:sp>
        <p:nvSpPr>
          <p:cNvPr id="15" name="Text 13"/>
          <p:cNvSpPr/>
          <p:nvPr/>
        </p:nvSpPr>
        <p:spPr>
          <a:xfrm>
            <a:off x="4572000" y="297180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Embeddings</a:t>
            </a:r>
            <a:endParaRPr lang="en-US" sz="1100" dirty="0"/>
          </a:p>
        </p:txBody>
      </p:sp>
      <p:sp>
        <p:nvSpPr>
          <p:cNvPr id="16" name="Text 14"/>
          <p:cNvSpPr/>
          <p:nvPr/>
        </p:nvSpPr>
        <p:spPr>
          <a:xfrm>
            <a:off x="4572000" y="330098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Sentence-Transformers</a:t>
            </a:r>
            <a:endParaRPr lang="en-US" sz="1520" dirty="0"/>
          </a:p>
        </p:txBody>
      </p:sp>
      <p:sp>
        <p:nvSpPr>
          <p:cNvPr id="17" name="Text 15"/>
          <p:cNvSpPr/>
          <p:nvPr/>
        </p:nvSpPr>
        <p:spPr>
          <a:xfrm>
            <a:off x="8366760" y="297180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Auth</a:t>
            </a:r>
            <a:endParaRPr lang="en-US" sz="1100" dirty="0"/>
          </a:p>
        </p:txBody>
      </p:sp>
      <p:sp>
        <p:nvSpPr>
          <p:cNvPr id="18" name="Text 16"/>
          <p:cNvSpPr/>
          <p:nvPr/>
        </p:nvSpPr>
        <p:spPr>
          <a:xfrm>
            <a:off x="8366760" y="330098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JWT + OAuth 2.0</a:t>
            </a:r>
            <a:endParaRPr lang="en-US" sz="1520" dirty="0"/>
          </a:p>
        </p:txBody>
      </p:sp>
      <p:sp>
        <p:nvSpPr>
          <p:cNvPr id="19" name="Text 17"/>
          <p:cNvSpPr/>
          <p:nvPr/>
        </p:nvSpPr>
        <p:spPr>
          <a:xfrm>
            <a:off x="777240" y="420624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Containers</a:t>
            </a:r>
            <a:endParaRPr lang="en-US" sz="1100" dirty="0"/>
          </a:p>
        </p:txBody>
      </p:sp>
      <p:sp>
        <p:nvSpPr>
          <p:cNvPr id="20" name="Text 18"/>
          <p:cNvSpPr/>
          <p:nvPr/>
        </p:nvSpPr>
        <p:spPr>
          <a:xfrm>
            <a:off x="777240" y="453542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Docker + Kubernetes</a:t>
            </a:r>
            <a:endParaRPr lang="en-US" sz="1520" dirty="0"/>
          </a:p>
        </p:txBody>
      </p:sp>
      <p:sp>
        <p:nvSpPr>
          <p:cNvPr id="21" name="Text 19"/>
          <p:cNvSpPr/>
          <p:nvPr/>
        </p:nvSpPr>
        <p:spPr>
          <a:xfrm>
            <a:off x="4572000" y="420624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CI/CD</a:t>
            </a:r>
            <a:endParaRPr lang="en-US" sz="1100" dirty="0"/>
          </a:p>
        </p:txBody>
      </p:sp>
      <p:sp>
        <p:nvSpPr>
          <p:cNvPr id="22" name="Text 20"/>
          <p:cNvSpPr/>
          <p:nvPr/>
        </p:nvSpPr>
        <p:spPr>
          <a:xfrm>
            <a:off x="4572000" y="453542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GitHub Actions</a:t>
            </a:r>
            <a:endParaRPr lang="en-US" sz="1520" dirty="0"/>
          </a:p>
        </p:txBody>
      </p:sp>
      <p:sp>
        <p:nvSpPr>
          <p:cNvPr id="23" name="Text 21"/>
          <p:cNvSpPr/>
          <p:nvPr/>
        </p:nvSpPr>
        <p:spPr>
          <a:xfrm>
            <a:off x="8366760" y="4206240"/>
            <a:ext cx="3200400" cy="237744"/>
          </a:xfrm>
          <a:prstGeom prst="rect">
            <a:avLst/>
          </a:prstGeom>
          <a:noFill/>
          <a:ln/>
        </p:spPr>
        <p:txBody>
          <a:bodyPr wrap="square" lIns="0" tIns="0" rIns="0" bIns="0" rtlCol="0" anchor="ctr"/>
          <a:lstStyle/>
          <a:p>
            <a:pPr indent="0" marL="0">
              <a:buNone/>
            </a:pPr>
            <a:r>
              <a:rPr lang="en-US" sz="1100" b="1" dirty="0">
                <a:solidFill>
                  <a:srgbClr val="2563EB"/>
                </a:solidFill>
              </a:rPr>
              <a:t>Monitoring</a:t>
            </a:r>
            <a:endParaRPr lang="en-US" sz="1100" dirty="0"/>
          </a:p>
        </p:txBody>
      </p:sp>
      <p:sp>
        <p:nvSpPr>
          <p:cNvPr id="24" name="Text 22"/>
          <p:cNvSpPr/>
          <p:nvPr/>
        </p:nvSpPr>
        <p:spPr>
          <a:xfrm>
            <a:off x="8366760" y="4535424"/>
            <a:ext cx="3200400" cy="384048"/>
          </a:xfrm>
          <a:prstGeom prst="rect">
            <a:avLst/>
          </a:prstGeom>
          <a:noFill/>
          <a:ln/>
        </p:spPr>
        <p:txBody>
          <a:bodyPr wrap="square" lIns="0" tIns="0" rIns="0" bIns="0" rtlCol="0" anchor="ctr">
            <a:normAutofit/>
          </a:bodyPr>
          <a:lstStyle/>
          <a:p>
            <a:pPr indent="0" marL="0">
              <a:buNone/>
            </a:pPr>
            <a:r>
              <a:rPr lang="en-US" sz="1520" b="1" dirty="0">
                <a:solidFill>
                  <a:srgbClr val="0E1B2A"/>
                </a:solidFill>
              </a:rPr>
              <a:t>Prometheus + Grafana</a:t>
            </a:r>
            <a:endParaRPr lang="en-US" sz="1520" dirty="0"/>
          </a:p>
        </p:txBody>
      </p:sp>
      <p:sp>
        <p:nvSpPr>
          <p:cNvPr id="25" name="Text 23"/>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METHODOLOGY</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Semantic search request flow</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How one user query moves through EKIP.</a:t>
            </a:r>
            <a:endParaRPr lang="en-US" sz="1350" dirty="0"/>
          </a:p>
        </p:txBody>
      </p:sp>
      <p:sp>
        <p:nvSpPr>
          <p:cNvPr id="7" name="Text 5"/>
          <p:cNvSpPr/>
          <p:nvPr/>
        </p:nvSpPr>
        <p:spPr>
          <a:xfrm>
            <a:off x="640080" y="2240280"/>
            <a:ext cx="411480" cy="411480"/>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548640" y="2926080"/>
            <a:ext cx="1691640" cy="822960"/>
          </a:xfrm>
          <a:prstGeom prst="rect">
            <a:avLst/>
          </a:prstGeom>
          <a:noFill/>
          <a:ln/>
        </p:spPr>
        <p:txBody>
          <a:bodyPr wrap="square" lIns="381" tIns="381" rIns="381" bIns="381" rtlCol="0" anchor="ctr">
            <a:normAutofit/>
          </a:bodyPr>
          <a:lstStyle/>
          <a:p>
            <a:pPr algn="ctr" indent="0" marL="0">
              <a:buNone/>
            </a:pPr>
            <a:r>
              <a:rPr lang="en-US" sz="1170" dirty="0">
                <a:solidFill>
                  <a:srgbClr val="334155"/>
                </a:solidFill>
              </a:rPr>
              <a:t>User sends query + JWT</a:t>
            </a:r>
            <a:endParaRPr lang="en-US" sz="1170" dirty="0"/>
          </a:p>
        </p:txBody>
      </p:sp>
      <p:sp>
        <p:nvSpPr>
          <p:cNvPr id="9" name="Text 7"/>
          <p:cNvSpPr/>
          <p:nvPr/>
        </p:nvSpPr>
        <p:spPr>
          <a:xfrm>
            <a:off x="2057400" y="2304288"/>
            <a:ext cx="320040" cy="219456"/>
          </a:xfrm>
          <a:prstGeom prst="rect">
            <a:avLst/>
          </a:prstGeom>
          <a:noFill/>
          <a:ln/>
        </p:spPr>
        <p:txBody>
          <a:bodyPr wrap="square" lIns="0" tIns="0" rIns="0" bIns="0" rtlCol="0" anchor="ctr"/>
          <a:lstStyle/>
          <a:p>
            <a:pPr indent="0" marL="0">
              <a:buNone/>
            </a:pPr>
            <a:r>
              <a:rPr lang="en-US" sz="2200" b="1" dirty="0">
                <a:solidFill>
                  <a:srgbClr val="64748B"/>
                </a:solidFill>
              </a:rPr>
              <a:t>→</a:t>
            </a:r>
            <a:endParaRPr lang="en-US" sz="2200" dirty="0"/>
          </a:p>
        </p:txBody>
      </p:sp>
      <p:sp>
        <p:nvSpPr>
          <p:cNvPr id="10" name="Text 8"/>
          <p:cNvSpPr/>
          <p:nvPr/>
        </p:nvSpPr>
        <p:spPr>
          <a:xfrm>
            <a:off x="2514600" y="2240280"/>
            <a:ext cx="411480" cy="411480"/>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2423160" y="2926080"/>
            <a:ext cx="1691640" cy="822960"/>
          </a:xfrm>
          <a:prstGeom prst="rect">
            <a:avLst/>
          </a:prstGeom>
          <a:noFill/>
          <a:ln/>
        </p:spPr>
        <p:txBody>
          <a:bodyPr wrap="square" lIns="381" tIns="381" rIns="381" bIns="381" rtlCol="0" anchor="ctr">
            <a:normAutofit/>
          </a:bodyPr>
          <a:lstStyle/>
          <a:p>
            <a:pPr algn="ctr" indent="0" marL="0">
              <a:buNone/>
            </a:pPr>
            <a:r>
              <a:rPr lang="en-US" sz="1170" dirty="0">
                <a:solidFill>
                  <a:srgbClr val="334155"/>
                </a:solidFill>
              </a:rPr>
              <a:t>Gateway validates token</a:t>
            </a:r>
            <a:endParaRPr lang="en-US" sz="1170" dirty="0"/>
          </a:p>
        </p:txBody>
      </p:sp>
      <p:sp>
        <p:nvSpPr>
          <p:cNvPr id="12" name="Text 10"/>
          <p:cNvSpPr/>
          <p:nvPr/>
        </p:nvSpPr>
        <p:spPr>
          <a:xfrm>
            <a:off x="3931920" y="2304288"/>
            <a:ext cx="320040" cy="219456"/>
          </a:xfrm>
          <a:prstGeom prst="rect">
            <a:avLst/>
          </a:prstGeom>
          <a:noFill/>
          <a:ln/>
        </p:spPr>
        <p:txBody>
          <a:bodyPr wrap="square" lIns="0" tIns="0" rIns="0" bIns="0" rtlCol="0" anchor="ctr"/>
          <a:lstStyle/>
          <a:p>
            <a:pPr indent="0" marL="0">
              <a:buNone/>
            </a:pPr>
            <a:r>
              <a:rPr lang="en-US" sz="2200" b="1" dirty="0">
                <a:solidFill>
                  <a:srgbClr val="64748B"/>
                </a:solidFill>
              </a:rPr>
              <a:t>→</a:t>
            </a:r>
            <a:endParaRPr lang="en-US" sz="2200" dirty="0"/>
          </a:p>
        </p:txBody>
      </p:sp>
      <p:sp>
        <p:nvSpPr>
          <p:cNvPr id="13" name="Text 11"/>
          <p:cNvSpPr/>
          <p:nvPr/>
        </p:nvSpPr>
        <p:spPr>
          <a:xfrm>
            <a:off x="4389120" y="2240280"/>
            <a:ext cx="411480" cy="411480"/>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p:nvPr/>
        </p:nvSpPr>
        <p:spPr>
          <a:xfrm>
            <a:off x="4297680" y="2926080"/>
            <a:ext cx="1691640" cy="822960"/>
          </a:xfrm>
          <a:prstGeom prst="rect">
            <a:avLst/>
          </a:prstGeom>
          <a:noFill/>
          <a:ln/>
        </p:spPr>
        <p:txBody>
          <a:bodyPr wrap="square" lIns="381" tIns="381" rIns="381" bIns="381" rtlCol="0" anchor="ctr">
            <a:normAutofit/>
          </a:bodyPr>
          <a:lstStyle/>
          <a:p>
            <a:pPr algn="ctr" indent="0" marL="0">
              <a:buNone/>
            </a:pPr>
            <a:r>
              <a:rPr lang="en-US" sz="1170" dirty="0">
                <a:solidFill>
                  <a:srgbClr val="334155"/>
                </a:solidFill>
              </a:rPr>
              <a:t>Query becomes embedding</a:t>
            </a:r>
            <a:endParaRPr lang="en-US" sz="1170" dirty="0"/>
          </a:p>
        </p:txBody>
      </p:sp>
      <p:sp>
        <p:nvSpPr>
          <p:cNvPr id="15" name="Text 13"/>
          <p:cNvSpPr/>
          <p:nvPr/>
        </p:nvSpPr>
        <p:spPr>
          <a:xfrm>
            <a:off x="5806440" y="2304288"/>
            <a:ext cx="320040" cy="219456"/>
          </a:xfrm>
          <a:prstGeom prst="rect">
            <a:avLst/>
          </a:prstGeom>
          <a:noFill/>
          <a:ln/>
        </p:spPr>
        <p:txBody>
          <a:bodyPr wrap="square" lIns="0" tIns="0" rIns="0" bIns="0" rtlCol="0" anchor="ctr"/>
          <a:lstStyle/>
          <a:p>
            <a:pPr indent="0" marL="0">
              <a:buNone/>
            </a:pPr>
            <a:r>
              <a:rPr lang="en-US" sz="2200" b="1" dirty="0">
                <a:solidFill>
                  <a:srgbClr val="64748B"/>
                </a:solidFill>
              </a:rPr>
              <a:t>→</a:t>
            </a:r>
            <a:endParaRPr lang="en-US" sz="2200" dirty="0"/>
          </a:p>
        </p:txBody>
      </p:sp>
      <p:sp>
        <p:nvSpPr>
          <p:cNvPr id="16" name="Text 14"/>
          <p:cNvSpPr/>
          <p:nvPr/>
        </p:nvSpPr>
        <p:spPr>
          <a:xfrm>
            <a:off x="6263640" y="2240280"/>
            <a:ext cx="411480" cy="411480"/>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p:nvPr/>
        </p:nvSpPr>
        <p:spPr>
          <a:xfrm>
            <a:off x="6172200" y="2926080"/>
            <a:ext cx="1691640" cy="822960"/>
          </a:xfrm>
          <a:prstGeom prst="rect">
            <a:avLst/>
          </a:prstGeom>
          <a:noFill/>
          <a:ln/>
        </p:spPr>
        <p:txBody>
          <a:bodyPr wrap="square" lIns="381" tIns="381" rIns="381" bIns="381" rtlCol="0" anchor="ctr">
            <a:normAutofit/>
          </a:bodyPr>
          <a:lstStyle/>
          <a:p>
            <a:pPr algn="ctr" indent="0" marL="0">
              <a:buNone/>
            </a:pPr>
            <a:r>
              <a:rPr lang="en-US" sz="1170" dirty="0">
                <a:solidFill>
                  <a:srgbClr val="334155"/>
                </a:solidFill>
              </a:rPr>
              <a:t>Vector store returns top-k chunks</a:t>
            </a:r>
            <a:endParaRPr lang="en-US" sz="1170" dirty="0"/>
          </a:p>
        </p:txBody>
      </p:sp>
      <p:sp>
        <p:nvSpPr>
          <p:cNvPr id="18" name="Text 16"/>
          <p:cNvSpPr/>
          <p:nvPr/>
        </p:nvSpPr>
        <p:spPr>
          <a:xfrm>
            <a:off x="7680960" y="2304288"/>
            <a:ext cx="320040" cy="219456"/>
          </a:xfrm>
          <a:prstGeom prst="rect">
            <a:avLst/>
          </a:prstGeom>
          <a:noFill/>
          <a:ln/>
        </p:spPr>
        <p:txBody>
          <a:bodyPr wrap="square" lIns="0" tIns="0" rIns="0" bIns="0" rtlCol="0" anchor="ctr"/>
          <a:lstStyle/>
          <a:p>
            <a:pPr indent="0" marL="0">
              <a:buNone/>
            </a:pPr>
            <a:r>
              <a:rPr lang="en-US" sz="2200" b="1" dirty="0">
                <a:solidFill>
                  <a:srgbClr val="64748B"/>
                </a:solidFill>
              </a:rPr>
              <a:t>→</a:t>
            </a:r>
            <a:endParaRPr lang="en-US" sz="2200" dirty="0"/>
          </a:p>
        </p:txBody>
      </p:sp>
      <p:sp>
        <p:nvSpPr>
          <p:cNvPr id="19" name="Text 17"/>
          <p:cNvSpPr/>
          <p:nvPr/>
        </p:nvSpPr>
        <p:spPr>
          <a:xfrm>
            <a:off x="8138160" y="2240280"/>
            <a:ext cx="411480" cy="411480"/>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8"/>
          <p:cNvSpPr/>
          <p:nvPr/>
        </p:nvSpPr>
        <p:spPr>
          <a:xfrm>
            <a:off x="8046720" y="2926080"/>
            <a:ext cx="1691640" cy="822960"/>
          </a:xfrm>
          <a:prstGeom prst="rect">
            <a:avLst/>
          </a:prstGeom>
          <a:noFill/>
          <a:ln/>
        </p:spPr>
        <p:txBody>
          <a:bodyPr wrap="square" lIns="381" tIns="381" rIns="381" bIns="381" rtlCol="0" anchor="ctr">
            <a:normAutofit/>
          </a:bodyPr>
          <a:lstStyle/>
          <a:p>
            <a:pPr algn="ctr" indent="0" marL="0">
              <a:buNone/>
            </a:pPr>
            <a:r>
              <a:rPr lang="en-US" sz="1170" dirty="0">
                <a:solidFill>
                  <a:srgbClr val="334155"/>
                </a:solidFill>
              </a:rPr>
              <a:t>Permission filter checks roles</a:t>
            </a:r>
            <a:endParaRPr lang="en-US" sz="1170" dirty="0"/>
          </a:p>
        </p:txBody>
      </p:sp>
      <p:sp>
        <p:nvSpPr>
          <p:cNvPr id="21" name="Text 19"/>
          <p:cNvSpPr/>
          <p:nvPr/>
        </p:nvSpPr>
        <p:spPr>
          <a:xfrm>
            <a:off x="9555480" y="2304288"/>
            <a:ext cx="320040" cy="219456"/>
          </a:xfrm>
          <a:prstGeom prst="rect">
            <a:avLst/>
          </a:prstGeom>
          <a:noFill/>
          <a:ln/>
        </p:spPr>
        <p:txBody>
          <a:bodyPr wrap="square" lIns="0" tIns="0" rIns="0" bIns="0" rtlCol="0" anchor="ctr"/>
          <a:lstStyle/>
          <a:p>
            <a:pPr indent="0" marL="0">
              <a:buNone/>
            </a:pPr>
            <a:r>
              <a:rPr lang="en-US" sz="2200" b="1" dirty="0">
                <a:solidFill>
                  <a:srgbClr val="64748B"/>
                </a:solidFill>
              </a:rPr>
              <a:t>→</a:t>
            </a:r>
            <a:endParaRPr lang="en-US" sz="2200" dirty="0"/>
          </a:p>
        </p:txBody>
      </p:sp>
      <p:sp>
        <p:nvSpPr>
          <p:cNvPr id="22" name="Text 20"/>
          <p:cNvSpPr/>
          <p:nvPr/>
        </p:nvSpPr>
        <p:spPr>
          <a:xfrm>
            <a:off x="10012680" y="2240280"/>
            <a:ext cx="411480" cy="411480"/>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1"/>
          <p:cNvSpPr/>
          <p:nvPr/>
        </p:nvSpPr>
        <p:spPr>
          <a:xfrm>
            <a:off x="9921240" y="2926080"/>
            <a:ext cx="1691640" cy="822960"/>
          </a:xfrm>
          <a:prstGeom prst="rect">
            <a:avLst/>
          </a:prstGeom>
          <a:noFill/>
          <a:ln/>
        </p:spPr>
        <p:txBody>
          <a:bodyPr wrap="square" lIns="381" tIns="381" rIns="381" bIns="381" rtlCol="0" anchor="ctr">
            <a:normAutofit/>
          </a:bodyPr>
          <a:lstStyle/>
          <a:p>
            <a:pPr algn="ctr" indent="0" marL="0">
              <a:buNone/>
            </a:pPr>
            <a:r>
              <a:rPr lang="en-US" sz="1170" dirty="0">
                <a:solidFill>
                  <a:srgbClr val="334155"/>
                </a:solidFill>
              </a:rPr>
              <a:t>Only allowed results returned</a:t>
            </a:r>
            <a:endParaRPr lang="en-US" sz="1170" dirty="0"/>
          </a:p>
        </p:txBody>
      </p:sp>
      <p:sp>
        <p:nvSpPr>
          <p:cNvPr id="24" name="Text 22"/>
          <p:cNvSpPr/>
          <p:nvPr/>
        </p:nvSpPr>
        <p:spPr>
          <a:xfrm>
            <a:off x="1234440" y="4983480"/>
            <a:ext cx="9692640" cy="566928"/>
          </a:xfrm>
          <a:prstGeom prst="roundRect">
            <a:avLst/>
          </a:prstGeom>
          <a:solidFill>
            <a:srgbClr val="DCFCE7"/>
          </a:solidFill>
          <a:ln>
            <a:solidFill>
              <a:srgbClr val="BBF7D0"/>
            </a:solidFill>
          </a:ln>
        </p:spPr>
        <p:txBody>
          <a:bodyPr wrap="square" lIns="635" tIns="635" rIns="635" bIns="635" rtlCol="0" anchor="ctr">
            <a:normAutofit/>
          </a:bodyPr>
          <a:lstStyle/>
          <a:p>
            <a:pPr algn="ctr" indent="0" marL="0">
              <a:buNone/>
            </a:pPr>
            <a:r>
              <a:rPr lang="en-US" sz="1650" b="1" dirty="0">
                <a:solidFill>
                  <a:srgbClr val="065F46"/>
                </a:solidFill>
              </a:rPr>
              <a:t>Core methodology: retrieve by meaning first, then enforce access control before returning content.</a:t>
            </a:r>
            <a:endParaRPr lang="en-US" sz="1650" dirty="0"/>
          </a:p>
        </p:txBody>
      </p:sp>
      <p:sp>
        <p:nvSpPr>
          <p:cNvPr id="25" name="Text 23"/>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METHODOLOGY</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DSA / DBMS angle in the project</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Data structures and algorithms used inside the architecture.</a:t>
            </a:r>
            <a:endParaRPr lang="en-US" sz="1350" dirty="0"/>
          </a:p>
        </p:txBody>
      </p:sp>
      <p:sp>
        <p:nvSpPr>
          <p:cNvPr id="7" name="Text 5"/>
          <p:cNvSpPr/>
          <p:nvPr/>
        </p:nvSpPr>
        <p:spPr>
          <a:xfrm>
            <a:off x="822960" y="1828800"/>
            <a:ext cx="402336" cy="402336"/>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353312" y="1847088"/>
            <a:ext cx="411480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Tables / indexes</a:t>
            </a:r>
            <a:endParaRPr lang="en-US" sz="1350" dirty="0"/>
          </a:p>
        </p:txBody>
      </p:sp>
      <p:sp>
        <p:nvSpPr>
          <p:cNvPr id="9" name="Text 7"/>
          <p:cNvSpPr/>
          <p:nvPr/>
        </p:nvSpPr>
        <p:spPr>
          <a:xfrm>
            <a:off x="1353312" y="2148840"/>
            <a:ext cx="411480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PostgreSQL tables and indexes store users, roles, permissions, and audit records.</a:t>
            </a:r>
            <a:endParaRPr lang="en-US" sz="1240" dirty="0"/>
          </a:p>
        </p:txBody>
      </p:sp>
      <p:sp>
        <p:nvSpPr>
          <p:cNvPr id="10" name="Text 8"/>
          <p:cNvSpPr/>
          <p:nvPr/>
        </p:nvSpPr>
        <p:spPr>
          <a:xfrm>
            <a:off x="6309360" y="1828800"/>
            <a:ext cx="402336" cy="402336"/>
          </a:xfrm>
          <a:prstGeom prst="ellipse">
            <a:avLst/>
          </a:prstGeom>
          <a:solidFill>
            <a:srgbClr val="D97706"/>
          </a:solidFill>
          <a:ln>
            <a:solidFill>
              <a:srgbClr val="D97706">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6839712" y="1847088"/>
            <a:ext cx="411480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Document trees</a:t>
            </a:r>
            <a:endParaRPr lang="en-US" sz="1350" dirty="0"/>
          </a:p>
        </p:txBody>
      </p:sp>
      <p:sp>
        <p:nvSpPr>
          <p:cNvPr id="12" name="Text 10"/>
          <p:cNvSpPr/>
          <p:nvPr/>
        </p:nvSpPr>
        <p:spPr>
          <a:xfrm>
            <a:off x="6839712" y="2148840"/>
            <a:ext cx="411480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MongoDB stores nested JSON-style documents for flexible knowledge articles.</a:t>
            </a:r>
            <a:endParaRPr lang="en-US" sz="1240" dirty="0"/>
          </a:p>
        </p:txBody>
      </p:sp>
      <p:sp>
        <p:nvSpPr>
          <p:cNvPr id="13" name="Text 11"/>
          <p:cNvSpPr/>
          <p:nvPr/>
        </p:nvSpPr>
        <p:spPr>
          <a:xfrm>
            <a:off x="822960" y="3657600"/>
            <a:ext cx="402336" cy="402336"/>
          </a:xfrm>
          <a:prstGeom prst="ellipse">
            <a:avLst/>
          </a:prstGeom>
          <a:solidFill>
            <a:srgbClr val="7C3AED"/>
          </a:solidFill>
          <a:ln>
            <a:solidFill>
              <a:srgbClr val="7C3AED">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p:nvPr/>
        </p:nvSpPr>
        <p:spPr>
          <a:xfrm>
            <a:off x="1353312" y="3675888"/>
            <a:ext cx="411480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Vector embeddings</a:t>
            </a:r>
            <a:endParaRPr lang="en-US" sz="1350" dirty="0"/>
          </a:p>
        </p:txBody>
      </p:sp>
      <p:sp>
        <p:nvSpPr>
          <p:cNvPr id="15" name="Text 13"/>
          <p:cNvSpPr/>
          <p:nvPr/>
        </p:nvSpPr>
        <p:spPr>
          <a:xfrm>
            <a:off x="1353312" y="3977640"/>
            <a:ext cx="411480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Text chunks become high-dimensional numeric vectors.</a:t>
            </a:r>
            <a:endParaRPr lang="en-US" sz="1240" dirty="0"/>
          </a:p>
        </p:txBody>
      </p:sp>
      <p:sp>
        <p:nvSpPr>
          <p:cNvPr id="16" name="Text 14"/>
          <p:cNvSpPr/>
          <p:nvPr/>
        </p:nvSpPr>
        <p:spPr>
          <a:xfrm>
            <a:off x="6309360" y="3657600"/>
            <a:ext cx="402336" cy="402336"/>
          </a:xfrm>
          <a:prstGeom prst="ellipse">
            <a:avLst/>
          </a:prstGeom>
          <a:solidFill>
            <a:srgbClr val="059669"/>
          </a:solidFill>
          <a:ln>
            <a:solidFill>
              <a:srgbClr val="059669">
                <a:alpha val="0"/>
              </a:srgbClr>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p:nvPr/>
        </p:nvSpPr>
        <p:spPr>
          <a:xfrm>
            <a:off x="6839712" y="3675888"/>
            <a:ext cx="411480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ANN graph search</a:t>
            </a:r>
            <a:endParaRPr lang="en-US" sz="1350" dirty="0"/>
          </a:p>
        </p:txBody>
      </p:sp>
      <p:sp>
        <p:nvSpPr>
          <p:cNvPr id="18" name="Text 16"/>
          <p:cNvSpPr/>
          <p:nvPr/>
        </p:nvSpPr>
        <p:spPr>
          <a:xfrm>
            <a:off x="6839712" y="3977640"/>
            <a:ext cx="411480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HNSW uses graph-based nearest-neighbor search for fast semantic retrieval.</a:t>
            </a:r>
            <a:endParaRPr lang="en-US" sz="1240" dirty="0"/>
          </a:p>
        </p:txBody>
      </p:sp>
      <p:sp>
        <p:nvSpPr>
          <p:cNvPr id="19" name="Text 17"/>
          <p:cNvSpPr/>
          <p:nvPr/>
        </p:nvSpPr>
        <p:spPr>
          <a:xfrm>
            <a:off x="1097280" y="5577840"/>
            <a:ext cx="10058400" cy="347472"/>
          </a:xfrm>
          <a:prstGeom prst="rect">
            <a:avLst/>
          </a:prstGeom>
          <a:noFill/>
          <a:ln/>
        </p:spPr>
        <p:txBody>
          <a:bodyPr wrap="square" lIns="0" tIns="0" rIns="0" bIns="0" rtlCol="0" anchor="ctr"/>
          <a:lstStyle/>
          <a:p>
            <a:pPr algn="ctr" indent="0" marL="0">
              <a:buNone/>
            </a:pPr>
            <a:r>
              <a:rPr lang="en-US" sz="1440" b="1" dirty="0">
                <a:solidFill>
                  <a:srgbClr val="0E1B2A"/>
                </a:solidFill>
              </a:rPr>
              <a:t>This explains why the project is relevant to both DBMS and DSA: storage design + indexing + graph-based vector search.</a:t>
            </a:r>
            <a:endParaRPr lang="en-US" sz="1440" dirty="0"/>
          </a:p>
        </p:txBody>
      </p:sp>
      <p:sp>
        <p:nvSpPr>
          <p:cNvPr id="20" name="Text 18"/>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EVALUATION</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Expected outcomes and metrics</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How we will check whether EKIP works well.</a:t>
            </a:r>
            <a:endParaRPr lang="en-US" sz="1350" dirty="0"/>
          </a:p>
        </p:txBody>
      </p:sp>
      <p:sp>
        <p:nvSpPr>
          <p:cNvPr id="7" name="Text 5"/>
          <p:cNvSpPr/>
          <p:nvPr/>
        </p:nvSpPr>
        <p:spPr>
          <a:xfrm>
            <a:off x="914400" y="1828800"/>
            <a:ext cx="402336" cy="402336"/>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444752" y="184708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Precision@k / Recall@k</a:t>
            </a:r>
            <a:endParaRPr lang="en-US" sz="1350" dirty="0"/>
          </a:p>
        </p:txBody>
      </p:sp>
      <p:sp>
        <p:nvSpPr>
          <p:cNvPr id="9" name="Text 7"/>
          <p:cNvSpPr/>
          <p:nvPr/>
        </p:nvSpPr>
        <p:spPr>
          <a:xfrm>
            <a:off x="1444752" y="2148840"/>
            <a:ext cx="402336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Compare keyword-only, semantic-only, and hybrid search results.</a:t>
            </a:r>
            <a:endParaRPr lang="en-US" sz="1240" dirty="0"/>
          </a:p>
        </p:txBody>
      </p:sp>
      <p:sp>
        <p:nvSpPr>
          <p:cNvPr id="10" name="Text 8"/>
          <p:cNvSpPr/>
          <p:nvPr/>
        </p:nvSpPr>
        <p:spPr>
          <a:xfrm>
            <a:off x="6263640" y="1828800"/>
            <a:ext cx="402336" cy="402336"/>
          </a:xfrm>
          <a:prstGeom prst="ellipse">
            <a:avLst/>
          </a:prstGeom>
          <a:solidFill>
            <a:srgbClr val="7C3AED"/>
          </a:solidFill>
          <a:ln>
            <a:solidFill>
              <a:srgbClr val="7C3AED">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6793992" y="184708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API latency</a:t>
            </a:r>
            <a:endParaRPr lang="en-US" sz="1350" dirty="0"/>
          </a:p>
        </p:txBody>
      </p:sp>
      <p:sp>
        <p:nvSpPr>
          <p:cNvPr id="12" name="Text 10"/>
          <p:cNvSpPr/>
          <p:nvPr/>
        </p:nvSpPr>
        <p:spPr>
          <a:xfrm>
            <a:off x="6793992" y="2148840"/>
            <a:ext cx="402336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Measure response time under concurrent requests.</a:t>
            </a:r>
            <a:endParaRPr lang="en-US" sz="1240" dirty="0"/>
          </a:p>
        </p:txBody>
      </p:sp>
      <p:sp>
        <p:nvSpPr>
          <p:cNvPr id="13" name="Text 11"/>
          <p:cNvSpPr/>
          <p:nvPr/>
        </p:nvSpPr>
        <p:spPr>
          <a:xfrm>
            <a:off x="914400" y="3657600"/>
            <a:ext cx="402336" cy="402336"/>
          </a:xfrm>
          <a:prstGeom prst="ellipse">
            <a:avLst/>
          </a:prstGeom>
          <a:solidFill>
            <a:srgbClr val="059669"/>
          </a:solidFill>
          <a:ln>
            <a:solidFill>
              <a:srgbClr val="059669">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p:nvPr/>
        </p:nvSpPr>
        <p:spPr>
          <a:xfrm>
            <a:off x="1444752" y="367588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Search throughput</a:t>
            </a:r>
            <a:endParaRPr lang="en-US" sz="1350" dirty="0"/>
          </a:p>
        </p:txBody>
      </p:sp>
      <p:sp>
        <p:nvSpPr>
          <p:cNvPr id="15" name="Text 13"/>
          <p:cNvSpPr/>
          <p:nvPr/>
        </p:nvSpPr>
        <p:spPr>
          <a:xfrm>
            <a:off x="1444752" y="3977640"/>
            <a:ext cx="402336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Queries served per second as replicas scale.</a:t>
            </a:r>
            <a:endParaRPr lang="en-US" sz="1240" dirty="0"/>
          </a:p>
        </p:txBody>
      </p:sp>
      <p:sp>
        <p:nvSpPr>
          <p:cNvPr id="16" name="Text 14"/>
          <p:cNvSpPr/>
          <p:nvPr/>
        </p:nvSpPr>
        <p:spPr>
          <a:xfrm>
            <a:off x="6263640" y="3657600"/>
            <a:ext cx="402336" cy="402336"/>
          </a:xfrm>
          <a:prstGeom prst="ellipse">
            <a:avLst/>
          </a:prstGeom>
          <a:solidFill>
            <a:srgbClr val="DC2626"/>
          </a:solidFill>
          <a:ln>
            <a:solidFill>
              <a:srgbClr val="DC2626">
                <a:alpha val="0"/>
              </a:srgbClr>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p:nvPr/>
        </p:nvSpPr>
        <p:spPr>
          <a:xfrm>
            <a:off x="6793992" y="367588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Access compliance</a:t>
            </a:r>
            <a:endParaRPr lang="en-US" sz="1350" dirty="0"/>
          </a:p>
        </p:txBody>
      </p:sp>
      <p:sp>
        <p:nvSpPr>
          <p:cNvPr id="18" name="Text 16"/>
          <p:cNvSpPr/>
          <p:nvPr/>
        </p:nvSpPr>
        <p:spPr>
          <a:xfrm>
            <a:off x="6793992" y="3977640"/>
            <a:ext cx="4023360" cy="868680"/>
          </a:xfrm>
          <a:prstGeom prst="rect">
            <a:avLst/>
          </a:prstGeom>
          <a:noFill/>
          <a:ln/>
        </p:spPr>
        <p:txBody>
          <a:bodyPr wrap="square" lIns="0" tIns="0" rIns="0" bIns="0" rtlCol="0" anchor="ctr">
            <a:normAutofit/>
          </a:bodyPr>
          <a:lstStyle/>
          <a:p>
            <a:pPr indent="0" marL="0">
              <a:buNone/>
            </a:pPr>
            <a:r>
              <a:rPr lang="en-US" sz="1240" dirty="0">
                <a:solidFill>
                  <a:srgbClr val="334155"/>
                </a:solidFill>
              </a:rPr>
              <a:t>100% of returned results must pass permission filtering.</a:t>
            </a:r>
            <a:endParaRPr lang="en-US" sz="1240" dirty="0"/>
          </a:p>
        </p:txBody>
      </p:sp>
      <p:sp>
        <p:nvSpPr>
          <p:cNvPr id="19" name="Text 17"/>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CONCLUSION</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Conclusion and future scope</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EKIP closes the gap between governed access and meaning-aware retrieval.</a:t>
            </a:r>
            <a:endParaRPr lang="en-US" sz="1350" dirty="0"/>
          </a:p>
        </p:txBody>
      </p:sp>
      <p:sp>
        <p:nvSpPr>
          <p:cNvPr id="7" name="Text 5"/>
          <p:cNvSpPr/>
          <p:nvPr/>
        </p:nvSpPr>
        <p:spPr>
          <a:xfrm>
            <a:off x="914400" y="1737360"/>
            <a:ext cx="10241280" cy="548640"/>
          </a:xfrm>
          <a:prstGeom prst="rect">
            <a:avLst/>
          </a:prstGeom>
          <a:noFill/>
          <a:ln/>
        </p:spPr>
        <p:txBody>
          <a:bodyPr wrap="square" lIns="0" tIns="0" rIns="0" bIns="0" rtlCol="0" anchor="ctr">
            <a:normAutofit/>
          </a:bodyPr>
          <a:lstStyle/>
          <a:p>
            <a:pPr algn="ctr" indent="0" marL="0">
              <a:buNone/>
            </a:pPr>
            <a:r>
              <a:rPr lang="en-US" sz="2100" b="1" dirty="0">
                <a:solidFill>
                  <a:srgbClr val="0E1B2A"/>
                </a:solidFill>
              </a:rPr>
              <a:t>EKIP unifies relational, document, and vector storage behind one secure REST API.</a:t>
            </a:r>
            <a:endParaRPr lang="en-US" sz="2100" dirty="0"/>
          </a:p>
        </p:txBody>
      </p:sp>
      <p:sp>
        <p:nvSpPr>
          <p:cNvPr id="8" name="Text 6"/>
          <p:cNvSpPr/>
          <p:nvPr/>
        </p:nvSpPr>
        <p:spPr>
          <a:xfrm>
            <a:off x="914400" y="2971800"/>
            <a:ext cx="402336" cy="402336"/>
          </a:xfrm>
          <a:prstGeom prst="ellipse">
            <a:avLst/>
          </a:prstGeom>
          <a:solidFill>
            <a:srgbClr val="2563EB"/>
          </a:solidFill>
          <a:ln>
            <a:solidFill>
              <a:srgbClr val="2563EB">
                <a:alpha val="0"/>
              </a:srgbClr>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444752" y="299008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RAG Q&amp;A</a:t>
            </a:r>
            <a:endParaRPr lang="en-US" sz="1350" dirty="0"/>
          </a:p>
        </p:txBody>
      </p:sp>
      <p:sp>
        <p:nvSpPr>
          <p:cNvPr id="10" name="Text 8"/>
          <p:cNvSpPr/>
          <p:nvPr/>
        </p:nvSpPr>
        <p:spPr>
          <a:xfrm>
            <a:off x="1444752" y="3291840"/>
            <a:ext cx="4023360" cy="640080"/>
          </a:xfrm>
          <a:prstGeom prst="rect">
            <a:avLst/>
          </a:prstGeom>
          <a:noFill/>
          <a:ln/>
        </p:spPr>
        <p:txBody>
          <a:bodyPr wrap="square" lIns="0" tIns="0" rIns="0" bIns="0" rtlCol="0" anchor="ctr">
            <a:normAutofit/>
          </a:bodyPr>
          <a:lstStyle/>
          <a:p>
            <a:pPr indent="0" marL="0">
              <a:buNone/>
            </a:pPr>
            <a:r>
              <a:rPr lang="en-US" sz="1240" dirty="0">
                <a:solidFill>
                  <a:srgbClr val="334155"/>
                </a:solidFill>
              </a:rPr>
              <a:t>Automatic answers over the governed knowledge base</a:t>
            </a:r>
            <a:endParaRPr lang="en-US" sz="1240" dirty="0"/>
          </a:p>
        </p:txBody>
      </p:sp>
      <p:sp>
        <p:nvSpPr>
          <p:cNvPr id="11" name="Text 9"/>
          <p:cNvSpPr/>
          <p:nvPr/>
        </p:nvSpPr>
        <p:spPr>
          <a:xfrm>
            <a:off x="6217920" y="2971800"/>
            <a:ext cx="402336" cy="402336"/>
          </a:xfrm>
          <a:prstGeom prst="ellipse">
            <a:avLst/>
          </a:prstGeom>
          <a:solidFill>
            <a:srgbClr val="7C3AED"/>
          </a:solidFill>
          <a:ln>
            <a:solidFill>
              <a:srgbClr val="7C3AED">
                <a:alpha val="0"/>
              </a:srgbClr>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p:nvPr/>
        </p:nvSpPr>
        <p:spPr>
          <a:xfrm>
            <a:off x="6748272" y="299008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Connectors</a:t>
            </a:r>
            <a:endParaRPr lang="en-US" sz="1350" dirty="0"/>
          </a:p>
        </p:txBody>
      </p:sp>
      <p:sp>
        <p:nvSpPr>
          <p:cNvPr id="13" name="Text 11"/>
          <p:cNvSpPr/>
          <p:nvPr/>
        </p:nvSpPr>
        <p:spPr>
          <a:xfrm>
            <a:off x="6748272" y="3291840"/>
            <a:ext cx="4023360" cy="640080"/>
          </a:xfrm>
          <a:prstGeom prst="rect">
            <a:avLst/>
          </a:prstGeom>
          <a:noFill/>
          <a:ln/>
        </p:spPr>
        <p:txBody>
          <a:bodyPr wrap="square" lIns="0" tIns="0" rIns="0" bIns="0" rtlCol="0" anchor="ctr">
            <a:normAutofit/>
          </a:bodyPr>
          <a:lstStyle/>
          <a:p>
            <a:pPr indent="0" marL="0">
              <a:buNone/>
            </a:pPr>
            <a:r>
              <a:rPr lang="en-US" sz="1240" dirty="0">
                <a:solidFill>
                  <a:srgbClr val="334155"/>
                </a:solidFill>
              </a:rPr>
              <a:t>Email, chat, ticketing, and enterprise repositories</a:t>
            </a:r>
            <a:endParaRPr lang="en-US" sz="1240" dirty="0"/>
          </a:p>
        </p:txBody>
      </p:sp>
      <p:sp>
        <p:nvSpPr>
          <p:cNvPr id="14" name="Text 12"/>
          <p:cNvSpPr/>
          <p:nvPr/>
        </p:nvSpPr>
        <p:spPr>
          <a:xfrm>
            <a:off x="914400" y="4434840"/>
            <a:ext cx="402336" cy="402336"/>
          </a:xfrm>
          <a:prstGeom prst="ellipse">
            <a:avLst/>
          </a:prstGeom>
          <a:solidFill>
            <a:srgbClr val="059669"/>
          </a:solidFill>
          <a:ln>
            <a:solidFill>
              <a:srgbClr val="059669">
                <a:alpha val="0"/>
              </a:srgbClr>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p:nvPr/>
        </p:nvSpPr>
        <p:spPr>
          <a:xfrm>
            <a:off x="1444752" y="445312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Feedback re-ranking</a:t>
            </a:r>
            <a:endParaRPr lang="en-US" sz="1350" dirty="0"/>
          </a:p>
        </p:txBody>
      </p:sp>
      <p:sp>
        <p:nvSpPr>
          <p:cNvPr id="16" name="Text 14"/>
          <p:cNvSpPr/>
          <p:nvPr/>
        </p:nvSpPr>
        <p:spPr>
          <a:xfrm>
            <a:off x="1444752" y="4754880"/>
            <a:ext cx="4023360" cy="640080"/>
          </a:xfrm>
          <a:prstGeom prst="rect">
            <a:avLst/>
          </a:prstGeom>
          <a:noFill/>
          <a:ln/>
        </p:spPr>
        <p:txBody>
          <a:bodyPr wrap="square" lIns="0" tIns="0" rIns="0" bIns="0" rtlCol="0" anchor="ctr">
            <a:normAutofit/>
          </a:bodyPr>
          <a:lstStyle/>
          <a:p>
            <a:pPr indent="0" marL="0">
              <a:buNone/>
            </a:pPr>
            <a:r>
              <a:rPr lang="en-US" sz="1240" dirty="0">
                <a:solidFill>
                  <a:srgbClr val="334155"/>
                </a:solidFill>
              </a:rPr>
              <a:t>Improve relevance using user interactions</a:t>
            </a:r>
            <a:endParaRPr lang="en-US" sz="1240" dirty="0"/>
          </a:p>
        </p:txBody>
      </p:sp>
      <p:sp>
        <p:nvSpPr>
          <p:cNvPr id="17" name="Text 15"/>
          <p:cNvSpPr/>
          <p:nvPr/>
        </p:nvSpPr>
        <p:spPr>
          <a:xfrm>
            <a:off x="6217920" y="4434840"/>
            <a:ext cx="402336" cy="402336"/>
          </a:xfrm>
          <a:prstGeom prst="ellipse">
            <a:avLst/>
          </a:prstGeom>
          <a:solidFill>
            <a:srgbClr val="D97706"/>
          </a:solidFill>
          <a:ln>
            <a:solidFill>
              <a:srgbClr val="D97706">
                <a:alpha val="0"/>
              </a:srgbClr>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p:nvPr/>
        </p:nvSpPr>
        <p:spPr>
          <a:xfrm>
            <a:off x="6748272" y="4453128"/>
            <a:ext cx="4023360" cy="228600"/>
          </a:xfrm>
          <a:prstGeom prst="rect">
            <a:avLst/>
          </a:prstGeom>
          <a:noFill/>
          <a:ln/>
        </p:spPr>
        <p:txBody>
          <a:bodyPr wrap="square" lIns="0" tIns="0" rIns="0" bIns="0" rtlCol="0" anchor="ctr">
            <a:normAutofit/>
          </a:bodyPr>
          <a:lstStyle/>
          <a:p>
            <a:pPr indent="0" marL="0">
              <a:buNone/>
            </a:pPr>
            <a:r>
              <a:rPr lang="en-US" sz="1350" b="1" dirty="0">
                <a:solidFill>
                  <a:srgbClr val="0E1B2A"/>
                </a:solidFill>
              </a:rPr>
              <a:t>Production evaluation</a:t>
            </a:r>
            <a:endParaRPr lang="en-US" sz="1350" dirty="0"/>
          </a:p>
        </p:txBody>
      </p:sp>
      <p:sp>
        <p:nvSpPr>
          <p:cNvPr id="19" name="Text 17"/>
          <p:cNvSpPr/>
          <p:nvPr/>
        </p:nvSpPr>
        <p:spPr>
          <a:xfrm>
            <a:off x="6748272" y="4754880"/>
            <a:ext cx="4023360" cy="640080"/>
          </a:xfrm>
          <a:prstGeom prst="rect">
            <a:avLst/>
          </a:prstGeom>
          <a:noFill/>
          <a:ln/>
        </p:spPr>
        <p:txBody>
          <a:bodyPr wrap="square" lIns="0" tIns="0" rIns="0" bIns="0" rtlCol="0" anchor="ctr">
            <a:normAutofit/>
          </a:bodyPr>
          <a:lstStyle/>
          <a:p>
            <a:pPr indent="0" marL="0">
              <a:buNone/>
            </a:pPr>
            <a:r>
              <a:rPr lang="en-US" sz="1240" dirty="0">
                <a:solidFill>
                  <a:srgbClr val="334155"/>
                </a:solidFill>
              </a:rPr>
              <a:t>Test on larger real-world enterprise datasets</a:t>
            </a:r>
            <a:endParaRPr lang="en-US" sz="1240" dirty="0"/>
          </a:p>
        </p:txBody>
      </p:sp>
      <p:sp>
        <p:nvSpPr>
          <p:cNvPr id="20" name="Text 18"/>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E1B2A"/>
          </a:solidFill>
          <a:ln w="12700">
            <a:solidFill>
              <a:srgbClr val="0E1B2A">
                <a:alpha val="0"/>
              </a:srgbClr>
            </a:solidFill>
            <a:prstDash val="solid"/>
          </a:ln>
        </p:spPr>
      </p:sp>
      <p:sp>
        <p:nvSpPr>
          <p:cNvPr id="3" name="Text 1"/>
          <p:cNvSpPr/>
          <p:nvPr/>
        </p:nvSpPr>
        <p:spPr>
          <a:xfrm>
            <a:off x="502920" y="86868"/>
            <a:ext cx="5943600" cy="201168"/>
          </a:xfrm>
          <a:prstGeom prst="rect">
            <a:avLst/>
          </a:prstGeom>
          <a:noFill/>
          <a:ln/>
        </p:spPr>
        <p:txBody>
          <a:bodyPr wrap="square" lIns="0" tIns="0" rIns="0" bIns="0" rtlCol="0" anchor="ctr"/>
          <a:lstStyle/>
          <a:p>
            <a:pPr indent="0" marL="0">
              <a:buNone/>
            </a:pPr>
            <a:r>
              <a:rPr lang="en-US" sz="850" b="1" dirty="0">
                <a:solidFill>
                  <a:srgbClr val="CBD5E1"/>
                </a:solidFill>
                <a:latin typeface="Aptos" pitchFamily="34" charset="0"/>
                <a:ea typeface="Aptos" pitchFamily="34" charset="-122"/>
                <a:cs typeface="Aptos" pitchFamily="34" charset="-120"/>
              </a:rPr>
              <a:t>REFERENCES</a:t>
            </a:r>
            <a:endParaRPr lang="en-US" sz="850" dirty="0"/>
          </a:p>
        </p:txBody>
      </p:sp>
      <p:sp>
        <p:nvSpPr>
          <p:cNvPr id="4" name="Text 2"/>
          <p:cNvSpPr/>
          <p:nvPr/>
        </p:nvSpPr>
        <p:spPr>
          <a:xfrm>
            <a:off x="7406640" y="6446520"/>
            <a:ext cx="3840480" cy="201168"/>
          </a:xfrm>
          <a:prstGeom prst="rect">
            <a:avLst/>
          </a:prstGeom>
          <a:noFill/>
          <a:ln/>
        </p:spPr>
        <p:txBody>
          <a:bodyPr wrap="square" lIns="0" tIns="0" rIns="0" bIns="0" rtlCol="0" anchor="ctr"/>
          <a:lstStyle/>
          <a:p>
            <a:pPr algn="r" indent="0" marL="0">
              <a:buNone/>
            </a:pPr>
            <a:r>
              <a:rPr lang="en-US" sz="850" dirty="0">
                <a:solidFill>
                  <a:srgbClr val="94A3B8"/>
                </a:solidFill>
              </a:rPr>
              <a:t>Enterprise Knowledge Intelligence Platform</a:t>
            </a:r>
            <a:endParaRPr lang="en-US" sz="850" dirty="0"/>
          </a:p>
        </p:txBody>
      </p:sp>
      <p:sp>
        <p:nvSpPr>
          <p:cNvPr id="5" name="Text 3"/>
          <p:cNvSpPr/>
          <p:nvPr/>
        </p:nvSpPr>
        <p:spPr>
          <a:xfrm>
            <a:off x="502920" y="658368"/>
            <a:ext cx="8046720" cy="502920"/>
          </a:xfrm>
          <a:prstGeom prst="rect">
            <a:avLst/>
          </a:prstGeom>
          <a:noFill/>
          <a:ln/>
        </p:spPr>
        <p:txBody>
          <a:bodyPr wrap="square" lIns="0" tIns="0" rIns="0" bIns="0" rtlCol="0" anchor="ctr">
            <a:normAutofit/>
          </a:bodyPr>
          <a:lstStyle/>
          <a:p>
            <a:pPr indent="0" marL="0">
              <a:buNone/>
            </a:pPr>
            <a:r>
              <a:rPr lang="en-US" sz="3000" b="1" dirty="0">
                <a:solidFill>
                  <a:srgbClr val="0E1B2A"/>
                </a:solidFill>
                <a:latin typeface="Aptos Display" pitchFamily="34" charset="0"/>
                <a:ea typeface="Aptos Display" pitchFamily="34" charset="-122"/>
                <a:cs typeface="Aptos Display" pitchFamily="34" charset="-120"/>
              </a:rPr>
              <a:t>Selected references</a:t>
            </a:r>
            <a:endParaRPr lang="en-US" sz="3000" dirty="0"/>
          </a:p>
        </p:txBody>
      </p:sp>
      <p:sp>
        <p:nvSpPr>
          <p:cNvPr id="6" name="Text 4"/>
          <p:cNvSpPr/>
          <p:nvPr/>
        </p:nvSpPr>
        <p:spPr>
          <a:xfrm>
            <a:off x="530352" y="1216152"/>
            <a:ext cx="9509760" cy="320040"/>
          </a:xfrm>
          <a:prstGeom prst="rect">
            <a:avLst/>
          </a:prstGeom>
          <a:noFill/>
          <a:ln/>
        </p:spPr>
        <p:txBody>
          <a:bodyPr wrap="square" lIns="0" tIns="0" rIns="0" bIns="0" rtlCol="0" anchor="ctr">
            <a:normAutofit/>
          </a:bodyPr>
          <a:lstStyle/>
          <a:p>
            <a:pPr indent="0" marL="0">
              <a:buNone/>
            </a:pPr>
            <a:r>
              <a:rPr lang="en-US" sz="1350" dirty="0">
                <a:solidFill>
                  <a:srgbClr val="64748B"/>
                </a:solidFill>
              </a:rPr>
              <a:t>Core papers, standards, and supporting sources.</a:t>
            </a:r>
            <a:endParaRPr lang="en-US" sz="1350" dirty="0"/>
          </a:p>
        </p:txBody>
      </p:sp>
      <p:sp>
        <p:nvSpPr>
          <p:cNvPr id="7" name="Text 5"/>
          <p:cNvSpPr/>
          <p:nvPr/>
        </p:nvSpPr>
        <p:spPr>
          <a:xfrm>
            <a:off x="685800" y="1572768"/>
            <a:ext cx="10789920" cy="4434840"/>
          </a:xfrm>
          <a:prstGeom prst="rect">
            <a:avLst/>
          </a:prstGeom>
          <a:noFill/>
          <a:ln/>
        </p:spPr>
        <p:txBody>
          <a:bodyPr wrap="square" lIns="0" tIns="0" rIns="0" bIns="0" rtlCol="0" anchor="ctr">
            <a:normAutofit/>
          </a:bodyPr>
          <a:lstStyle/>
          <a:p>
            <a:pPr indent="0" marL="0">
              <a:buNone/>
            </a:pPr>
            <a:r>
              <a:rPr lang="en-US" sz="1070" dirty="0">
                <a:solidFill>
                  <a:srgbClr val="334155"/>
                </a:solidFill>
              </a:rPr>
              <a:t>[1] R. Kimball &amp; M. Ross, The Data Warehouse Toolkit, 3rd ed., Wiley, 2013.</a:t>
            </a:r>
            <a:endParaRPr lang="en-US" sz="1070" dirty="0"/>
          </a:p>
          <a:p>
            <a:pPr indent="0" marL="0">
              <a:buNone/>
            </a:pPr>
            <a:r>
              <a:rPr lang="en-US" sz="1070" dirty="0">
                <a:solidFill>
                  <a:srgbClr val="334155"/>
                </a:solidFill>
              </a:rPr>
              <a:t>[2] P. J. Sadalage &amp; M. Fowler, NoSQL Distilled, Addison-Wesley, 2012.</a:t>
            </a:r>
            <a:endParaRPr lang="en-US" sz="1070" dirty="0"/>
          </a:p>
          <a:p>
            <a:pPr indent="0" marL="0">
              <a:buNone/>
            </a:pPr>
            <a:r>
              <a:rPr lang="en-US" sz="1070" dirty="0">
                <a:solidFill>
                  <a:srgbClr val="334155"/>
                </a:solidFill>
              </a:rPr>
              <a:t>[3] N. Reimers &amp; I. Gurevych, “Sentence-BERT,” EMNLP, 2019.</a:t>
            </a:r>
            <a:endParaRPr lang="en-US" sz="1070" dirty="0"/>
          </a:p>
          <a:p>
            <a:pPr indent="0" marL="0">
              <a:buNone/>
            </a:pPr>
            <a:r>
              <a:rPr lang="en-US" sz="1070" dirty="0">
                <a:solidFill>
                  <a:srgbClr val="334155"/>
                </a:solidFill>
              </a:rPr>
              <a:t>[4] Y. A. Malkov &amp; D. A. Yashunin, “Efficient and robust ANN search using HNSW,” IEEE TPAMI, 2020.</a:t>
            </a:r>
            <a:endParaRPr lang="en-US" sz="1070" dirty="0"/>
          </a:p>
          <a:p>
            <a:pPr indent="0" marL="0">
              <a:buNone/>
            </a:pPr>
            <a:r>
              <a:rPr lang="en-US" sz="1070" dirty="0">
                <a:solidFill>
                  <a:srgbClr val="334155"/>
                </a:solidFill>
              </a:rPr>
              <a:t>[5] P. Lewis et al., “Retrieval-Augmented Generation for Knowledge-Intensive NLP,” NeurIPS, 2020.</a:t>
            </a:r>
            <a:endParaRPr lang="en-US" sz="1070" dirty="0"/>
          </a:p>
          <a:p>
            <a:pPr indent="0" marL="0">
              <a:buNone/>
            </a:pPr>
            <a:r>
              <a:rPr lang="en-US" sz="1070" dirty="0">
                <a:solidFill>
                  <a:srgbClr val="334155"/>
                </a:solidFill>
              </a:rPr>
              <a:t>[6] D. F. Ferraiolo, D. R. Kuhn &amp; R. Chandramouli, Role-Based Access Control, 2nd ed., 2007.</a:t>
            </a:r>
            <a:endParaRPr lang="en-US" sz="1070" dirty="0"/>
          </a:p>
          <a:p>
            <a:pPr indent="0" marL="0">
              <a:buNone/>
            </a:pPr>
            <a:r>
              <a:rPr lang="en-US" sz="1070" dirty="0">
                <a:solidFill>
                  <a:srgbClr val="334155"/>
                </a:solidFill>
              </a:rPr>
              <a:t>[7] D. Hardt, “The OAuth 2.0 Authorization Framework,” IETF RFC 6749, 2012.</a:t>
            </a:r>
            <a:endParaRPr lang="en-US" sz="1070" dirty="0"/>
          </a:p>
          <a:p>
            <a:pPr indent="0" marL="0">
              <a:buNone/>
            </a:pPr>
            <a:r>
              <a:rPr lang="en-US" sz="1070" dirty="0">
                <a:solidFill>
                  <a:srgbClr val="334155"/>
                </a:solidFill>
              </a:rPr>
              <a:t>[8] M. Jones, J. Bradley &amp; N. Sakimura, “JSON Web Token,” IETF RFC 7519, 2015.</a:t>
            </a:r>
            <a:endParaRPr lang="en-US" sz="1070" dirty="0"/>
          </a:p>
          <a:p>
            <a:pPr indent="0" marL="0">
              <a:buNone/>
            </a:pPr>
            <a:r>
              <a:rPr lang="en-US" sz="1070" dirty="0">
                <a:solidFill>
                  <a:srgbClr val="334155"/>
                </a:solidFill>
              </a:rPr>
              <a:t>[9] R. Akkiraju et al., “FACTS About Building RAG-based Chatbots,” arXiv, 2024.</a:t>
            </a:r>
            <a:endParaRPr lang="en-US" sz="1070" dirty="0"/>
          </a:p>
          <a:p>
            <a:pPr indent="0" marL="0">
              <a:buNone/>
            </a:pPr>
            <a:r>
              <a:rPr lang="en-US" sz="1070" dirty="0">
                <a:solidFill>
                  <a:srgbClr val="334155"/>
                </a:solidFill>
              </a:rPr>
              <a:t>[10] S. Packowski et al., “Optimizing and Evaluating Enterprise RAG,” arXiv/ACM, 2024.</a:t>
            </a:r>
            <a:endParaRPr lang="en-US" sz="1070" dirty="0"/>
          </a:p>
          <a:p>
            <a:pPr indent="0" marL="0">
              <a:buNone/>
            </a:pPr>
            <a:r>
              <a:rPr lang="en-US" sz="1070" dirty="0">
                <a:solidFill>
                  <a:srgbClr val="334155"/>
                </a:solidFill>
              </a:rPr>
              <a:t>[11] P. Bailey, D. Hawking &amp; B. Matson, “Secure search in enterprise webs,” CIKM, 2006.</a:t>
            </a:r>
            <a:endParaRPr lang="en-US" sz="1070" dirty="0"/>
          </a:p>
        </p:txBody>
      </p:sp>
      <p:sp>
        <p:nvSpPr>
          <p:cNvPr id="8" name="Text 6"/>
          <p:cNvSpPr/>
          <p:nvPr/>
        </p:nvSpPr>
        <p:spPr>
          <a:xfrm>
            <a:off x="11475720" y="6437376"/>
            <a:ext cx="210312" cy="201168"/>
          </a:xfrm>
          <a:prstGeom prst="rect">
            <a:avLst/>
          </a:prstGeom>
          <a:noFill/>
          <a:ln/>
        </p:spPr>
        <p:txBody>
          <a:bodyPr wrap="square" lIns="0" tIns="0" rIns="0" bIns="0" rtlCol="0" anchor="ctr"/>
          <a:lstStyle/>
          <a:p>
            <a:pPr algn="r" indent="0" marL="0">
              <a:buNone/>
            </a:pPr>
            <a:r>
              <a:rPr lang="en-US" sz="800" dirty="0">
                <a:solidFill>
                  <a:srgbClr val="94A3B8"/>
                </a:solidFill>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228600" y="640080"/>
            <a:ext cx="1280160" cy="1280160"/>
          </a:xfrm>
          <a:prstGeom prst="ellipse">
            <a:avLst/>
          </a:prstGeom>
          <a:solidFill>
            <a:srgbClr val="2563EB">
              <a:alpha val="75000"/>
            </a:srgbClr>
          </a:solidFill>
          <a:ln w="12700">
            <a:solidFill>
              <a:srgbClr val="2563EB">
                <a:alpha val="0"/>
              </a:srgbClr>
            </a:solidFill>
            <a:prstDash val="solid"/>
          </a:ln>
        </p:spPr>
      </p:sp>
      <p:sp>
        <p:nvSpPr>
          <p:cNvPr id="3" name="Shape 1"/>
          <p:cNvSpPr/>
          <p:nvPr/>
        </p:nvSpPr>
        <p:spPr>
          <a:xfrm>
            <a:off x="10561320" y="4343400"/>
            <a:ext cx="914400" cy="914400"/>
          </a:xfrm>
          <a:prstGeom prst="ellipse">
            <a:avLst/>
          </a:prstGeom>
          <a:solidFill>
            <a:srgbClr val="0EA5E9">
              <a:alpha val="75000"/>
            </a:srgbClr>
          </a:solidFill>
          <a:ln w="12700">
            <a:solidFill>
              <a:srgbClr val="0EA5E9">
                <a:alpha val="0"/>
              </a:srgbClr>
            </a:solidFill>
            <a:prstDash val="solid"/>
          </a:ln>
        </p:spPr>
      </p:sp>
      <p:sp>
        <p:nvSpPr>
          <p:cNvPr id="4" name="Text 2"/>
          <p:cNvSpPr/>
          <p:nvPr/>
        </p:nvSpPr>
        <p:spPr>
          <a:xfrm>
            <a:off x="731520" y="2057400"/>
            <a:ext cx="10607040" cy="658368"/>
          </a:xfrm>
          <a:prstGeom prst="rect">
            <a:avLst/>
          </a:prstGeom>
          <a:noFill/>
          <a:ln/>
        </p:spPr>
        <p:txBody>
          <a:bodyPr wrap="square" lIns="0" tIns="0" rIns="0" bIns="0" rtlCol="0" anchor="ctr"/>
          <a:lstStyle/>
          <a:p>
            <a:pPr algn="ctr" indent="0" marL="0">
              <a:buNone/>
            </a:pPr>
            <a:r>
              <a:rPr lang="en-US" sz="4400" b="1" dirty="0">
                <a:solidFill>
                  <a:srgbClr val="FFFFFF"/>
                </a:solidFill>
                <a:latin typeface="Aptos Display" pitchFamily="34" charset="0"/>
                <a:ea typeface="Aptos Display" pitchFamily="34" charset="-122"/>
                <a:cs typeface="Aptos Display" pitchFamily="34" charset="-120"/>
              </a:rPr>
              <a:t>Thank You</a:t>
            </a:r>
            <a:endParaRPr lang="en-US" sz="4400" dirty="0"/>
          </a:p>
        </p:txBody>
      </p:sp>
      <p:sp>
        <p:nvSpPr>
          <p:cNvPr id="5" name="Text 3"/>
          <p:cNvSpPr/>
          <p:nvPr/>
        </p:nvSpPr>
        <p:spPr>
          <a:xfrm>
            <a:off x="731520" y="2926080"/>
            <a:ext cx="10607040" cy="347472"/>
          </a:xfrm>
          <a:prstGeom prst="rect">
            <a:avLst/>
          </a:prstGeom>
          <a:noFill/>
          <a:ln/>
        </p:spPr>
        <p:txBody>
          <a:bodyPr wrap="square" lIns="0" tIns="0" rIns="0" bIns="0" rtlCol="0" anchor="ctr"/>
          <a:lstStyle/>
          <a:p>
            <a:pPr algn="ctr" indent="0" marL="0">
              <a:buNone/>
            </a:pPr>
            <a:r>
              <a:rPr lang="en-US" sz="2000" dirty="0">
                <a:solidFill>
                  <a:srgbClr val="CBD5E1"/>
                </a:solidFill>
              </a:rPr>
              <a:t>Questions &amp; Discussion</a:t>
            </a:r>
            <a:endParaRPr lang="en-US" sz="2000" dirty="0"/>
          </a:p>
        </p:txBody>
      </p:sp>
      <p:sp>
        <p:nvSpPr>
          <p:cNvPr id="6" name="Text 4"/>
          <p:cNvSpPr/>
          <p:nvPr/>
        </p:nvSpPr>
        <p:spPr>
          <a:xfrm>
            <a:off x="914400" y="5806440"/>
            <a:ext cx="10241280" cy="274320"/>
          </a:xfrm>
          <a:prstGeom prst="rect">
            <a:avLst/>
          </a:prstGeom>
          <a:noFill/>
          <a:ln/>
        </p:spPr>
        <p:txBody>
          <a:bodyPr wrap="square" lIns="0" tIns="0" rIns="0" bIns="0" rtlCol="0" anchor="ctr"/>
          <a:lstStyle/>
          <a:p>
            <a:pPr algn="ctr" indent="0" marL="0">
              <a:buNone/>
            </a:pPr>
            <a:r>
              <a:rPr lang="en-US" sz="1200" dirty="0">
                <a:solidFill>
                  <a:srgbClr val="94A3B8"/>
                </a:solidFill>
              </a:rPr>
              <a:t>Enterprise Knowledge Intelligence Platform  ·  KL University, Hyderabad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KL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EKIP Review 2 Updated Presentation</dc:title>
  <dc:subject>Enterprise Knowledge Intelligence Platform - Review 2</dc:subject>
  <dc:creator>OpenAI</dc:creator>
  <cp:lastModifiedBy>OpenAI</cp:lastModifiedBy>
  <cp:revision>1</cp:revision>
  <dcterms:created xsi:type="dcterms:W3CDTF">2026-08-18T07:24:09Z</dcterms:created>
  <dcterms:modified xsi:type="dcterms:W3CDTF">2026-08-18T07:24:09Z</dcterms:modified>
</cp:coreProperties>
</file>