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328"/>
                </a:solidFill>
                <a:latin typeface="Arial"/>
              </a:defRPr>
            </a:pPr>
            <a:r>
              <a:rPr lang="en-IN" sz="1400" b="0" i="0" u="none" strike="noStrike">
                <a:solidFill>
                  <a:srgbClr val="1F2328"/>
                </a:solidFill>
                <a:latin typeface="Arial"/>
              </a:rPr>
              <a:t>Checks per test suite</a:t>
            </a:r>
          </a:p>
        </c:rich>
      </c:tx>
      <c:overlay val="0"/>
    </c:title>
    <c:autoTitleDeleted val="0"/>
    <c:plotArea>
      <c:layout/>
      <c:barChart>
        <c:barDir val="col"/>
        <c:grouping val="clustered"/>
        <c:varyColors val="0"/>
        <c:ser>
          <c:idx val="0"/>
          <c:order val="0"/>
          <c:tx>
            <c:strRef>
              <c:f>Sheet1!$B$1</c:f>
              <c:strCache>
                <c:ptCount val="1"/>
                <c:pt idx="0">
                  <c:v>Checks</c:v>
                </c:pt>
              </c:strCache>
            </c:strRef>
          </c:tx>
          <c:spPr>
            <a:solidFill>
              <a:srgbClr val="1A7F37"/>
            </a:solidFill>
            <a:effectLst/>
          </c:spPr>
          <c:invertIfNegative val="0"/>
          <c:dLbls>
            <c:numFmt formatCode="#,##0" sourceLinked="0"/>
            <c:spPr>
              <a:noFill/>
              <a:ln>
                <a:noFill/>
              </a:ln>
              <a:effectLst/>
            </c:spPr>
            <c:txPr>
              <a:bodyPr/>
              <a:lstStyle/>
              <a:p>
                <a:pPr>
                  <a:defRPr sz="1400" b="1" i="0" u="none" strike="noStrike">
                    <a:solidFill>
                      <a:srgbClr val="1F232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Week 4 suite</c:v>
                </c:pt>
                <c:pt idx="1">
                  <c:v>Week 5 suite</c:v>
                </c:pt>
                <c:pt idx="2">
                  <c:v>Week 6 suite</c:v>
                </c:pt>
              </c:strCache>
            </c:strRef>
          </c:cat>
          <c:val>
            <c:numRef>
              <c:f>Sheet1!$B$2:$B$4</c:f>
              <c:numCache>
                <c:formatCode>General</c:formatCode>
                <c:ptCount val="3"/>
                <c:pt idx="0">
                  <c:v>21</c:v>
                </c:pt>
                <c:pt idx="1">
                  <c:v>32</c:v>
                </c:pt>
                <c:pt idx="2">
                  <c:v>23</c:v>
                </c:pt>
              </c:numCache>
            </c:numRef>
          </c:val>
          <c:extLst>
            <c:ext xmlns:c16="http://schemas.microsoft.com/office/drawing/2014/chart" uri="{C3380CC4-5D6E-409C-BE32-E72D297353CC}">
              <c16:uniqueId val="{00000000-9CF5-4A04-B7A5-0199F243126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7606A"/>
                </a:solidFill>
                <a:latin typeface="Arial"/>
              </a:defRPr>
            </a:pPr>
            <a:endParaRPr lang="en-US"/>
          </a:p>
        </c:txPr>
        <c:crossAx val="2094734552"/>
        <c:crosses val="autoZero"/>
        <c:auto val="1"/>
        <c:lblAlgn val="ctr"/>
        <c:lblOffset val="100"/>
        <c:noMultiLvlLbl val="1"/>
      </c:catAx>
      <c:valAx>
        <c:axId val="2094734552"/>
        <c:scaling>
          <c:orientation val="minMax"/>
          <c:max val="4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7606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6833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ShellForge is the OSSP part of the Enterprise Knowledge Intelligence Platform: a Unix-like shell written in C. Each week of the handbook adds one operating-system concept, and the chips along the bottom are the system calls the shell uses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All six weeks so far are implemented. Three automated suites hold 76 checks, and every suite also rebuilds the shell with the memory checkers switched on. The bottom row is what the shell can do after each week.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six weeks map to the course outcomes in the OSSP syllabus. CO-4 is only started: Week 2 covers dynamic memory, while mmap and page faults are still to come.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command goes down the left column: main.c prompts, input.c reads the whole line whatever its length, parser.c splits it into argv. Then it branches: built-ins run inside the shell, everything else runs in a child process. On the right is the real line count of each file.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builds with no compiler warnings. For a live demo, from subjects/OSSP/shellforge run: docker run --rm -it -v "$(pwd):/src" -w /src gcc:13 sh -c "make &amp;&amp; ./bin/shellforge"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1 to 3 build the front half of a shell: the loop, reading input of any length, and turning a line into argv. The debug flag makes the parser visible: irregular spacing gives the same tokens, and the vector is NULL-terminated for execvp.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1,024-byte buffer would cut this line off. ShellForge grows the buffer instead, and the run is under AddressSanitizer and UndefinedBehaviorSanitizer, which would print a report for any overflow, use-after-free or leak. None appears.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fork, execvp, waitpid is the core of every Unix shell. The details that matter: reaping the child so no zombies are left, _exit in the child when exec fails, and flushing output before fork so it is not duplicated.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Built-ins are checked before forking. The key idea is that cd must run in the shell process: a child changing directory would lose that change as soon as it exits.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shell creates the pipe, forks twice, and uses dup2 to point the first child's output and the second child's input at it. Closing the unused ends is what lets wc see end-of-file.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shows the raw pipe mechanics without a pipeline: real process IDs on both sides, and the end-of-file rule that the pipeline code depends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suites, one per week from Week 4 on, with 76 checks in total. All three full logs are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from the handbook is documented in the weekly notes. None changes what the shell does; they fix code that would not compile or that relies on undefined behaviour.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git history for subjects/OSSP. Weeks 4 to 6 were committed together on 16 September; the weekly notes in docs/ describe each week separately.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course outcomes. The shell structure is ready for them: signals and job control build on the process code, and file I/O and redirection build on the dup2 work from Week 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logs of the three suites from one make test run. Compiler lines are omitted.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3657600" cy="365760"/>
          </a:xfrm>
          <a:prstGeom prst="rect">
            <a:avLst/>
          </a:prstGeom>
          <a:noFill/>
          <a:ln/>
        </p:spPr>
        <p:txBody>
          <a:bodyPr wrap="square" lIns="0" tIns="0" rIns="0" bIns="0" rtlCol="0" anchor="ctr"/>
          <a:lstStyle/>
          <a:p>
            <a:pPr marL="0" indent="0">
              <a:buNone/>
            </a:pPr>
            <a:r>
              <a:rPr lang="en-US" sz="1800" b="1" dirty="0">
                <a:solidFill>
                  <a:srgbClr val="3FB950"/>
                </a:solidFill>
                <a:latin typeface="Courier New" pitchFamily="34" charset="0"/>
                <a:ea typeface="Courier New" pitchFamily="34" charset="-122"/>
                <a:cs typeface="Courier New" pitchFamily="34" charset="-120"/>
              </a:rPr>
              <a:t>myshell&gt; _</a:t>
            </a:r>
            <a:endParaRPr lang="en-US" sz="1800" dirty="0"/>
          </a:p>
        </p:txBody>
      </p:sp>
      <p:sp>
        <p:nvSpPr>
          <p:cNvPr id="3" name="Text 1"/>
          <p:cNvSpPr txBox="1"/>
          <p:nvPr/>
        </p:nvSpPr>
        <p:spPr>
          <a:xfrm>
            <a:off x="640080" y="1465385"/>
            <a:ext cx="10058400" cy="1097280"/>
          </a:xfrm>
          <a:prstGeom prst="rect">
            <a:avLst/>
          </a:prstGeom>
          <a:noFill/>
          <a:ln/>
        </p:spPr>
        <p:txBody>
          <a:bodyPr wrap="square" lIns="0" tIns="0" rIns="0" bIns="0" rtlCol="0" anchor="ctr"/>
          <a:lstStyle/>
          <a:p>
            <a:r>
              <a:rPr lang="en-US" sz="6600" b="1" dirty="0">
                <a:solidFill>
                  <a:srgbClr val="FFFFFF"/>
                </a:solidFill>
                <a:latin typeface="Calibri" pitchFamily="34" charset="0"/>
                <a:ea typeface="Calibri" pitchFamily="34" charset="-122"/>
                <a:cs typeface="Calibri" pitchFamily="34" charset="-120"/>
              </a:rPr>
              <a:t>Enterprise-Knowledge Intelligence Platform</a:t>
            </a:r>
            <a:endParaRPr lang="en-US" sz="6600" dirty="0"/>
          </a:p>
        </p:txBody>
      </p:sp>
      <p:sp>
        <p:nvSpPr>
          <p:cNvPr id="5" name="Text 3"/>
          <p:cNvSpPr txBox="1"/>
          <p:nvPr/>
        </p:nvSpPr>
        <p:spPr>
          <a:xfrm>
            <a:off x="640080" y="3474720"/>
            <a:ext cx="10058400" cy="411480"/>
          </a:xfrm>
          <a:prstGeom prst="rect">
            <a:avLst/>
          </a:prstGeom>
          <a:noFill/>
          <a:ln/>
        </p:spPr>
        <p:txBody>
          <a:bodyPr wrap="square" lIns="0" tIns="0" rIns="0" bIns="0" rtlCol="0" anchor="ctr"/>
          <a:lstStyle/>
          <a:p>
            <a:pPr marL="0" indent="0">
              <a:buNone/>
            </a:pPr>
            <a:r>
              <a:rPr lang="en-US" sz="1800" b="1" dirty="0">
                <a:solidFill>
                  <a:srgbClr val="3FB950"/>
                </a:solidFill>
                <a:latin typeface="Calibri" pitchFamily="34" charset="0"/>
                <a:ea typeface="Calibri" pitchFamily="34" charset="-122"/>
                <a:cs typeface="Calibri" pitchFamily="34" charset="-120"/>
              </a:rPr>
              <a:t>OSSP · Operating Systems &amp; System Programming · Weeks 1–6</a:t>
            </a:r>
            <a:endParaRPr lang="en-US" sz="1800" dirty="0"/>
          </a:p>
        </p:txBody>
      </p:sp>
      <p:sp>
        <p:nvSpPr>
          <p:cNvPr id="6" name="Text 4"/>
          <p:cNvSpPr txBox="1"/>
          <p:nvPr/>
        </p:nvSpPr>
        <p:spPr>
          <a:xfrm>
            <a:off x="640080" y="4617720"/>
            <a:ext cx="106680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malloc()</a:t>
            </a:r>
            <a:endParaRPr lang="en-US" sz="1300" dirty="0"/>
          </a:p>
        </p:txBody>
      </p:sp>
      <p:sp>
        <p:nvSpPr>
          <p:cNvPr id="7" name="Text 5"/>
          <p:cNvSpPr txBox="1"/>
          <p:nvPr/>
        </p:nvSpPr>
        <p:spPr>
          <a:xfrm>
            <a:off x="1834896" y="4617720"/>
            <a:ext cx="106680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strtok()</a:t>
            </a:r>
            <a:endParaRPr lang="en-US" sz="1300" dirty="0"/>
          </a:p>
        </p:txBody>
      </p:sp>
      <p:sp>
        <p:nvSpPr>
          <p:cNvPr id="8" name="Text 6"/>
          <p:cNvSpPr txBox="1"/>
          <p:nvPr/>
        </p:nvSpPr>
        <p:spPr>
          <a:xfrm>
            <a:off x="3029712" y="4617720"/>
            <a:ext cx="86868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fork()</a:t>
            </a:r>
            <a:endParaRPr lang="en-US" sz="1300" dirty="0"/>
          </a:p>
        </p:txBody>
      </p:sp>
      <p:sp>
        <p:nvSpPr>
          <p:cNvPr id="9" name="Text 7"/>
          <p:cNvSpPr txBox="1"/>
          <p:nvPr/>
        </p:nvSpPr>
        <p:spPr>
          <a:xfrm>
            <a:off x="4026408" y="4617720"/>
            <a:ext cx="106680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execvp()</a:t>
            </a:r>
            <a:endParaRPr lang="en-US" sz="1300" dirty="0"/>
          </a:p>
        </p:txBody>
      </p:sp>
      <p:sp>
        <p:nvSpPr>
          <p:cNvPr id="10" name="Text 8"/>
          <p:cNvSpPr txBox="1"/>
          <p:nvPr/>
        </p:nvSpPr>
        <p:spPr>
          <a:xfrm>
            <a:off x="5221224" y="4617720"/>
            <a:ext cx="116586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waitpid()</a:t>
            </a:r>
            <a:endParaRPr lang="en-US" sz="1300" dirty="0"/>
          </a:p>
        </p:txBody>
      </p:sp>
      <p:sp>
        <p:nvSpPr>
          <p:cNvPr id="11" name="Text 9"/>
          <p:cNvSpPr txBox="1"/>
          <p:nvPr/>
        </p:nvSpPr>
        <p:spPr>
          <a:xfrm>
            <a:off x="6515100" y="4617720"/>
            <a:ext cx="96774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chdir()</a:t>
            </a:r>
            <a:endParaRPr lang="en-US" sz="1300" dirty="0"/>
          </a:p>
        </p:txBody>
      </p:sp>
      <p:sp>
        <p:nvSpPr>
          <p:cNvPr id="12" name="Text 10"/>
          <p:cNvSpPr txBox="1"/>
          <p:nvPr/>
        </p:nvSpPr>
        <p:spPr>
          <a:xfrm>
            <a:off x="7610856" y="4617720"/>
            <a:ext cx="86868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pipe()</a:t>
            </a:r>
            <a:endParaRPr lang="en-US" sz="1300" dirty="0"/>
          </a:p>
        </p:txBody>
      </p:sp>
      <p:sp>
        <p:nvSpPr>
          <p:cNvPr id="13" name="Text 11"/>
          <p:cNvSpPr txBox="1"/>
          <p:nvPr/>
        </p:nvSpPr>
        <p:spPr>
          <a:xfrm>
            <a:off x="8607552" y="4617720"/>
            <a:ext cx="868680" cy="365760"/>
          </a:xfrm>
          <a:prstGeom prst="roundRect">
            <a:avLst>
              <a:gd name="adj" fmla="val 15000"/>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dup2()</a:t>
            </a:r>
            <a:endParaRPr lang="en-US" sz="1300" dirty="0"/>
          </a:p>
        </p:txBody>
      </p:sp>
      <p:sp>
        <p:nvSpPr>
          <p:cNvPr id="14" name="Text 12"/>
          <p:cNvSpPr txBox="1"/>
          <p:nvPr/>
        </p:nvSpPr>
        <p:spPr>
          <a:xfrm>
            <a:off x="640080" y="6035040"/>
            <a:ext cx="10058400" cy="32004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Enterprise Knowledge Intelligence Platform · S2-Odd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PROGRESS</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Weeks 1–6 are complete and verified</a:t>
            </a:r>
            <a:endParaRPr lang="en-US" sz="3200" dirty="0"/>
          </a:p>
        </p:txBody>
      </p:sp>
      <p:sp>
        <p:nvSpPr>
          <p:cNvPr id="4" name="Shape 2"/>
          <p:cNvSpPr/>
          <p:nvPr/>
        </p:nvSpPr>
        <p:spPr>
          <a:xfrm>
            <a:off x="548640" y="1508760"/>
            <a:ext cx="2560320" cy="2148840"/>
          </a:xfrm>
          <a:prstGeom prst="roundRect">
            <a:avLst>
              <a:gd name="adj" fmla="val 4255"/>
            </a:avLst>
          </a:prstGeom>
          <a:solidFill>
            <a:srgbClr val="F6F8FA"/>
          </a:solidFill>
          <a:ln w="12700">
            <a:solidFill>
              <a:srgbClr val="F6F8FA"/>
            </a:solidFill>
            <a:prstDash val="solid"/>
          </a:ln>
        </p:spPr>
        <p:txBody>
          <a:bodyPr/>
          <a:lstStyle/>
          <a:p>
            <a:endParaRPr lang="en-IN"/>
          </a:p>
        </p:txBody>
      </p:sp>
      <p:sp>
        <p:nvSpPr>
          <p:cNvPr id="5" name="Text 3"/>
          <p:cNvSpPr txBox="1"/>
          <p:nvPr/>
        </p:nvSpPr>
        <p:spPr>
          <a:xfrm>
            <a:off x="822960" y="1691640"/>
            <a:ext cx="2103120" cy="914400"/>
          </a:xfrm>
          <a:prstGeom prst="rect">
            <a:avLst/>
          </a:prstGeom>
          <a:noFill/>
          <a:ln/>
        </p:spPr>
        <p:txBody>
          <a:bodyPr wrap="square" lIns="0" tIns="0" rIns="0" bIns="0" rtlCol="0" anchor="ctr"/>
          <a:lstStyle/>
          <a:p>
            <a:pPr marL="0" indent="0">
              <a:buNone/>
            </a:pPr>
            <a:r>
              <a:rPr lang="en-US" sz="5400" b="1" dirty="0">
                <a:solidFill>
                  <a:srgbClr val="1A7F37"/>
                </a:solidFill>
                <a:latin typeface="Calibri" pitchFamily="34" charset="0"/>
                <a:ea typeface="Calibri" pitchFamily="34" charset="-122"/>
                <a:cs typeface="Calibri" pitchFamily="34" charset="-120"/>
              </a:rPr>
              <a:t>6 / 6</a:t>
            </a:r>
            <a:endParaRPr lang="en-US" sz="5400" dirty="0"/>
          </a:p>
        </p:txBody>
      </p:sp>
      <p:sp>
        <p:nvSpPr>
          <p:cNvPr id="6" name="Text 4"/>
          <p:cNvSpPr txBox="1"/>
          <p:nvPr/>
        </p:nvSpPr>
        <p:spPr>
          <a:xfrm>
            <a:off x="822960" y="2651760"/>
            <a:ext cx="2103120" cy="365760"/>
          </a:xfrm>
          <a:prstGeom prst="rect">
            <a:avLst/>
          </a:prstGeom>
          <a:noFill/>
          <a:ln/>
        </p:spPr>
        <p:txBody>
          <a:bodyPr wrap="square" lIns="0" tIns="0" rIns="0" bIns="0" rtlCol="0" anchor="ctr"/>
          <a:lstStyle/>
          <a:p>
            <a:pPr marL="0" indent="0">
              <a:buNone/>
            </a:pPr>
            <a:r>
              <a:rPr lang="en-US" sz="1600" b="1" dirty="0">
                <a:solidFill>
                  <a:srgbClr val="1F2328"/>
                </a:solidFill>
                <a:latin typeface="Calibri" pitchFamily="34" charset="0"/>
                <a:ea typeface="Calibri" pitchFamily="34" charset="-122"/>
                <a:cs typeface="Calibri" pitchFamily="34" charset="-120"/>
              </a:rPr>
              <a:t>course weeks done</a:t>
            </a:r>
            <a:endParaRPr lang="en-US" sz="1600" dirty="0"/>
          </a:p>
        </p:txBody>
      </p:sp>
      <p:sp>
        <p:nvSpPr>
          <p:cNvPr id="7" name="Text 5"/>
          <p:cNvSpPr txBox="1"/>
          <p:nvPr/>
        </p:nvSpPr>
        <p:spPr>
          <a:xfrm>
            <a:off x="822960" y="3063240"/>
            <a:ext cx="2103120" cy="365760"/>
          </a:xfrm>
          <a:prstGeom prst="rect">
            <a:avLst/>
          </a:prstGeom>
          <a:noFill/>
          <a:ln/>
        </p:spPr>
        <p:txBody>
          <a:bodyPr wrap="square" lIns="0" tIns="0" rIns="0" bIns="0" rtlCol="0" anchor="ctr"/>
          <a:lstStyle/>
          <a:p>
            <a:pPr marL="0" indent="0">
              <a:buNone/>
            </a:pPr>
            <a:r>
              <a:rPr lang="en-US" sz="1300" dirty="0">
                <a:solidFill>
                  <a:srgbClr val="57606A"/>
                </a:solidFill>
                <a:latin typeface="Calibri" pitchFamily="34" charset="0"/>
                <a:ea typeface="Calibri" pitchFamily="34" charset="-122"/>
                <a:cs typeface="Calibri" pitchFamily="34" charset="-120"/>
              </a:rPr>
              <a:t>Built, tested and documented</a:t>
            </a:r>
            <a:endParaRPr lang="en-US" sz="1300" dirty="0"/>
          </a:p>
        </p:txBody>
      </p:sp>
      <p:sp>
        <p:nvSpPr>
          <p:cNvPr id="8" name="Shape 6"/>
          <p:cNvSpPr/>
          <p:nvPr/>
        </p:nvSpPr>
        <p:spPr>
          <a:xfrm>
            <a:off x="3383280" y="1508760"/>
            <a:ext cx="2560320" cy="2148840"/>
          </a:xfrm>
          <a:prstGeom prst="roundRect">
            <a:avLst>
              <a:gd name="adj" fmla="val 4255"/>
            </a:avLst>
          </a:prstGeom>
          <a:solidFill>
            <a:srgbClr val="F6F8FA"/>
          </a:solidFill>
          <a:ln w="12700">
            <a:solidFill>
              <a:srgbClr val="F6F8FA"/>
            </a:solidFill>
            <a:prstDash val="solid"/>
          </a:ln>
        </p:spPr>
        <p:txBody>
          <a:bodyPr/>
          <a:lstStyle/>
          <a:p>
            <a:endParaRPr lang="en-IN"/>
          </a:p>
        </p:txBody>
      </p:sp>
      <p:sp>
        <p:nvSpPr>
          <p:cNvPr id="9" name="Text 7"/>
          <p:cNvSpPr txBox="1"/>
          <p:nvPr/>
        </p:nvSpPr>
        <p:spPr>
          <a:xfrm>
            <a:off x="3657600" y="1691640"/>
            <a:ext cx="2103120" cy="914400"/>
          </a:xfrm>
          <a:prstGeom prst="rect">
            <a:avLst/>
          </a:prstGeom>
          <a:noFill/>
          <a:ln/>
        </p:spPr>
        <p:txBody>
          <a:bodyPr wrap="square" lIns="0" tIns="0" rIns="0" bIns="0" rtlCol="0" anchor="ctr"/>
          <a:lstStyle/>
          <a:p>
            <a:pPr marL="0" indent="0">
              <a:buNone/>
            </a:pPr>
            <a:r>
              <a:rPr lang="en-US" sz="5400" b="1" dirty="0">
                <a:solidFill>
                  <a:srgbClr val="1A7F37"/>
                </a:solidFill>
                <a:latin typeface="Calibri" pitchFamily="34" charset="0"/>
                <a:ea typeface="Calibri" pitchFamily="34" charset="-122"/>
                <a:cs typeface="Calibri" pitchFamily="34" charset="-120"/>
              </a:rPr>
              <a:t>76</a:t>
            </a:r>
            <a:endParaRPr lang="en-US" sz="5400" dirty="0"/>
          </a:p>
        </p:txBody>
      </p:sp>
      <p:sp>
        <p:nvSpPr>
          <p:cNvPr id="10" name="Text 8"/>
          <p:cNvSpPr txBox="1"/>
          <p:nvPr/>
        </p:nvSpPr>
        <p:spPr>
          <a:xfrm>
            <a:off x="3657600" y="2651760"/>
            <a:ext cx="2103120" cy="365760"/>
          </a:xfrm>
          <a:prstGeom prst="rect">
            <a:avLst/>
          </a:prstGeom>
          <a:noFill/>
          <a:ln/>
        </p:spPr>
        <p:txBody>
          <a:bodyPr wrap="square" lIns="0" tIns="0" rIns="0" bIns="0" rtlCol="0" anchor="ctr"/>
          <a:lstStyle/>
          <a:p>
            <a:pPr marL="0" indent="0">
              <a:buNone/>
            </a:pPr>
            <a:r>
              <a:rPr lang="en-US" sz="1600" b="1" dirty="0">
                <a:solidFill>
                  <a:srgbClr val="1F2328"/>
                </a:solidFill>
                <a:latin typeface="Calibri" pitchFamily="34" charset="0"/>
                <a:ea typeface="Calibri" pitchFamily="34" charset="-122"/>
                <a:cs typeface="Calibri" pitchFamily="34" charset="-120"/>
              </a:rPr>
              <a:t>checks passing</a:t>
            </a:r>
            <a:endParaRPr lang="en-US" sz="1600" dirty="0"/>
          </a:p>
        </p:txBody>
      </p:sp>
      <p:sp>
        <p:nvSpPr>
          <p:cNvPr id="11" name="Text 9"/>
          <p:cNvSpPr txBox="1"/>
          <p:nvPr/>
        </p:nvSpPr>
        <p:spPr>
          <a:xfrm>
            <a:off x="3657600" y="3063240"/>
            <a:ext cx="2103120" cy="365760"/>
          </a:xfrm>
          <a:prstGeom prst="rect">
            <a:avLst/>
          </a:prstGeom>
          <a:noFill/>
          <a:ln/>
        </p:spPr>
        <p:txBody>
          <a:bodyPr wrap="square" lIns="0" tIns="0" rIns="0" bIns="0" rtlCol="0" anchor="ctr"/>
          <a:lstStyle/>
          <a:p>
            <a:pPr marL="0" indent="0">
              <a:buNone/>
            </a:pPr>
            <a:r>
              <a:rPr lang="en-US" sz="1300" dirty="0">
                <a:solidFill>
                  <a:srgbClr val="57606A"/>
                </a:solidFill>
                <a:latin typeface="Calibri" pitchFamily="34" charset="0"/>
                <a:ea typeface="Calibri" pitchFamily="34" charset="-122"/>
                <a:cs typeface="Calibri" pitchFamily="34" charset="-120"/>
              </a:rPr>
              <a:t>3 test suites: 21 + 32 + 23</a:t>
            </a:r>
            <a:endParaRPr lang="en-US" sz="1300" dirty="0"/>
          </a:p>
        </p:txBody>
      </p:sp>
      <p:sp>
        <p:nvSpPr>
          <p:cNvPr id="12" name="Shape 10"/>
          <p:cNvSpPr/>
          <p:nvPr/>
        </p:nvSpPr>
        <p:spPr>
          <a:xfrm>
            <a:off x="6217920" y="1508760"/>
            <a:ext cx="2560320" cy="2148840"/>
          </a:xfrm>
          <a:prstGeom prst="roundRect">
            <a:avLst>
              <a:gd name="adj" fmla="val 4255"/>
            </a:avLst>
          </a:prstGeom>
          <a:solidFill>
            <a:srgbClr val="F6F8FA"/>
          </a:solidFill>
          <a:ln w="12700">
            <a:solidFill>
              <a:srgbClr val="F6F8FA"/>
            </a:solidFill>
            <a:prstDash val="solid"/>
          </a:ln>
        </p:spPr>
        <p:txBody>
          <a:bodyPr/>
          <a:lstStyle/>
          <a:p>
            <a:endParaRPr lang="en-IN"/>
          </a:p>
        </p:txBody>
      </p:sp>
      <p:sp>
        <p:nvSpPr>
          <p:cNvPr id="13" name="Text 11"/>
          <p:cNvSpPr txBox="1"/>
          <p:nvPr/>
        </p:nvSpPr>
        <p:spPr>
          <a:xfrm>
            <a:off x="6492240" y="1691640"/>
            <a:ext cx="2103120" cy="914400"/>
          </a:xfrm>
          <a:prstGeom prst="rect">
            <a:avLst/>
          </a:prstGeom>
          <a:noFill/>
          <a:ln/>
        </p:spPr>
        <p:txBody>
          <a:bodyPr wrap="square" lIns="0" tIns="0" rIns="0" bIns="0" rtlCol="0" anchor="ctr"/>
          <a:lstStyle/>
          <a:p>
            <a:pPr marL="0" indent="0">
              <a:buNone/>
            </a:pPr>
            <a:r>
              <a:rPr lang="en-US" sz="5400" b="1" dirty="0">
                <a:solidFill>
                  <a:srgbClr val="1A7F37"/>
                </a:solidFill>
                <a:latin typeface="Calibri" pitchFamily="34" charset="0"/>
                <a:ea typeface="Calibri" pitchFamily="34" charset="-122"/>
                <a:cs typeface="Calibri" pitchFamily="34" charset="-120"/>
              </a:rPr>
              <a:t>742</a:t>
            </a:r>
            <a:endParaRPr lang="en-US" sz="5400" dirty="0"/>
          </a:p>
        </p:txBody>
      </p:sp>
      <p:sp>
        <p:nvSpPr>
          <p:cNvPr id="14" name="Text 12"/>
          <p:cNvSpPr txBox="1"/>
          <p:nvPr/>
        </p:nvSpPr>
        <p:spPr>
          <a:xfrm>
            <a:off x="6492240" y="2651760"/>
            <a:ext cx="2103120" cy="365760"/>
          </a:xfrm>
          <a:prstGeom prst="rect">
            <a:avLst/>
          </a:prstGeom>
          <a:noFill/>
          <a:ln/>
        </p:spPr>
        <p:txBody>
          <a:bodyPr wrap="square" lIns="0" tIns="0" rIns="0" bIns="0" rtlCol="0" anchor="ctr"/>
          <a:lstStyle/>
          <a:p>
            <a:pPr marL="0" indent="0">
              <a:buNone/>
            </a:pPr>
            <a:r>
              <a:rPr lang="en-US" sz="1600" b="1" dirty="0">
                <a:solidFill>
                  <a:srgbClr val="1F2328"/>
                </a:solidFill>
                <a:latin typeface="Calibri" pitchFamily="34" charset="0"/>
                <a:ea typeface="Calibri" pitchFamily="34" charset="-122"/>
                <a:cs typeface="Calibri" pitchFamily="34" charset="-120"/>
              </a:rPr>
              <a:t>lines of C</a:t>
            </a:r>
            <a:endParaRPr lang="en-US" sz="1600" dirty="0"/>
          </a:p>
        </p:txBody>
      </p:sp>
      <p:sp>
        <p:nvSpPr>
          <p:cNvPr id="15" name="Text 13"/>
          <p:cNvSpPr txBox="1"/>
          <p:nvPr/>
        </p:nvSpPr>
        <p:spPr>
          <a:xfrm>
            <a:off x="6492240" y="3063240"/>
            <a:ext cx="2103120" cy="365760"/>
          </a:xfrm>
          <a:prstGeom prst="rect">
            <a:avLst/>
          </a:prstGeom>
          <a:noFill/>
          <a:ln/>
        </p:spPr>
        <p:txBody>
          <a:bodyPr wrap="square" lIns="0" tIns="0" rIns="0" bIns="0" rtlCol="0" anchor="ctr"/>
          <a:lstStyle/>
          <a:p>
            <a:pPr marL="0" indent="0">
              <a:buNone/>
            </a:pPr>
            <a:r>
              <a:rPr lang="en-US" sz="1300" dirty="0">
                <a:solidFill>
                  <a:srgbClr val="57606A"/>
                </a:solidFill>
                <a:latin typeface="Calibri" pitchFamily="34" charset="0"/>
                <a:ea typeface="Calibri" pitchFamily="34" charset="-122"/>
                <a:cs typeface="Calibri" pitchFamily="34" charset="-120"/>
              </a:rPr>
              <a:t>5 modules and 5 headers</a:t>
            </a:r>
            <a:endParaRPr lang="en-US" sz="1300" dirty="0"/>
          </a:p>
        </p:txBody>
      </p:sp>
      <p:sp>
        <p:nvSpPr>
          <p:cNvPr id="16" name="Shape 14"/>
          <p:cNvSpPr/>
          <p:nvPr/>
        </p:nvSpPr>
        <p:spPr>
          <a:xfrm>
            <a:off x="9052560" y="1508760"/>
            <a:ext cx="2560320" cy="2148840"/>
          </a:xfrm>
          <a:prstGeom prst="roundRect">
            <a:avLst>
              <a:gd name="adj" fmla="val 4255"/>
            </a:avLst>
          </a:prstGeom>
          <a:solidFill>
            <a:srgbClr val="F6F8FA"/>
          </a:solidFill>
          <a:ln w="12700">
            <a:solidFill>
              <a:srgbClr val="F6F8FA"/>
            </a:solidFill>
            <a:prstDash val="solid"/>
          </a:ln>
        </p:spPr>
        <p:txBody>
          <a:bodyPr/>
          <a:lstStyle/>
          <a:p>
            <a:endParaRPr lang="en-IN"/>
          </a:p>
        </p:txBody>
      </p:sp>
      <p:sp>
        <p:nvSpPr>
          <p:cNvPr id="17" name="Text 15"/>
          <p:cNvSpPr txBox="1"/>
          <p:nvPr/>
        </p:nvSpPr>
        <p:spPr>
          <a:xfrm>
            <a:off x="9326880" y="1691640"/>
            <a:ext cx="2103120" cy="914400"/>
          </a:xfrm>
          <a:prstGeom prst="rect">
            <a:avLst/>
          </a:prstGeom>
          <a:noFill/>
          <a:ln/>
        </p:spPr>
        <p:txBody>
          <a:bodyPr wrap="square" lIns="0" tIns="0" rIns="0" bIns="0" rtlCol="0" anchor="ctr"/>
          <a:lstStyle/>
          <a:p>
            <a:pPr marL="0" indent="0">
              <a:buNone/>
            </a:pPr>
            <a:r>
              <a:rPr lang="en-US" sz="5400" b="1" dirty="0">
                <a:solidFill>
                  <a:srgbClr val="1A7F37"/>
                </a:solidFill>
                <a:latin typeface="Calibri" pitchFamily="34" charset="0"/>
                <a:ea typeface="Calibri" pitchFamily="34" charset="-122"/>
                <a:cs typeface="Calibri" pitchFamily="34" charset="-120"/>
              </a:rPr>
              <a:t>0</a:t>
            </a:r>
            <a:endParaRPr lang="en-US" sz="5400" dirty="0"/>
          </a:p>
        </p:txBody>
      </p:sp>
      <p:sp>
        <p:nvSpPr>
          <p:cNvPr id="18" name="Text 16"/>
          <p:cNvSpPr txBox="1"/>
          <p:nvPr/>
        </p:nvSpPr>
        <p:spPr>
          <a:xfrm>
            <a:off x="9326880" y="2651760"/>
            <a:ext cx="2103120" cy="365760"/>
          </a:xfrm>
          <a:prstGeom prst="rect">
            <a:avLst/>
          </a:prstGeom>
          <a:noFill/>
          <a:ln/>
        </p:spPr>
        <p:txBody>
          <a:bodyPr wrap="square" lIns="0" tIns="0" rIns="0" bIns="0" rtlCol="0" anchor="ctr"/>
          <a:lstStyle/>
          <a:p>
            <a:pPr marL="0" indent="0">
              <a:buNone/>
            </a:pPr>
            <a:r>
              <a:rPr lang="en-US" sz="1600" b="1" dirty="0">
                <a:solidFill>
                  <a:srgbClr val="1F2328"/>
                </a:solidFill>
                <a:latin typeface="Calibri" pitchFamily="34" charset="0"/>
                <a:ea typeface="Calibri" pitchFamily="34" charset="-122"/>
                <a:cs typeface="Calibri" pitchFamily="34" charset="-120"/>
              </a:rPr>
              <a:t>memory errors or leaks</a:t>
            </a:r>
            <a:endParaRPr lang="en-US" sz="1600" dirty="0"/>
          </a:p>
        </p:txBody>
      </p:sp>
      <p:sp>
        <p:nvSpPr>
          <p:cNvPr id="19" name="Text 17"/>
          <p:cNvSpPr txBox="1"/>
          <p:nvPr/>
        </p:nvSpPr>
        <p:spPr>
          <a:xfrm>
            <a:off x="9326880" y="3063240"/>
            <a:ext cx="2103120" cy="365760"/>
          </a:xfrm>
          <a:prstGeom prst="rect">
            <a:avLst/>
          </a:prstGeom>
          <a:noFill/>
          <a:ln/>
        </p:spPr>
        <p:txBody>
          <a:bodyPr wrap="square" lIns="0" tIns="0" rIns="0" bIns="0" rtlCol="0" anchor="ctr"/>
          <a:lstStyle/>
          <a:p>
            <a:pPr marL="0" indent="0">
              <a:buNone/>
            </a:pPr>
            <a:r>
              <a:rPr lang="en-US" sz="1300" dirty="0">
                <a:solidFill>
                  <a:srgbClr val="57606A"/>
                </a:solidFill>
                <a:latin typeface="Calibri" pitchFamily="34" charset="0"/>
                <a:ea typeface="Calibri" pitchFamily="34" charset="-122"/>
                <a:cs typeface="Calibri" pitchFamily="34" charset="-120"/>
              </a:rPr>
              <a:t>ASan, LeakSanitizer, UBSan</a:t>
            </a:r>
            <a:endParaRPr lang="en-US" sz="1300" dirty="0"/>
          </a:p>
        </p:txBody>
      </p:sp>
      <p:sp>
        <p:nvSpPr>
          <p:cNvPr id="20" name="Text 18"/>
          <p:cNvSpPr txBox="1"/>
          <p:nvPr/>
        </p:nvSpPr>
        <p:spPr>
          <a:xfrm>
            <a:off x="548640" y="4069080"/>
            <a:ext cx="10972800" cy="365760"/>
          </a:xfrm>
          <a:prstGeom prst="rect">
            <a:avLst/>
          </a:prstGeom>
          <a:noFill/>
          <a:ln/>
        </p:spPr>
        <p:txBody>
          <a:bodyPr wrap="square" lIns="0" tIns="0" rIns="0" bIns="0" rtlCol="0" anchor="ctr"/>
          <a:lstStyle/>
          <a:p>
            <a:pPr marL="0" indent="0">
              <a:buNone/>
            </a:pPr>
            <a:r>
              <a:rPr lang="en-US" sz="1800" b="1" dirty="0">
                <a:solidFill>
                  <a:srgbClr val="1F2328"/>
                </a:solidFill>
                <a:latin typeface="Calibri" pitchFamily="34" charset="0"/>
                <a:ea typeface="Calibri" pitchFamily="34" charset="-122"/>
                <a:cs typeface="Calibri" pitchFamily="34" charset="-120"/>
              </a:rPr>
              <a:t>What ShellForge 6.0 can do</a:t>
            </a:r>
            <a:endParaRPr lang="en-US" sz="1800" dirty="0"/>
          </a:p>
        </p:txBody>
      </p:sp>
      <p:sp>
        <p:nvSpPr>
          <p:cNvPr id="21" name="Shape 19"/>
          <p:cNvSpPr/>
          <p:nvPr/>
        </p:nvSpPr>
        <p:spPr>
          <a:xfrm>
            <a:off x="548640"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22" name="Text 20"/>
          <p:cNvSpPr txBox="1"/>
          <p:nvPr/>
        </p:nvSpPr>
        <p:spPr>
          <a:xfrm>
            <a:off x="731520"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W1</a:t>
            </a:r>
            <a:endParaRPr lang="en-US" sz="1200" dirty="0"/>
          </a:p>
        </p:txBody>
      </p:sp>
      <p:sp>
        <p:nvSpPr>
          <p:cNvPr id="23" name="Text 21"/>
          <p:cNvSpPr txBox="1"/>
          <p:nvPr/>
        </p:nvSpPr>
        <p:spPr>
          <a:xfrm>
            <a:off x="731520"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REPL loop and banner</a:t>
            </a:r>
            <a:endParaRPr lang="en-US" sz="1400" dirty="0"/>
          </a:p>
        </p:txBody>
      </p:sp>
      <p:sp>
        <p:nvSpPr>
          <p:cNvPr id="24" name="Shape 22"/>
          <p:cNvSpPr/>
          <p:nvPr/>
        </p:nvSpPr>
        <p:spPr>
          <a:xfrm>
            <a:off x="2414016"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25" name="Text 23"/>
          <p:cNvSpPr txBox="1"/>
          <p:nvPr/>
        </p:nvSpPr>
        <p:spPr>
          <a:xfrm>
            <a:off x="2596896"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W2</a:t>
            </a:r>
            <a:endParaRPr lang="en-US" sz="1200" dirty="0"/>
          </a:p>
        </p:txBody>
      </p:sp>
      <p:sp>
        <p:nvSpPr>
          <p:cNvPr id="26" name="Text 24"/>
          <p:cNvSpPr txBox="1"/>
          <p:nvPr/>
        </p:nvSpPr>
        <p:spPr>
          <a:xfrm>
            <a:off x="2596896"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Input of any length</a:t>
            </a:r>
            <a:endParaRPr lang="en-US" sz="1400" dirty="0"/>
          </a:p>
        </p:txBody>
      </p:sp>
      <p:sp>
        <p:nvSpPr>
          <p:cNvPr id="27" name="Shape 25"/>
          <p:cNvSpPr/>
          <p:nvPr/>
        </p:nvSpPr>
        <p:spPr>
          <a:xfrm>
            <a:off x="4279392"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28" name="Text 26"/>
          <p:cNvSpPr txBox="1"/>
          <p:nvPr/>
        </p:nvSpPr>
        <p:spPr>
          <a:xfrm>
            <a:off x="4462272"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W3</a:t>
            </a:r>
            <a:endParaRPr lang="en-US" sz="1200" dirty="0"/>
          </a:p>
        </p:txBody>
      </p:sp>
      <p:sp>
        <p:nvSpPr>
          <p:cNvPr id="29" name="Text 27"/>
          <p:cNvSpPr txBox="1"/>
          <p:nvPr/>
        </p:nvSpPr>
        <p:spPr>
          <a:xfrm>
            <a:off x="4462272"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Command parser</a:t>
            </a:r>
            <a:endParaRPr lang="en-US" sz="1400" dirty="0"/>
          </a:p>
        </p:txBody>
      </p:sp>
      <p:sp>
        <p:nvSpPr>
          <p:cNvPr id="30" name="Shape 28"/>
          <p:cNvSpPr/>
          <p:nvPr/>
        </p:nvSpPr>
        <p:spPr>
          <a:xfrm>
            <a:off x="6144768"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31" name="Text 29"/>
          <p:cNvSpPr txBox="1"/>
          <p:nvPr/>
        </p:nvSpPr>
        <p:spPr>
          <a:xfrm>
            <a:off x="6327648"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W4</a:t>
            </a:r>
            <a:endParaRPr lang="en-US" sz="1200" dirty="0"/>
          </a:p>
        </p:txBody>
      </p:sp>
      <p:sp>
        <p:nvSpPr>
          <p:cNvPr id="32" name="Text 30"/>
          <p:cNvSpPr txBox="1"/>
          <p:nvPr/>
        </p:nvSpPr>
        <p:spPr>
          <a:xfrm>
            <a:off x="6327648"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Run programs</a:t>
            </a:r>
            <a:endParaRPr lang="en-US" sz="1400" dirty="0"/>
          </a:p>
        </p:txBody>
      </p:sp>
      <p:sp>
        <p:nvSpPr>
          <p:cNvPr id="33" name="Shape 31"/>
          <p:cNvSpPr/>
          <p:nvPr/>
        </p:nvSpPr>
        <p:spPr>
          <a:xfrm>
            <a:off x="8010144"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34" name="Text 32"/>
          <p:cNvSpPr txBox="1"/>
          <p:nvPr/>
        </p:nvSpPr>
        <p:spPr>
          <a:xfrm>
            <a:off x="8193024"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W5</a:t>
            </a:r>
            <a:endParaRPr lang="en-US" sz="1200" dirty="0"/>
          </a:p>
        </p:txBody>
      </p:sp>
      <p:sp>
        <p:nvSpPr>
          <p:cNvPr id="35" name="Text 33"/>
          <p:cNvSpPr txBox="1"/>
          <p:nvPr/>
        </p:nvSpPr>
        <p:spPr>
          <a:xfrm>
            <a:off x="8193024"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Built-in commands</a:t>
            </a:r>
            <a:endParaRPr lang="en-US" sz="1400" dirty="0"/>
          </a:p>
        </p:txBody>
      </p:sp>
      <p:sp>
        <p:nvSpPr>
          <p:cNvPr id="36" name="Shape 34"/>
          <p:cNvSpPr/>
          <p:nvPr/>
        </p:nvSpPr>
        <p:spPr>
          <a:xfrm>
            <a:off x="9875520" y="4572000"/>
            <a:ext cx="1719072" cy="1280160"/>
          </a:xfrm>
          <a:prstGeom prst="roundRect">
            <a:avLst>
              <a:gd name="adj" fmla="val 7143"/>
            </a:avLst>
          </a:prstGeom>
          <a:solidFill>
            <a:srgbClr val="F6F8FA"/>
          </a:solidFill>
          <a:ln w="12700">
            <a:solidFill>
              <a:srgbClr val="F6F8FA"/>
            </a:solidFill>
            <a:prstDash val="solid"/>
          </a:ln>
        </p:spPr>
        <p:txBody>
          <a:bodyPr/>
          <a:lstStyle/>
          <a:p>
            <a:endParaRPr lang="en-IN"/>
          </a:p>
        </p:txBody>
      </p:sp>
      <p:sp>
        <p:nvSpPr>
          <p:cNvPr id="37" name="Text 35"/>
          <p:cNvSpPr txBox="1"/>
          <p:nvPr/>
        </p:nvSpPr>
        <p:spPr>
          <a:xfrm>
            <a:off x="10058400" y="4754880"/>
            <a:ext cx="457200" cy="310896"/>
          </a:xfrm>
          <a:prstGeom prst="roundRect">
            <a:avLst>
              <a:gd name="adj" fmla="val 17647"/>
            </a:avLst>
          </a:prstGeom>
          <a:solidFill>
            <a:srgbClr val="0D1117"/>
          </a:solidFill>
          <a:ln w="9525">
            <a:solidFill>
              <a:srgbClr val="0D1117"/>
            </a:solidFill>
          </a:ln>
        </p:spPr>
        <p:txBody>
          <a:bodyPr wrap="square" lIns="0" tIns="0" rIns="0" bIns="0" rtlCol="0" anchor="ctr"/>
          <a:lstStyle/>
          <a:p>
            <a:pPr marL="0" indent="0" algn="ctr">
              <a:buNone/>
            </a:pPr>
            <a:r>
              <a:rPr lang="en-US" sz="1200" b="1" dirty="0">
                <a:solidFill>
                  <a:srgbClr val="3FB950"/>
                </a:solidFill>
                <a:latin typeface="Courier New" pitchFamily="34" charset="0"/>
                <a:ea typeface="Courier New" pitchFamily="34" charset="-122"/>
                <a:cs typeface="Courier New" pitchFamily="34" charset="-120"/>
              </a:rPr>
              <a:t>W6</a:t>
            </a:r>
            <a:endParaRPr lang="en-US" sz="1200" dirty="0"/>
          </a:p>
        </p:txBody>
      </p:sp>
      <p:sp>
        <p:nvSpPr>
          <p:cNvPr id="38" name="Text 36"/>
          <p:cNvSpPr txBox="1"/>
          <p:nvPr/>
        </p:nvSpPr>
        <p:spPr>
          <a:xfrm>
            <a:off x="10058400" y="5212080"/>
            <a:ext cx="1417320" cy="502920"/>
          </a:xfrm>
          <a:prstGeom prst="rect">
            <a:avLst/>
          </a:prstGeom>
          <a:noFill/>
          <a:ln/>
        </p:spPr>
        <p:txBody>
          <a:bodyPr wrap="square" lIns="0" tIns="0" rIns="0" bIns="0" rtlCol="0" anchor="t"/>
          <a:lstStyle/>
          <a:p>
            <a:pPr marL="0" indent="0">
              <a:buNone/>
            </a:pPr>
            <a:r>
              <a:rPr lang="en-US" sz="1400" b="1" dirty="0">
                <a:solidFill>
                  <a:srgbClr val="1F2328"/>
                </a:solidFill>
                <a:latin typeface="Calibri" pitchFamily="34" charset="0"/>
                <a:ea typeface="Calibri" pitchFamily="34" charset="-122"/>
                <a:cs typeface="Calibri" pitchFamily="34" charset="-120"/>
              </a:rPr>
              <a:t>Pipes and IPC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SYLLABUS</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Mapped to four course outcomes</a:t>
            </a:r>
            <a:endParaRPr lang="en-US" sz="3200" dirty="0"/>
          </a:p>
        </p:txBody>
      </p:sp>
      <p:sp>
        <p:nvSpPr>
          <p:cNvPr id="4" name="Shape 2"/>
          <p:cNvSpPr/>
          <p:nvPr/>
        </p:nvSpPr>
        <p:spPr>
          <a:xfrm>
            <a:off x="548640" y="1463040"/>
            <a:ext cx="5440680" cy="2240280"/>
          </a:xfrm>
          <a:prstGeom prst="roundRect">
            <a:avLst>
              <a:gd name="adj" fmla="val 4082"/>
            </a:avLst>
          </a:prstGeom>
          <a:solidFill>
            <a:srgbClr val="F6F8FA"/>
          </a:solidFill>
          <a:ln w="12700">
            <a:solidFill>
              <a:srgbClr val="F6F8FA"/>
            </a:solidFill>
            <a:prstDash val="solid"/>
          </a:ln>
        </p:spPr>
        <p:txBody>
          <a:bodyPr/>
          <a:lstStyle/>
          <a:p>
            <a:endParaRPr lang="en-IN"/>
          </a:p>
        </p:txBody>
      </p:sp>
      <p:sp>
        <p:nvSpPr>
          <p:cNvPr id="5" name="Text 3"/>
          <p:cNvSpPr txBox="1"/>
          <p:nvPr/>
        </p:nvSpPr>
        <p:spPr>
          <a:xfrm>
            <a:off x="822960" y="173736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CO-1</a:t>
            </a:r>
            <a:endParaRPr lang="en-US" sz="1300" dirty="0"/>
          </a:p>
        </p:txBody>
      </p:sp>
      <p:sp>
        <p:nvSpPr>
          <p:cNvPr id="6" name="Text 4"/>
          <p:cNvSpPr txBox="1"/>
          <p:nvPr/>
        </p:nvSpPr>
        <p:spPr>
          <a:xfrm>
            <a:off x="1783080" y="1737360"/>
            <a:ext cx="3840480" cy="347472"/>
          </a:xfrm>
          <a:prstGeom prst="rect">
            <a:avLst/>
          </a:prstGeom>
          <a:noFill/>
          <a:ln/>
        </p:spPr>
        <p:txBody>
          <a:bodyPr wrap="square" lIns="0" tIns="0" rIns="0" bIns="0" rtlCol="0" anchor="ctr"/>
          <a:lstStyle/>
          <a:p>
            <a:pPr marL="0" indent="0">
              <a:buNone/>
            </a:pPr>
            <a:r>
              <a:rPr lang="en-US" sz="1400" b="1" dirty="0">
                <a:solidFill>
                  <a:srgbClr val="57606A"/>
                </a:solidFill>
                <a:latin typeface="Calibri" pitchFamily="34" charset="0"/>
                <a:ea typeface="Calibri" pitchFamily="34" charset="-122"/>
                <a:cs typeface="Calibri" pitchFamily="34" charset="-120"/>
              </a:rPr>
              <a:t>Weeks 1–3</a:t>
            </a:r>
            <a:endParaRPr lang="en-US" sz="1400" dirty="0"/>
          </a:p>
        </p:txBody>
      </p:sp>
      <p:sp>
        <p:nvSpPr>
          <p:cNvPr id="7" name="Text 5"/>
          <p:cNvSpPr txBox="1"/>
          <p:nvPr/>
        </p:nvSpPr>
        <p:spPr>
          <a:xfrm>
            <a:off x="822960" y="2240280"/>
            <a:ext cx="4892040" cy="411480"/>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Shell as the user-space interface</a:t>
            </a:r>
            <a:endParaRPr lang="en-US" sz="1900" dirty="0"/>
          </a:p>
        </p:txBody>
      </p:sp>
      <p:sp>
        <p:nvSpPr>
          <p:cNvPr id="8" name="Text 6"/>
          <p:cNvSpPr txBox="1"/>
          <p:nvPr/>
        </p:nvSpPr>
        <p:spPr>
          <a:xfrm>
            <a:off x="822960" y="2697480"/>
            <a:ext cx="4892040" cy="86868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REPL loop, the build pipeline, and command-line parsing with strtok() into an execvp()-ready argv[].</a:t>
            </a:r>
            <a:endParaRPr lang="en-US" sz="1400" dirty="0"/>
          </a:p>
        </p:txBody>
      </p:sp>
      <p:sp>
        <p:nvSpPr>
          <p:cNvPr id="9" name="Shape 7"/>
          <p:cNvSpPr/>
          <p:nvPr/>
        </p:nvSpPr>
        <p:spPr>
          <a:xfrm>
            <a:off x="6172200" y="1463040"/>
            <a:ext cx="5440680" cy="2240280"/>
          </a:xfrm>
          <a:prstGeom prst="roundRect">
            <a:avLst>
              <a:gd name="adj" fmla="val 4082"/>
            </a:avLst>
          </a:prstGeom>
          <a:solidFill>
            <a:srgbClr val="F6F8FA"/>
          </a:solidFill>
          <a:ln w="12700">
            <a:solidFill>
              <a:srgbClr val="F6F8FA"/>
            </a:solidFill>
            <a:prstDash val="solid"/>
          </a:ln>
        </p:spPr>
        <p:txBody>
          <a:bodyPr/>
          <a:lstStyle/>
          <a:p>
            <a:endParaRPr lang="en-IN"/>
          </a:p>
        </p:txBody>
      </p:sp>
      <p:sp>
        <p:nvSpPr>
          <p:cNvPr id="10" name="Text 8"/>
          <p:cNvSpPr txBox="1"/>
          <p:nvPr/>
        </p:nvSpPr>
        <p:spPr>
          <a:xfrm>
            <a:off x="6446520" y="173736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CO-2</a:t>
            </a:r>
            <a:endParaRPr lang="en-US" sz="1300" dirty="0"/>
          </a:p>
        </p:txBody>
      </p:sp>
      <p:sp>
        <p:nvSpPr>
          <p:cNvPr id="11" name="Text 9"/>
          <p:cNvSpPr txBox="1"/>
          <p:nvPr/>
        </p:nvSpPr>
        <p:spPr>
          <a:xfrm>
            <a:off x="7406640" y="1737360"/>
            <a:ext cx="3840480" cy="347472"/>
          </a:xfrm>
          <a:prstGeom prst="rect">
            <a:avLst/>
          </a:prstGeom>
          <a:noFill/>
          <a:ln/>
        </p:spPr>
        <p:txBody>
          <a:bodyPr wrap="square" lIns="0" tIns="0" rIns="0" bIns="0" rtlCol="0" anchor="ctr"/>
          <a:lstStyle/>
          <a:p>
            <a:pPr marL="0" indent="0">
              <a:buNone/>
            </a:pPr>
            <a:r>
              <a:rPr lang="en-US" sz="1400" b="1" dirty="0">
                <a:solidFill>
                  <a:srgbClr val="57606A"/>
                </a:solidFill>
                <a:latin typeface="Calibri" pitchFamily="34" charset="0"/>
                <a:ea typeface="Calibri" pitchFamily="34" charset="-122"/>
                <a:cs typeface="Calibri" pitchFamily="34" charset="-120"/>
              </a:rPr>
              <a:t>Weeks 4–5</a:t>
            </a:r>
            <a:endParaRPr lang="en-US" sz="1400" dirty="0"/>
          </a:p>
        </p:txBody>
      </p:sp>
      <p:sp>
        <p:nvSpPr>
          <p:cNvPr id="12" name="Text 10"/>
          <p:cNvSpPr txBox="1"/>
          <p:nvPr/>
        </p:nvSpPr>
        <p:spPr>
          <a:xfrm>
            <a:off x="6446520" y="2240280"/>
            <a:ext cx="4892040" cy="411480"/>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Processes and built-ins</a:t>
            </a:r>
            <a:endParaRPr lang="en-US" sz="1900" dirty="0"/>
          </a:p>
        </p:txBody>
      </p:sp>
      <p:sp>
        <p:nvSpPr>
          <p:cNvPr id="13" name="Text 11"/>
          <p:cNvSpPr txBox="1"/>
          <p:nvPr/>
        </p:nvSpPr>
        <p:spPr>
          <a:xfrm>
            <a:off x="6446520" y="2697480"/>
            <a:ext cx="4892040" cy="86868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fork(), execvp(), waitpid() and exit status. cd, pwd and env run inside the shell because they change its own state.</a:t>
            </a:r>
            <a:endParaRPr lang="en-US" sz="1400" dirty="0"/>
          </a:p>
        </p:txBody>
      </p:sp>
      <p:sp>
        <p:nvSpPr>
          <p:cNvPr id="14" name="Shape 12"/>
          <p:cNvSpPr/>
          <p:nvPr/>
        </p:nvSpPr>
        <p:spPr>
          <a:xfrm>
            <a:off x="548640" y="3977640"/>
            <a:ext cx="5440680" cy="2240280"/>
          </a:xfrm>
          <a:prstGeom prst="roundRect">
            <a:avLst>
              <a:gd name="adj" fmla="val 4082"/>
            </a:avLst>
          </a:prstGeom>
          <a:solidFill>
            <a:srgbClr val="F6F8FA"/>
          </a:solidFill>
          <a:ln w="12700">
            <a:solidFill>
              <a:srgbClr val="F6F8FA"/>
            </a:solidFill>
            <a:prstDash val="solid"/>
          </a:ln>
        </p:spPr>
        <p:txBody>
          <a:bodyPr/>
          <a:lstStyle/>
          <a:p>
            <a:endParaRPr lang="en-IN"/>
          </a:p>
        </p:txBody>
      </p:sp>
      <p:sp>
        <p:nvSpPr>
          <p:cNvPr id="15" name="Text 13"/>
          <p:cNvSpPr txBox="1"/>
          <p:nvPr/>
        </p:nvSpPr>
        <p:spPr>
          <a:xfrm>
            <a:off x="822960" y="425196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CO-3</a:t>
            </a:r>
            <a:endParaRPr lang="en-US" sz="1300" dirty="0"/>
          </a:p>
        </p:txBody>
      </p:sp>
      <p:sp>
        <p:nvSpPr>
          <p:cNvPr id="16" name="Text 14"/>
          <p:cNvSpPr txBox="1"/>
          <p:nvPr/>
        </p:nvSpPr>
        <p:spPr>
          <a:xfrm>
            <a:off x="1783080" y="4251960"/>
            <a:ext cx="3840480" cy="347472"/>
          </a:xfrm>
          <a:prstGeom prst="rect">
            <a:avLst/>
          </a:prstGeom>
          <a:noFill/>
          <a:ln/>
        </p:spPr>
        <p:txBody>
          <a:bodyPr wrap="square" lIns="0" tIns="0" rIns="0" bIns="0" rtlCol="0" anchor="ctr"/>
          <a:lstStyle/>
          <a:p>
            <a:pPr marL="0" indent="0">
              <a:buNone/>
            </a:pPr>
            <a:r>
              <a:rPr lang="en-US" sz="1400" b="1" dirty="0">
                <a:solidFill>
                  <a:srgbClr val="57606A"/>
                </a:solidFill>
                <a:latin typeface="Calibri" pitchFamily="34" charset="0"/>
                <a:ea typeface="Calibri" pitchFamily="34" charset="-122"/>
                <a:cs typeface="Calibri" pitchFamily="34" charset="-120"/>
              </a:rPr>
              <a:t>Week 6</a:t>
            </a:r>
            <a:endParaRPr lang="en-US" sz="1400" dirty="0"/>
          </a:p>
        </p:txBody>
      </p:sp>
      <p:sp>
        <p:nvSpPr>
          <p:cNvPr id="17" name="Text 15"/>
          <p:cNvSpPr txBox="1"/>
          <p:nvPr/>
        </p:nvSpPr>
        <p:spPr>
          <a:xfrm>
            <a:off x="822960" y="4754880"/>
            <a:ext cx="4892040" cy="411480"/>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Inter-process communication</a:t>
            </a:r>
            <a:endParaRPr lang="en-US" sz="1900" dirty="0"/>
          </a:p>
        </p:txBody>
      </p:sp>
      <p:sp>
        <p:nvSpPr>
          <p:cNvPr id="18" name="Text 16"/>
          <p:cNvSpPr txBox="1"/>
          <p:nvPr/>
        </p:nvSpPr>
        <p:spPr>
          <a:xfrm>
            <a:off x="822960" y="5212080"/>
            <a:ext cx="4892040" cy="86868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Anonymous pipes with pipe() and dup2(), two-process pipelines, parent and child messages, EOF.</a:t>
            </a:r>
            <a:endParaRPr lang="en-US" sz="1400" dirty="0"/>
          </a:p>
        </p:txBody>
      </p:sp>
      <p:sp>
        <p:nvSpPr>
          <p:cNvPr id="19" name="Shape 17"/>
          <p:cNvSpPr/>
          <p:nvPr/>
        </p:nvSpPr>
        <p:spPr>
          <a:xfrm>
            <a:off x="6172200" y="3977640"/>
            <a:ext cx="5440680" cy="2240280"/>
          </a:xfrm>
          <a:prstGeom prst="roundRect">
            <a:avLst>
              <a:gd name="adj" fmla="val 4082"/>
            </a:avLst>
          </a:prstGeom>
          <a:solidFill>
            <a:srgbClr val="F6F8FA"/>
          </a:solidFill>
          <a:ln w="12700">
            <a:solidFill>
              <a:srgbClr val="F6F8FA"/>
            </a:solidFill>
            <a:prstDash val="solid"/>
          </a:ln>
        </p:spPr>
        <p:txBody>
          <a:bodyPr/>
          <a:lstStyle/>
          <a:p>
            <a:endParaRPr lang="en-IN"/>
          </a:p>
        </p:txBody>
      </p:sp>
      <p:sp>
        <p:nvSpPr>
          <p:cNvPr id="20" name="Text 18"/>
          <p:cNvSpPr txBox="1"/>
          <p:nvPr/>
        </p:nvSpPr>
        <p:spPr>
          <a:xfrm>
            <a:off x="6446520" y="425196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CO-4</a:t>
            </a:r>
            <a:endParaRPr lang="en-US" sz="1300" dirty="0"/>
          </a:p>
        </p:txBody>
      </p:sp>
      <p:sp>
        <p:nvSpPr>
          <p:cNvPr id="21" name="Text 19"/>
          <p:cNvSpPr txBox="1"/>
          <p:nvPr/>
        </p:nvSpPr>
        <p:spPr>
          <a:xfrm>
            <a:off x="7406640" y="4251960"/>
            <a:ext cx="3840480" cy="347472"/>
          </a:xfrm>
          <a:prstGeom prst="rect">
            <a:avLst/>
          </a:prstGeom>
          <a:noFill/>
          <a:ln/>
        </p:spPr>
        <p:txBody>
          <a:bodyPr wrap="square" lIns="0" tIns="0" rIns="0" bIns="0" rtlCol="0" anchor="ctr"/>
          <a:lstStyle/>
          <a:p>
            <a:pPr marL="0" indent="0">
              <a:buNone/>
            </a:pPr>
            <a:r>
              <a:rPr lang="en-US" sz="1400" b="1" dirty="0">
                <a:solidFill>
                  <a:srgbClr val="57606A"/>
                </a:solidFill>
                <a:latin typeface="Calibri" pitchFamily="34" charset="0"/>
                <a:ea typeface="Calibri" pitchFamily="34" charset="-122"/>
                <a:cs typeface="Calibri" pitchFamily="34" charset="-120"/>
              </a:rPr>
              <a:t>Week 2 (foundation)</a:t>
            </a:r>
            <a:endParaRPr lang="en-US" sz="1400" dirty="0"/>
          </a:p>
        </p:txBody>
      </p:sp>
      <p:sp>
        <p:nvSpPr>
          <p:cNvPr id="22" name="Text 20"/>
          <p:cNvSpPr txBox="1"/>
          <p:nvPr/>
        </p:nvSpPr>
        <p:spPr>
          <a:xfrm>
            <a:off x="6446520" y="4754880"/>
            <a:ext cx="4892040" cy="411480"/>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Dynamic memory</a:t>
            </a:r>
            <a:endParaRPr lang="en-US" sz="1900" dirty="0"/>
          </a:p>
        </p:txBody>
      </p:sp>
      <p:sp>
        <p:nvSpPr>
          <p:cNvPr id="23" name="Text 21"/>
          <p:cNvSpPr txBox="1"/>
          <p:nvPr/>
        </p:nvSpPr>
        <p:spPr>
          <a:xfrm>
            <a:off x="6446520" y="5212080"/>
            <a:ext cx="4892040" cy="86868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Heap buffers with malloc(), realloc() and free(); leaks and memory errors checked with AddressSanitizer.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DESIGN</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Five small modules, one command loop</a:t>
            </a:r>
            <a:endParaRPr lang="en-US" sz="3200" dirty="0"/>
          </a:p>
        </p:txBody>
      </p:sp>
      <p:sp>
        <p:nvSpPr>
          <p:cNvPr id="4" name="Shape 2"/>
          <p:cNvSpPr/>
          <p:nvPr/>
        </p:nvSpPr>
        <p:spPr>
          <a:xfrm>
            <a:off x="1234440" y="1417320"/>
            <a:ext cx="3749040" cy="731520"/>
          </a:xfrm>
          <a:prstGeom prst="roundRect">
            <a:avLst>
              <a:gd name="adj" fmla="val 10000"/>
            </a:avLst>
          </a:prstGeom>
          <a:solidFill>
            <a:srgbClr val="0D1117"/>
          </a:solidFill>
          <a:ln w="12700">
            <a:solidFill>
              <a:srgbClr val="0D1117"/>
            </a:solidFill>
            <a:prstDash val="solid"/>
          </a:ln>
        </p:spPr>
        <p:txBody>
          <a:bodyPr/>
          <a:lstStyle/>
          <a:p>
            <a:endParaRPr lang="en-IN"/>
          </a:p>
        </p:txBody>
      </p:sp>
      <p:sp>
        <p:nvSpPr>
          <p:cNvPr id="5" name="Text 3"/>
          <p:cNvSpPr txBox="1"/>
          <p:nvPr/>
        </p:nvSpPr>
        <p:spPr>
          <a:xfrm>
            <a:off x="1234440" y="1417320"/>
            <a:ext cx="3749040" cy="731520"/>
          </a:xfrm>
          <a:prstGeom prst="rect">
            <a:avLst/>
          </a:prstGeom>
          <a:noFill/>
          <a:ln/>
        </p:spPr>
        <p:txBody>
          <a:bodyPr wrap="square" lIns="635" tIns="635" rIns="635" bIns="635" rtlCol="0" anchor="ctr"/>
          <a:lstStyle/>
          <a:p>
            <a:pPr marL="0" indent="0" algn="ctr">
              <a:buNone/>
            </a:pPr>
            <a:r>
              <a:rPr lang="en-US" sz="1500" b="1" dirty="0">
                <a:solidFill>
                  <a:srgbClr val="3FB950"/>
                </a:solidFill>
                <a:latin typeface="Courier New" pitchFamily="34" charset="0"/>
                <a:ea typeface="Courier New" pitchFamily="34" charset="-122"/>
                <a:cs typeface="Courier New" pitchFamily="34" charset="-120"/>
              </a:rPr>
              <a:t>main.c</a:t>
            </a:r>
            <a:endParaRPr lang="en-US" sz="1500" dirty="0"/>
          </a:p>
          <a:p>
            <a:pPr marL="0" indent="0" algn="ctr">
              <a:buNone/>
            </a:pPr>
            <a:r>
              <a:rPr lang="en-US" sz="1300" dirty="0">
                <a:solidFill>
                  <a:srgbClr val="C9D1D9"/>
                </a:solidFill>
                <a:latin typeface="Calibri" pitchFamily="34" charset="0"/>
                <a:ea typeface="Calibri" pitchFamily="34" charset="-122"/>
                <a:cs typeface="Calibri" pitchFamily="34" charset="-120"/>
              </a:rPr>
              <a:t>REPL loop: prompt, dispatch, exit</a:t>
            </a:r>
            <a:endParaRPr lang="en-US" sz="1500" dirty="0"/>
          </a:p>
        </p:txBody>
      </p:sp>
      <p:sp>
        <p:nvSpPr>
          <p:cNvPr id="6" name="Shape 4"/>
          <p:cNvSpPr/>
          <p:nvPr/>
        </p:nvSpPr>
        <p:spPr>
          <a:xfrm>
            <a:off x="3108960" y="2148840"/>
            <a:ext cx="0" cy="320040"/>
          </a:xfrm>
          <a:prstGeom prst="line">
            <a:avLst/>
          </a:prstGeom>
          <a:noFill/>
          <a:ln w="22225">
            <a:solidFill>
              <a:srgbClr val="57606A"/>
            </a:solidFill>
            <a:prstDash val="solid"/>
            <a:tailEnd type="triangle"/>
          </a:ln>
        </p:spPr>
        <p:txBody>
          <a:bodyPr/>
          <a:lstStyle/>
          <a:p>
            <a:endParaRPr lang="en-IN"/>
          </a:p>
        </p:txBody>
      </p:sp>
      <p:sp>
        <p:nvSpPr>
          <p:cNvPr id="7" name="Shape 5"/>
          <p:cNvSpPr/>
          <p:nvPr/>
        </p:nvSpPr>
        <p:spPr>
          <a:xfrm>
            <a:off x="1234440" y="2468880"/>
            <a:ext cx="3749040" cy="731520"/>
          </a:xfrm>
          <a:prstGeom prst="roundRect">
            <a:avLst>
              <a:gd name="adj" fmla="val 10000"/>
            </a:avLst>
          </a:prstGeom>
          <a:solidFill>
            <a:srgbClr val="F6F8FA"/>
          </a:solidFill>
          <a:ln w="12700">
            <a:solidFill>
              <a:srgbClr val="D0D7DE"/>
            </a:solidFill>
            <a:prstDash val="solid"/>
          </a:ln>
        </p:spPr>
        <p:txBody>
          <a:bodyPr/>
          <a:lstStyle/>
          <a:p>
            <a:endParaRPr lang="en-IN"/>
          </a:p>
        </p:txBody>
      </p:sp>
      <p:sp>
        <p:nvSpPr>
          <p:cNvPr id="8" name="Text 6"/>
          <p:cNvSpPr txBox="1"/>
          <p:nvPr/>
        </p:nvSpPr>
        <p:spPr>
          <a:xfrm>
            <a:off x="1234440" y="2468880"/>
            <a:ext cx="3749040" cy="731520"/>
          </a:xfrm>
          <a:prstGeom prst="rect">
            <a:avLst/>
          </a:prstGeom>
          <a:noFill/>
          <a:ln/>
        </p:spPr>
        <p:txBody>
          <a:bodyPr wrap="square" lIns="635" tIns="635" rIns="635" bIns="635" rtlCol="0" anchor="ctr"/>
          <a:lstStyle/>
          <a:p>
            <a:pPr marL="0" indent="0" algn="ctr">
              <a:buNone/>
            </a:pPr>
            <a:r>
              <a:rPr lang="en-US" sz="1500" b="1" dirty="0">
                <a:solidFill>
                  <a:srgbClr val="1A7F37"/>
                </a:solidFill>
                <a:latin typeface="Courier New" pitchFamily="34" charset="0"/>
                <a:ea typeface="Courier New" pitchFamily="34" charset="-122"/>
                <a:cs typeface="Courier New" pitchFamily="34" charset="-120"/>
              </a:rPr>
              <a:t>input.c</a:t>
            </a:r>
            <a:endParaRPr lang="en-US" sz="1500" dirty="0"/>
          </a:p>
          <a:p>
            <a:pPr marL="0" indent="0" algn="ctr">
              <a:buNone/>
            </a:pPr>
            <a:r>
              <a:rPr lang="en-US" sz="1300" dirty="0">
                <a:solidFill>
                  <a:srgbClr val="57606A"/>
                </a:solidFill>
                <a:latin typeface="Calibri" pitchFamily="34" charset="0"/>
                <a:ea typeface="Calibri" pitchFamily="34" charset="-122"/>
                <a:cs typeface="Calibri" pitchFamily="34" charset="-120"/>
              </a:rPr>
              <a:t>read_line(): buffer grows with realloc()</a:t>
            </a:r>
            <a:endParaRPr lang="en-US" sz="1500" dirty="0"/>
          </a:p>
        </p:txBody>
      </p:sp>
      <p:sp>
        <p:nvSpPr>
          <p:cNvPr id="9" name="Shape 7"/>
          <p:cNvSpPr/>
          <p:nvPr/>
        </p:nvSpPr>
        <p:spPr>
          <a:xfrm>
            <a:off x="3108960" y="3200400"/>
            <a:ext cx="0" cy="320040"/>
          </a:xfrm>
          <a:prstGeom prst="line">
            <a:avLst/>
          </a:prstGeom>
          <a:noFill/>
          <a:ln w="22225">
            <a:solidFill>
              <a:srgbClr val="57606A"/>
            </a:solidFill>
            <a:prstDash val="solid"/>
            <a:tailEnd type="triangle"/>
          </a:ln>
        </p:spPr>
        <p:txBody>
          <a:bodyPr/>
          <a:lstStyle/>
          <a:p>
            <a:endParaRPr lang="en-IN"/>
          </a:p>
        </p:txBody>
      </p:sp>
      <p:sp>
        <p:nvSpPr>
          <p:cNvPr id="10" name="Shape 8"/>
          <p:cNvSpPr/>
          <p:nvPr/>
        </p:nvSpPr>
        <p:spPr>
          <a:xfrm>
            <a:off x="1234440" y="3520440"/>
            <a:ext cx="3749040" cy="731520"/>
          </a:xfrm>
          <a:prstGeom prst="roundRect">
            <a:avLst>
              <a:gd name="adj" fmla="val 10000"/>
            </a:avLst>
          </a:prstGeom>
          <a:solidFill>
            <a:srgbClr val="F6F8FA"/>
          </a:solidFill>
          <a:ln w="12700">
            <a:solidFill>
              <a:srgbClr val="D0D7DE"/>
            </a:solidFill>
            <a:prstDash val="solid"/>
          </a:ln>
        </p:spPr>
        <p:txBody>
          <a:bodyPr/>
          <a:lstStyle/>
          <a:p>
            <a:endParaRPr lang="en-IN"/>
          </a:p>
        </p:txBody>
      </p:sp>
      <p:sp>
        <p:nvSpPr>
          <p:cNvPr id="11" name="Text 9"/>
          <p:cNvSpPr txBox="1"/>
          <p:nvPr/>
        </p:nvSpPr>
        <p:spPr>
          <a:xfrm>
            <a:off x="1234440" y="3520440"/>
            <a:ext cx="3749040" cy="731520"/>
          </a:xfrm>
          <a:prstGeom prst="rect">
            <a:avLst/>
          </a:prstGeom>
          <a:noFill/>
          <a:ln/>
        </p:spPr>
        <p:txBody>
          <a:bodyPr wrap="square" lIns="635" tIns="635" rIns="635" bIns="635" rtlCol="0" anchor="ctr"/>
          <a:lstStyle/>
          <a:p>
            <a:pPr marL="0" indent="0" algn="ctr">
              <a:buNone/>
            </a:pPr>
            <a:r>
              <a:rPr lang="en-US" sz="1500" b="1" dirty="0">
                <a:solidFill>
                  <a:srgbClr val="1A7F37"/>
                </a:solidFill>
                <a:latin typeface="Courier New" pitchFamily="34" charset="0"/>
                <a:ea typeface="Courier New" pitchFamily="34" charset="-122"/>
                <a:cs typeface="Courier New" pitchFamily="34" charset="-120"/>
              </a:rPr>
              <a:t>parser.c</a:t>
            </a:r>
            <a:endParaRPr lang="en-US" sz="1500" dirty="0"/>
          </a:p>
          <a:p>
            <a:pPr marL="0" indent="0" algn="ctr">
              <a:buNone/>
            </a:pPr>
            <a:r>
              <a:rPr lang="en-US" sz="1300" dirty="0">
                <a:solidFill>
                  <a:srgbClr val="57606A"/>
                </a:solidFill>
                <a:latin typeface="Calibri" pitchFamily="34" charset="0"/>
                <a:ea typeface="Calibri" pitchFamily="34" charset="-122"/>
                <a:cs typeface="Calibri" pitchFamily="34" charset="-120"/>
              </a:rPr>
              <a:t>strtok() → NULL-terminated argv[]</a:t>
            </a:r>
            <a:endParaRPr lang="en-US" sz="1500" dirty="0"/>
          </a:p>
        </p:txBody>
      </p:sp>
      <p:sp>
        <p:nvSpPr>
          <p:cNvPr id="12" name="Shape 10"/>
          <p:cNvSpPr/>
          <p:nvPr/>
        </p:nvSpPr>
        <p:spPr>
          <a:xfrm flipH="1">
            <a:off x="1828800" y="4251960"/>
            <a:ext cx="1280160" cy="365760"/>
          </a:xfrm>
          <a:prstGeom prst="line">
            <a:avLst/>
          </a:prstGeom>
          <a:noFill/>
          <a:ln w="22225">
            <a:solidFill>
              <a:srgbClr val="57606A"/>
            </a:solidFill>
            <a:prstDash val="solid"/>
            <a:tailEnd type="triangle"/>
          </a:ln>
        </p:spPr>
        <p:txBody>
          <a:bodyPr/>
          <a:lstStyle/>
          <a:p>
            <a:endParaRPr lang="en-IN"/>
          </a:p>
        </p:txBody>
      </p:sp>
      <p:sp>
        <p:nvSpPr>
          <p:cNvPr id="13" name="Shape 11"/>
          <p:cNvSpPr/>
          <p:nvPr/>
        </p:nvSpPr>
        <p:spPr>
          <a:xfrm>
            <a:off x="3108960" y="4251960"/>
            <a:ext cx="1280160" cy="365760"/>
          </a:xfrm>
          <a:prstGeom prst="line">
            <a:avLst/>
          </a:prstGeom>
          <a:noFill/>
          <a:ln w="22225">
            <a:solidFill>
              <a:srgbClr val="57606A"/>
            </a:solidFill>
            <a:prstDash val="solid"/>
            <a:tailEnd type="triangle"/>
          </a:ln>
        </p:spPr>
        <p:txBody>
          <a:bodyPr/>
          <a:lstStyle/>
          <a:p>
            <a:endParaRPr lang="en-IN"/>
          </a:p>
        </p:txBody>
      </p:sp>
      <p:sp>
        <p:nvSpPr>
          <p:cNvPr id="14" name="Shape 12"/>
          <p:cNvSpPr/>
          <p:nvPr/>
        </p:nvSpPr>
        <p:spPr>
          <a:xfrm>
            <a:off x="548640" y="4617720"/>
            <a:ext cx="251460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15" name="Text 13"/>
          <p:cNvSpPr txBox="1"/>
          <p:nvPr/>
        </p:nvSpPr>
        <p:spPr>
          <a:xfrm>
            <a:off x="548640" y="4617720"/>
            <a:ext cx="2514600" cy="960120"/>
          </a:xfrm>
          <a:prstGeom prst="rect">
            <a:avLst/>
          </a:prstGeom>
          <a:noFill/>
          <a:ln/>
        </p:spPr>
        <p:txBody>
          <a:bodyPr wrap="square" lIns="635" tIns="635" rIns="635" bIns="635" rtlCol="0" anchor="ctr"/>
          <a:lstStyle/>
          <a:p>
            <a:pPr marL="0" indent="0" algn="ctr">
              <a:buNone/>
            </a:pPr>
            <a:r>
              <a:rPr lang="en-US" sz="1500" b="1" dirty="0">
                <a:solidFill>
                  <a:srgbClr val="1A7F37"/>
                </a:solidFill>
                <a:latin typeface="Courier New" pitchFamily="34" charset="0"/>
                <a:ea typeface="Courier New" pitchFamily="34" charset="-122"/>
                <a:cs typeface="Courier New" pitchFamily="34" charset="-120"/>
              </a:rPr>
              <a:t>builtin.c</a:t>
            </a:r>
            <a:endParaRPr lang="en-US" sz="1500" dirty="0"/>
          </a:p>
          <a:p>
            <a:pPr marL="0" indent="0" algn="ctr">
              <a:buNone/>
            </a:pPr>
            <a:r>
              <a:rPr lang="en-US" sz="1300" dirty="0">
                <a:solidFill>
                  <a:srgbClr val="57606A"/>
                </a:solidFill>
                <a:latin typeface="Calibri" pitchFamily="34" charset="0"/>
                <a:ea typeface="Calibri" pitchFamily="34" charset="-122"/>
                <a:cs typeface="Calibri" pitchFamily="34" charset="-120"/>
              </a:rPr>
              <a:t>cd pwd env clear help exit (in the shell)</a:t>
            </a:r>
            <a:endParaRPr lang="en-US" sz="1500" dirty="0"/>
          </a:p>
        </p:txBody>
      </p:sp>
      <p:sp>
        <p:nvSpPr>
          <p:cNvPr id="16" name="Shape 14"/>
          <p:cNvSpPr/>
          <p:nvPr/>
        </p:nvSpPr>
        <p:spPr>
          <a:xfrm>
            <a:off x="3154680" y="4617720"/>
            <a:ext cx="251460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17" name="Text 15"/>
          <p:cNvSpPr txBox="1"/>
          <p:nvPr/>
        </p:nvSpPr>
        <p:spPr>
          <a:xfrm>
            <a:off x="3154680" y="4617720"/>
            <a:ext cx="2514600" cy="960120"/>
          </a:xfrm>
          <a:prstGeom prst="rect">
            <a:avLst/>
          </a:prstGeom>
          <a:noFill/>
          <a:ln/>
        </p:spPr>
        <p:txBody>
          <a:bodyPr wrap="square" lIns="635" tIns="635" rIns="635" bIns="635" rtlCol="0" anchor="ctr"/>
          <a:lstStyle/>
          <a:p>
            <a:pPr marL="0" indent="0" algn="ctr">
              <a:buNone/>
            </a:pPr>
            <a:r>
              <a:rPr lang="en-US" sz="1500" b="1" dirty="0">
                <a:solidFill>
                  <a:srgbClr val="1A7F37"/>
                </a:solidFill>
                <a:latin typeface="Courier New" pitchFamily="34" charset="0"/>
                <a:ea typeface="Courier New" pitchFamily="34" charset="-122"/>
                <a:cs typeface="Courier New" pitchFamily="34" charset="-120"/>
              </a:rPr>
              <a:t>executor.c</a:t>
            </a:r>
            <a:endParaRPr lang="en-US" sz="1500" dirty="0"/>
          </a:p>
          <a:p>
            <a:pPr marL="0" indent="0" algn="ctr">
              <a:buNone/>
            </a:pPr>
            <a:r>
              <a:rPr lang="en-US" sz="1300" dirty="0">
                <a:solidFill>
                  <a:srgbClr val="57606A"/>
                </a:solidFill>
                <a:latin typeface="Calibri" pitchFamily="34" charset="0"/>
                <a:ea typeface="Calibri" pitchFamily="34" charset="-122"/>
                <a:cs typeface="Calibri" pitchFamily="34" charset="-120"/>
              </a:rPr>
              <a:t>fork execvp waitpid pipe dup2 (in a child)</a:t>
            </a:r>
            <a:endParaRPr lang="en-US" sz="1500" dirty="0"/>
          </a:p>
        </p:txBody>
      </p:sp>
      <p:pic>
        <p:nvPicPr>
          <p:cNvPr id="18" name="Image 0" descr="wc -l output listing the ShellForge headers, sources, Makefile and test scripts"/>
          <p:cNvPicPr>
            <a:picLocks noChangeAspect="1"/>
          </p:cNvPicPr>
          <p:nvPr/>
        </p:nvPicPr>
        <p:blipFill>
          <a:blip r:embed="rId3"/>
          <a:stretch>
            <a:fillRect/>
          </a:stretch>
        </p:blipFill>
        <p:spPr>
          <a:xfrm>
            <a:off x="6614562" y="1371600"/>
            <a:ext cx="4555956" cy="3383280"/>
          </a:xfrm>
          <a:prstGeom prst="rect">
            <a:avLst/>
          </a:prstGeom>
        </p:spPr>
      </p:pic>
      <p:sp>
        <p:nvSpPr>
          <p:cNvPr id="19" name="Text 16"/>
          <p:cNvSpPr txBox="1"/>
          <p:nvPr/>
        </p:nvSpPr>
        <p:spPr>
          <a:xfrm>
            <a:off x="6309360" y="4983480"/>
            <a:ext cx="530352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Headers in include/, sources in src/, test scripts in tests/</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Weeks 1–5 each added one module; Week 6 extended the parser and executor</a:t>
            </a:r>
            <a:endParaRPr lang="en-US" sz="1400" dirty="0"/>
          </a:p>
          <a:p>
            <a:pPr marL="342900" indent="-342900">
              <a:spcAft>
                <a:spcPts val="800"/>
              </a:spcAft>
              <a:buSzPct val="100000"/>
              <a:buChar char="•"/>
            </a:pPr>
            <a:r>
              <a:rPr lang="en-US" sz="1400" dirty="0">
                <a:solidFill>
                  <a:srgbClr val="1F2328"/>
                </a:solidFill>
                <a:latin typeface="Calibri" pitchFamily="34" charset="0"/>
                <a:ea typeface="Calibri" pitchFamily="34" charset="-122"/>
                <a:cs typeface="Calibri" pitchFamily="34" charset="-120"/>
              </a:rPr>
              <a:t>1,222 lines in total, including 453 lines of test scripts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TOOLING</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Builds clean with gcc -Wall -Wextra</a:t>
            </a:r>
            <a:endParaRPr lang="en-US" sz="3200" dirty="0"/>
          </a:p>
        </p:txBody>
      </p:sp>
      <p:pic>
        <p:nvPicPr>
          <p:cNvPr id="4" name="Image 0" descr="make output compiling five source files with gcc -Wall -Wextra and linking bin/shellforge"/>
          <p:cNvPicPr>
            <a:picLocks noChangeAspect="1"/>
          </p:cNvPicPr>
          <p:nvPr/>
        </p:nvPicPr>
        <p:blipFill>
          <a:blip r:embed="rId3"/>
          <a:stretch>
            <a:fillRect/>
          </a:stretch>
        </p:blipFill>
        <p:spPr>
          <a:xfrm>
            <a:off x="993594" y="1325880"/>
            <a:ext cx="10174333" cy="3063240"/>
          </a:xfrm>
          <a:prstGeom prst="rect">
            <a:avLst/>
          </a:prstGeom>
        </p:spPr>
      </p:pic>
      <p:sp>
        <p:nvSpPr>
          <p:cNvPr id="5" name="Shape 2"/>
          <p:cNvSpPr/>
          <p:nvPr/>
        </p:nvSpPr>
        <p:spPr>
          <a:xfrm>
            <a:off x="548640" y="4709160"/>
            <a:ext cx="3566160" cy="1508760"/>
          </a:xfrm>
          <a:prstGeom prst="roundRect">
            <a:avLst>
              <a:gd name="adj" fmla="val 6061"/>
            </a:avLst>
          </a:prstGeom>
          <a:solidFill>
            <a:srgbClr val="F6F8FA"/>
          </a:solidFill>
          <a:ln w="12700">
            <a:solidFill>
              <a:srgbClr val="F6F8FA"/>
            </a:solidFill>
            <a:prstDash val="solid"/>
          </a:ln>
        </p:spPr>
        <p:txBody>
          <a:bodyPr/>
          <a:lstStyle/>
          <a:p>
            <a:endParaRPr lang="en-IN"/>
          </a:p>
        </p:txBody>
      </p:sp>
      <p:sp>
        <p:nvSpPr>
          <p:cNvPr id="6" name="Text 3"/>
          <p:cNvSpPr txBox="1"/>
          <p:nvPr/>
        </p:nvSpPr>
        <p:spPr>
          <a:xfrm>
            <a:off x="777240" y="4846320"/>
            <a:ext cx="3108960" cy="365760"/>
          </a:xfrm>
          <a:prstGeom prst="rect">
            <a:avLst/>
          </a:prstGeom>
          <a:noFill/>
          <a:ln/>
        </p:spPr>
        <p:txBody>
          <a:bodyPr wrap="square" lIns="0" tIns="0" rIns="0" bIns="0" rtlCol="0" anchor="ctr"/>
          <a:lstStyle/>
          <a:p>
            <a:pPr marL="0" indent="0">
              <a:buNone/>
            </a:pPr>
            <a:r>
              <a:rPr lang="en-US" sz="1700" b="1" dirty="0">
                <a:solidFill>
                  <a:srgbClr val="1F2328"/>
                </a:solidFill>
                <a:latin typeface="Calibri" pitchFamily="34" charset="0"/>
                <a:ea typeface="Calibri" pitchFamily="34" charset="-122"/>
                <a:cs typeface="Calibri" pitchFamily="34" charset="-120"/>
              </a:rPr>
              <a:t>Makefile</a:t>
            </a:r>
            <a:endParaRPr lang="en-US" sz="1700" dirty="0"/>
          </a:p>
        </p:txBody>
      </p:sp>
      <p:sp>
        <p:nvSpPr>
          <p:cNvPr id="7" name="Text 4"/>
          <p:cNvSpPr txBox="1"/>
          <p:nvPr/>
        </p:nvSpPr>
        <p:spPr>
          <a:xfrm>
            <a:off x="777240" y="5257800"/>
            <a:ext cx="3108960" cy="822960"/>
          </a:xfrm>
          <a:prstGeom prst="rect">
            <a:avLst/>
          </a:prstGeom>
          <a:noFill/>
          <a:ln/>
        </p:spPr>
        <p:txBody>
          <a:bodyPr wrap="square" lIns="0" tIns="0" rIns="0" bIns="0" rtlCol="0" anchor="t"/>
          <a:lstStyle/>
          <a:p>
            <a:pPr marL="0" indent="0">
              <a:buNone/>
            </a:pPr>
            <a:r>
              <a:rPr lang="en-US" sz="1400" dirty="0">
                <a:solidFill>
                  <a:srgbClr val="57606A"/>
                </a:solidFill>
                <a:latin typeface="Calibri" pitchFamily="34" charset="0"/>
                <a:ea typeface="Calibri" pitchFamily="34" charset="-122"/>
                <a:cs typeface="Calibri" pitchFamily="34" charset="-120"/>
              </a:rPr>
              <a:t>make · make run · make test · make clean</a:t>
            </a:r>
            <a:endParaRPr lang="en-US" sz="1400" dirty="0"/>
          </a:p>
        </p:txBody>
      </p:sp>
      <p:sp>
        <p:nvSpPr>
          <p:cNvPr id="8" name="Shape 5"/>
          <p:cNvSpPr/>
          <p:nvPr/>
        </p:nvSpPr>
        <p:spPr>
          <a:xfrm>
            <a:off x="4297680" y="4709160"/>
            <a:ext cx="3566160" cy="1508760"/>
          </a:xfrm>
          <a:prstGeom prst="roundRect">
            <a:avLst>
              <a:gd name="adj" fmla="val 6061"/>
            </a:avLst>
          </a:prstGeom>
          <a:solidFill>
            <a:srgbClr val="F6F8FA"/>
          </a:solidFill>
          <a:ln w="12700">
            <a:solidFill>
              <a:srgbClr val="F6F8FA"/>
            </a:solidFill>
            <a:prstDash val="solid"/>
          </a:ln>
        </p:spPr>
        <p:txBody>
          <a:bodyPr/>
          <a:lstStyle/>
          <a:p>
            <a:endParaRPr lang="en-IN"/>
          </a:p>
        </p:txBody>
      </p:sp>
      <p:sp>
        <p:nvSpPr>
          <p:cNvPr id="9" name="Text 6"/>
          <p:cNvSpPr txBox="1"/>
          <p:nvPr/>
        </p:nvSpPr>
        <p:spPr>
          <a:xfrm>
            <a:off x="4526280" y="4846320"/>
            <a:ext cx="3108960" cy="365760"/>
          </a:xfrm>
          <a:prstGeom prst="rect">
            <a:avLst/>
          </a:prstGeom>
          <a:noFill/>
          <a:ln/>
        </p:spPr>
        <p:txBody>
          <a:bodyPr wrap="square" lIns="0" tIns="0" rIns="0" bIns="0" rtlCol="0" anchor="ctr"/>
          <a:lstStyle/>
          <a:p>
            <a:pPr marL="0" indent="0">
              <a:buNone/>
            </a:pPr>
            <a:r>
              <a:rPr lang="en-US" sz="1700" b="1" dirty="0">
                <a:solidFill>
                  <a:srgbClr val="1F2328"/>
                </a:solidFill>
                <a:latin typeface="Calibri" pitchFamily="34" charset="0"/>
                <a:ea typeface="Calibri" pitchFamily="34" charset="-122"/>
                <a:cs typeface="Calibri" pitchFamily="34" charset="-120"/>
              </a:rPr>
              <a:t>Compiler flags</a:t>
            </a:r>
            <a:endParaRPr lang="en-US" sz="1700" dirty="0"/>
          </a:p>
        </p:txBody>
      </p:sp>
      <p:sp>
        <p:nvSpPr>
          <p:cNvPr id="10" name="Text 7"/>
          <p:cNvSpPr txBox="1"/>
          <p:nvPr/>
        </p:nvSpPr>
        <p:spPr>
          <a:xfrm>
            <a:off x="4526280" y="5257800"/>
            <a:ext cx="3108960" cy="822960"/>
          </a:xfrm>
          <a:prstGeom prst="rect">
            <a:avLst/>
          </a:prstGeom>
          <a:noFill/>
          <a:ln/>
        </p:spPr>
        <p:txBody>
          <a:bodyPr wrap="square" lIns="0" tIns="0" rIns="0" bIns="0" rtlCol="0" anchor="t"/>
          <a:lstStyle/>
          <a:p>
            <a:pPr marL="0" indent="0">
              <a:buNone/>
            </a:pPr>
            <a:r>
              <a:rPr lang="en-US" sz="1400" dirty="0">
                <a:solidFill>
                  <a:srgbClr val="57606A"/>
                </a:solidFill>
                <a:latin typeface="Calibri" pitchFamily="34" charset="0"/>
                <a:ea typeface="Calibri" pitchFamily="34" charset="-122"/>
                <a:cs typeface="Calibri" pitchFamily="34" charset="-120"/>
              </a:rPr>
              <a:t>-Wall -Wextra -g for every build; the tests also build with AddressSanitizer and UBSan</a:t>
            </a:r>
            <a:endParaRPr lang="en-US" sz="1400" dirty="0"/>
          </a:p>
        </p:txBody>
      </p:sp>
      <p:sp>
        <p:nvSpPr>
          <p:cNvPr id="11" name="Shape 8"/>
          <p:cNvSpPr/>
          <p:nvPr/>
        </p:nvSpPr>
        <p:spPr>
          <a:xfrm>
            <a:off x="8046720" y="4709160"/>
            <a:ext cx="3566160" cy="1508760"/>
          </a:xfrm>
          <a:prstGeom prst="roundRect">
            <a:avLst>
              <a:gd name="adj" fmla="val 6061"/>
            </a:avLst>
          </a:prstGeom>
          <a:solidFill>
            <a:srgbClr val="F6F8FA"/>
          </a:solidFill>
          <a:ln w="12700">
            <a:solidFill>
              <a:srgbClr val="F6F8FA"/>
            </a:solidFill>
            <a:prstDash val="solid"/>
          </a:ln>
        </p:spPr>
        <p:txBody>
          <a:bodyPr/>
          <a:lstStyle/>
          <a:p>
            <a:endParaRPr lang="en-IN"/>
          </a:p>
        </p:txBody>
      </p:sp>
      <p:sp>
        <p:nvSpPr>
          <p:cNvPr id="12" name="Text 9"/>
          <p:cNvSpPr txBox="1"/>
          <p:nvPr/>
        </p:nvSpPr>
        <p:spPr>
          <a:xfrm>
            <a:off x="8275320" y="4846320"/>
            <a:ext cx="3108960" cy="365760"/>
          </a:xfrm>
          <a:prstGeom prst="rect">
            <a:avLst/>
          </a:prstGeom>
          <a:noFill/>
          <a:ln/>
        </p:spPr>
        <p:txBody>
          <a:bodyPr wrap="square" lIns="0" tIns="0" rIns="0" bIns="0" rtlCol="0" anchor="ctr"/>
          <a:lstStyle/>
          <a:p>
            <a:pPr marL="0" indent="0">
              <a:buNone/>
            </a:pPr>
            <a:r>
              <a:rPr lang="en-US" sz="1700" b="1" dirty="0">
                <a:solidFill>
                  <a:srgbClr val="1F2328"/>
                </a:solidFill>
                <a:latin typeface="Calibri" pitchFamily="34" charset="0"/>
                <a:ea typeface="Calibri" pitchFamily="34" charset="-122"/>
                <a:cs typeface="Calibri" pitchFamily="34" charset="-120"/>
              </a:rPr>
              <a:t>Where it runs</a:t>
            </a:r>
            <a:endParaRPr lang="en-US" sz="1700" dirty="0"/>
          </a:p>
        </p:txBody>
      </p:sp>
      <p:sp>
        <p:nvSpPr>
          <p:cNvPr id="13" name="Text 10"/>
          <p:cNvSpPr txBox="1"/>
          <p:nvPr/>
        </p:nvSpPr>
        <p:spPr>
          <a:xfrm>
            <a:off x="8275320" y="5257800"/>
            <a:ext cx="3108960" cy="822960"/>
          </a:xfrm>
          <a:prstGeom prst="rect">
            <a:avLst/>
          </a:prstGeom>
          <a:noFill/>
          <a:ln/>
        </p:spPr>
        <p:txBody>
          <a:bodyPr wrap="square" lIns="0" tIns="0" rIns="0" bIns="0" rtlCol="0" anchor="t"/>
          <a:lstStyle/>
          <a:p>
            <a:pPr marL="0" indent="0">
              <a:buNone/>
            </a:pPr>
            <a:r>
              <a:rPr lang="en-US" sz="1400" dirty="0">
                <a:solidFill>
                  <a:srgbClr val="57606A"/>
                </a:solidFill>
                <a:latin typeface="Calibri" pitchFamily="34" charset="0"/>
                <a:ea typeface="Calibri" pitchFamily="34" charset="-122"/>
                <a:cs typeface="Calibri" pitchFamily="34" charset="-120"/>
              </a:rPr>
              <a:t>Docker gcc:13 (Debian 12), because this Windows PC has no C compiler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WEEKS 1–3 · CO-1</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Read a line, split it, hand it on</a:t>
            </a:r>
            <a:endParaRPr lang="en-US" sz="3200" dirty="0"/>
          </a:p>
        </p:txBody>
      </p:sp>
      <p:pic>
        <p:nvPicPr>
          <p:cNvPr id="4" name="Image 0" descr="ShellForge with --debug-tokens showing argv for ls -l /home, with normal and irregular spacing"/>
          <p:cNvPicPr>
            <a:picLocks noChangeAspect="1"/>
          </p:cNvPicPr>
          <p:nvPr/>
        </p:nvPicPr>
        <p:blipFill>
          <a:blip r:embed="rId3"/>
          <a:stretch>
            <a:fillRect/>
          </a:stretch>
        </p:blipFill>
        <p:spPr>
          <a:xfrm>
            <a:off x="548640" y="1325880"/>
            <a:ext cx="5059551" cy="4572000"/>
          </a:xfrm>
          <a:prstGeom prst="rect">
            <a:avLst/>
          </a:prstGeom>
        </p:spPr>
      </p:pic>
      <p:sp>
        <p:nvSpPr>
          <p:cNvPr id="5" name="Text 2"/>
          <p:cNvSpPr txBox="1"/>
          <p:nvPr/>
        </p:nvSpPr>
        <p:spPr>
          <a:xfrm>
            <a:off x="548640" y="5989320"/>
            <a:ext cx="5059551" cy="274320"/>
          </a:xfrm>
          <a:prstGeom prst="rect">
            <a:avLst/>
          </a:prstGeom>
          <a:noFill/>
          <a:ln/>
        </p:spPr>
        <p:txBody>
          <a:bodyPr wrap="square" lIns="0" tIns="0" rIns="0" bIns="0" rtlCol="0" anchor="ctr"/>
          <a:lstStyle/>
          <a:p>
            <a:pPr marL="0" indent="0">
              <a:buNone/>
            </a:pPr>
            <a:r>
              <a:rPr lang="en-US" sz="1200" i="1" dirty="0">
                <a:solidFill>
                  <a:srgbClr val="57606A"/>
                </a:solidFill>
                <a:latin typeface="Calibri" pitchFamily="34" charset="0"/>
                <a:ea typeface="Calibri" pitchFamily="34" charset="-122"/>
                <a:cs typeface="Calibri" pitchFamily="34" charset="-120"/>
              </a:rPr>
              <a:t>--debug-tokens prints argv[]; extra spaces collapse to the same three tokens.</a:t>
            </a:r>
            <a:endParaRPr lang="en-US" sz="1200" dirty="0"/>
          </a:p>
        </p:txBody>
      </p:sp>
      <p:sp>
        <p:nvSpPr>
          <p:cNvPr id="6" name="Text 3"/>
          <p:cNvSpPr txBox="1"/>
          <p:nvPr/>
        </p:nvSpPr>
        <p:spPr>
          <a:xfrm>
            <a:off x="6309360" y="1371600"/>
            <a:ext cx="47244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W1</a:t>
            </a:r>
            <a:endParaRPr lang="en-US" sz="1300" dirty="0"/>
          </a:p>
        </p:txBody>
      </p:sp>
      <p:sp>
        <p:nvSpPr>
          <p:cNvPr id="7" name="Text 4"/>
          <p:cNvSpPr txBox="1"/>
          <p:nvPr/>
        </p:nvSpPr>
        <p:spPr>
          <a:xfrm>
            <a:off x="7040880" y="1371600"/>
            <a:ext cx="4572000" cy="347472"/>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REPL loop</a:t>
            </a:r>
            <a:endParaRPr lang="en-US" sz="1900" dirty="0"/>
          </a:p>
        </p:txBody>
      </p:sp>
      <p:sp>
        <p:nvSpPr>
          <p:cNvPr id="8" name="Text 5"/>
          <p:cNvSpPr txBox="1"/>
          <p:nvPr/>
        </p:nvSpPr>
        <p:spPr>
          <a:xfrm>
            <a:off x="7040880" y="1828800"/>
            <a:ext cx="4572000" cy="91440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Banner, myshell&gt; prompt, exit; Ctrl+D (end of input) exits cleanly. Modular Makefile build.</a:t>
            </a:r>
            <a:endParaRPr lang="en-US" sz="1500" dirty="0"/>
          </a:p>
        </p:txBody>
      </p:sp>
      <p:sp>
        <p:nvSpPr>
          <p:cNvPr id="9" name="Text 6"/>
          <p:cNvSpPr txBox="1"/>
          <p:nvPr/>
        </p:nvSpPr>
        <p:spPr>
          <a:xfrm>
            <a:off x="6309360" y="2926080"/>
            <a:ext cx="47244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W2</a:t>
            </a:r>
            <a:endParaRPr lang="en-US" sz="1300" dirty="0"/>
          </a:p>
        </p:txBody>
      </p:sp>
      <p:sp>
        <p:nvSpPr>
          <p:cNvPr id="10" name="Text 7"/>
          <p:cNvSpPr txBox="1"/>
          <p:nvPr/>
        </p:nvSpPr>
        <p:spPr>
          <a:xfrm>
            <a:off x="7040880" y="2926080"/>
            <a:ext cx="4572000" cy="347472"/>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Input of any length</a:t>
            </a:r>
            <a:endParaRPr lang="en-US" sz="1900" dirty="0"/>
          </a:p>
        </p:txBody>
      </p:sp>
      <p:sp>
        <p:nvSpPr>
          <p:cNvPr id="11" name="Text 8"/>
          <p:cNvSpPr txBox="1"/>
          <p:nvPr/>
        </p:nvSpPr>
        <p:spPr>
          <a:xfrm>
            <a:off x="7040880" y="3383280"/>
            <a:ext cx="4572000" cy="91440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read_line() starts small and grows with realloc(); a 3,000-character line arrives intact.</a:t>
            </a:r>
            <a:endParaRPr lang="en-US" sz="1500" dirty="0"/>
          </a:p>
        </p:txBody>
      </p:sp>
      <p:sp>
        <p:nvSpPr>
          <p:cNvPr id="12" name="Text 9"/>
          <p:cNvSpPr txBox="1"/>
          <p:nvPr/>
        </p:nvSpPr>
        <p:spPr>
          <a:xfrm>
            <a:off x="6309360" y="4480560"/>
            <a:ext cx="47244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W3</a:t>
            </a:r>
            <a:endParaRPr lang="en-US" sz="1300" dirty="0"/>
          </a:p>
        </p:txBody>
      </p:sp>
      <p:sp>
        <p:nvSpPr>
          <p:cNvPr id="13" name="Text 10"/>
          <p:cNvSpPr txBox="1"/>
          <p:nvPr/>
        </p:nvSpPr>
        <p:spPr>
          <a:xfrm>
            <a:off x="7040880" y="4480560"/>
            <a:ext cx="4572000" cy="347472"/>
          </a:xfrm>
          <a:prstGeom prst="rect">
            <a:avLst/>
          </a:prstGeom>
          <a:noFill/>
          <a:ln/>
        </p:spPr>
        <p:txBody>
          <a:bodyPr wrap="square" lIns="0" tIns="0" rIns="0" bIns="0" rtlCol="0" anchor="ctr"/>
          <a:lstStyle/>
          <a:p>
            <a:pPr marL="0" indent="0">
              <a:buNone/>
            </a:pPr>
            <a:r>
              <a:rPr lang="en-US" sz="1900" b="1" dirty="0">
                <a:solidFill>
                  <a:srgbClr val="1F2328"/>
                </a:solidFill>
                <a:latin typeface="Calibri" pitchFamily="34" charset="0"/>
                <a:ea typeface="Calibri" pitchFamily="34" charset="-122"/>
                <a:cs typeface="Calibri" pitchFamily="34" charset="-120"/>
              </a:rPr>
              <a:t>Tokenizer</a:t>
            </a:r>
            <a:endParaRPr lang="en-US" sz="1900" dirty="0"/>
          </a:p>
        </p:txBody>
      </p:sp>
      <p:sp>
        <p:nvSpPr>
          <p:cNvPr id="14" name="Text 11"/>
          <p:cNvSpPr txBox="1"/>
          <p:nvPr/>
        </p:nvSpPr>
        <p:spPr>
          <a:xfrm>
            <a:off x="7040880" y="4937760"/>
            <a:ext cx="4572000" cy="91440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strtok() over spaces and tabs; argv[] grows 64 → 128 → 256 and ends with NULL, the shape execvp() needs.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 2 · CO-4 FOUNDATION</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Long input, no memory errors</a:t>
            </a:r>
            <a:endParaRPr lang="en-US" sz="3200" dirty="0"/>
          </a:p>
        </p:txBody>
      </p:sp>
      <p:pic>
        <p:nvPicPr>
          <p:cNvPr id="4" name="Image 0" descr="A 3,000-character command line run through ShellForge built with AddressSanitizer and UBSan; wc -c prints 3001 and the exit status is 0"/>
          <p:cNvPicPr>
            <a:picLocks noChangeAspect="1"/>
          </p:cNvPicPr>
          <p:nvPr/>
        </p:nvPicPr>
        <p:blipFill>
          <a:blip r:embed="rId3"/>
          <a:stretch>
            <a:fillRect/>
          </a:stretch>
        </p:blipFill>
        <p:spPr>
          <a:xfrm>
            <a:off x="1521443" y="1325880"/>
            <a:ext cx="9118633" cy="3429000"/>
          </a:xfrm>
          <a:prstGeom prst="rect">
            <a:avLst/>
          </a:prstGeom>
        </p:spPr>
      </p:pic>
      <p:sp>
        <p:nvSpPr>
          <p:cNvPr id="5" name="Shape 2"/>
          <p:cNvSpPr/>
          <p:nvPr/>
        </p:nvSpPr>
        <p:spPr>
          <a:xfrm>
            <a:off x="548640" y="4983480"/>
            <a:ext cx="3566160" cy="1325880"/>
          </a:xfrm>
          <a:prstGeom prst="roundRect">
            <a:avLst>
              <a:gd name="adj" fmla="val 6897"/>
            </a:avLst>
          </a:prstGeom>
          <a:solidFill>
            <a:srgbClr val="F6F8FA"/>
          </a:solidFill>
          <a:ln w="12700">
            <a:solidFill>
              <a:srgbClr val="F6F8FA"/>
            </a:solidFill>
            <a:prstDash val="solid"/>
          </a:ln>
        </p:spPr>
        <p:txBody>
          <a:bodyPr/>
          <a:lstStyle/>
          <a:p>
            <a:endParaRPr lang="en-IN"/>
          </a:p>
        </p:txBody>
      </p:sp>
      <p:sp>
        <p:nvSpPr>
          <p:cNvPr id="6" name="Text 3"/>
          <p:cNvSpPr txBox="1"/>
          <p:nvPr/>
        </p:nvSpPr>
        <p:spPr>
          <a:xfrm>
            <a:off x="777240" y="5120640"/>
            <a:ext cx="3108960" cy="365760"/>
          </a:xfrm>
          <a:prstGeom prst="rect">
            <a:avLst/>
          </a:prstGeom>
          <a:noFill/>
          <a:ln/>
        </p:spPr>
        <p:txBody>
          <a:bodyPr wrap="square" lIns="0" tIns="0" rIns="0" bIns="0" rtlCol="0" anchor="ctr"/>
          <a:lstStyle/>
          <a:p>
            <a:pPr marL="0" indent="0">
              <a:buNone/>
            </a:pPr>
            <a:r>
              <a:rPr lang="en-US" sz="1700" b="1" dirty="0">
                <a:solidFill>
                  <a:srgbClr val="1A7F37"/>
                </a:solidFill>
                <a:latin typeface="Calibri" pitchFamily="34" charset="0"/>
                <a:ea typeface="Calibri" pitchFamily="34" charset="-122"/>
                <a:cs typeface="Calibri" pitchFamily="34" charset="-120"/>
              </a:rPr>
              <a:t>3,000 characters in</a:t>
            </a:r>
            <a:endParaRPr lang="en-US" sz="1700" dirty="0"/>
          </a:p>
        </p:txBody>
      </p:sp>
      <p:sp>
        <p:nvSpPr>
          <p:cNvPr id="7" name="Text 4"/>
          <p:cNvSpPr txBox="1"/>
          <p:nvPr/>
        </p:nvSpPr>
        <p:spPr>
          <a:xfrm>
            <a:off x="777240" y="5532120"/>
            <a:ext cx="3108960" cy="68580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wc -c prints 3001: all 3,000 characters plus the newline</a:t>
            </a:r>
            <a:endParaRPr lang="en-US" sz="1400" dirty="0"/>
          </a:p>
        </p:txBody>
      </p:sp>
      <p:sp>
        <p:nvSpPr>
          <p:cNvPr id="8" name="Shape 5"/>
          <p:cNvSpPr/>
          <p:nvPr/>
        </p:nvSpPr>
        <p:spPr>
          <a:xfrm>
            <a:off x="4297680" y="4983480"/>
            <a:ext cx="3566160" cy="1325880"/>
          </a:xfrm>
          <a:prstGeom prst="roundRect">
            <a:avLst>
              <a:gd name="adj" fmla="val 6897"/>
            </a:avLst>
          </a:prstGeom>
          <a:solidFill>
            <a:srgbClr val="F6F8FA"/>
          </a:solidFill>
          <a:ln w="12700">
            <a:solidFill>
              <a:srgbClr val="F6F8FA"/>
            </a:solidFill>
            <a:prstDash val="solid"/>
          </a:ln>
        </p:spPr>
        <p:txBody>
          <a:bodyPr/>
          <a:lstStyle/>
          <a:p>
            <a:endParaRPr lang="en-IN"/>
          </a:p>
        </p:txBody>
      </p:sp>
      <p:sp>
        <p:nvSpPr>
          <p:cNvPr id="9" name="Text 6"/>
          <p:cNvSpPr txBox="1"/>
          <p:nvPr/>
        </p:nvSpPr>
        <p:spPr>
          <a:xfrm>
            <a:off x="4526280" y="5120640"/>
            <a:ext cx="3108960" cy="365760"/>
          </a:xfrm>
          <a:prstGeom prst="rect">
            <a:avLst/>
          </a:prstGeom>
          <a:noFill/>
          <a:ln/>
        </p:spPr>
        <p:txBody>
          <a:bodyPr wrap="square" lIns="0" tIns="0" rIns="0" bIns="0" rtlCol="0" anchor="ctr"/>
          <a:lstStyle/>
          <a:p>
            <a:pPr marL="0" indent="0">
              <a:buNone/>
            </a:pPr>
            <a:r>
              <a:rPr lang="en-US" sz="1700" b="1" dirty="0">
                <a:solidFill>
                  <a:srgbClr val="1A7F37"/>
                </a:solidFill>
                <a:latin typeface="Calibri" pitchFamily="34" charset="0"/>
                <a:ea typeface="Calibri" pitchFamily="34" charset="-122"/>
                <a:cs typeface="Calibri" pitchFamily="34" charset="-120"/>
              </a:rPr>
              <a:t>The buffer grows</a:t>
            </a:r>
            <a:endParaRPr lang="en-US" sz="1700" dirty="0"/>
          </a:p>
        </p:txBody>
      </p:sp>
      <p:sp>
        <p:nvSpPr>
          <p:cNvPr id="10" name="Text 7"/>
          <p:cNvSpPr txBox="1"/>
          <p:nvPr/>
        </p:nvSpPr>
        <p:spPr>
          <a:xfrm>
            <a:off x="4526280" y="5532120"/>
            <a:ext cx="3108960" cy="68580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malloc() to start, realloc() as the line gets longer, free() at exit</a:t>
            </a:r>
            <a:endParaRPr lang="en-US" sz="1400" dirty="0"/>
          </a:p>
        </p:txBody>
      </p:sp>
      <p:sp>
        <p:nvSpPr>
          <p:cNvPr id="11" name="Shape 8"/>
          <p:cNvSpPr/>
          <p:nvPr/>
        </p:nvSpPr>
        <p:spPr>
          <a:xfrm>
            <a:off x="8046720" y="4983480"/>
            <a:ext cx="3566160" cy="1325880"/>
          </a:xfrm>
          <a:prstGeom prst="roundRect">
            <a:avLst>
              <a:gd name="adj" fmla="val 6897"/>
            </a:avLst>
          </a:prstGeom>
          <a:solidFill>
            <a:srgbClr val="F6F8FA"/>
          </a:solidFill>
          <a:ln w="12700">
            <a:solidFill>
              <a:srgbClr val="F6F8FA"/>
            </a:solidFill>
            <a:prstDash val="solid"/>
          </a:ln>
        </p:spPr>
        <p:txBody>
          <a:bodyPr/>
          <a:lstStyle/>
          <a:p>
            <a:endParaRPr lang="en-IN"/>
          </a:p>
        </p:txBody>
      </p:sp>
      <p:sp>
        <p:nvSpPr>
          <p:cNvPr id="12" name="Text 9"/>
          <p:cNvSpPr txBox="1"/>
          <p:nvPr/>
        </p:nvSpPr>
        <p:spPr>
          <a:xfrm>
            <a:off x="8275320" y="5120640"/>
            <a:ext cx="3108960" cy="365760"/>
          </a:xfrm>
          <a:prstGeom prst="rect">
            <a:avLst/>
          </a:prstGeom>
          <a:noFill/>
          <a:ln/>
        </p:spPr>
        <p:txBody>
          <a:bodyPr wrap="square" lIns="0" tIns="0" rIns="0" bIns="0" rtlCol="0" anchor="ctr"/>
          <a:lstStyle/>
          <a:p>
            <a:pPr marL="0" indent="0">
              <a:buNone/>
            </a:pPr>
            <a:r>
              <a:rPr lang="en-US" sz="1700" b="1" dirty="0">
                <a:solidFill>
                  <a:srgbClr val="1A7F37"/>
                </a:solidFill>
                <a:latin typeface="Calibri" pitchFamily="34" charset="0"/>
                <a:ea typeface="Calibri" pitchFamily="34" charset="-122"/>
                <a:cs typeface="Calibri" pitchFamily="34" charset="-120"/>
              </a:rPr>
              <a:t>0 sanitizer reports</a:t>
            </a:r>
            <a:endParaRPr lang="en-US" sz="1700" dirty="0"/>
          </a:p>
        </p:txBody>
      </p:sp>
      <p:sp>
        <p:nvSpPr>
          <p:cNvPr id="13" name="Text 10"/>
          <p:cNvSpPr txBox="1"/>
          <p:nvPr/>
        </p:nvSpPr>
        <p:spPr>
          <a:xfrm>
            <a:off x="8275320" y="5532120"/>
            <a:ext cx="3108960" cy="685800"/>
          </a:xfrm>
          <a:prstGeom prst="rect">
            <a:avLst/>
          </a:prstGeom>
          <a:noFill/>
          <a:ln/>
        </p:spPr>
        <p:txBody>
          <a:bodyPr wrap="square" lIns="0" tIns="0" rIns="0" bIns="0" rtlCol="0" anchor="t"/>
          <a:lstStyle/>
          <a:p>
            <a:pPr marL="0" indent="0">
              <a:buNone/>
            </a:pPr>
            <a:r>
              <a:rPr lang="en-US" sz="1400" dirty="0">
                <a:solidFill>
                  <a:srgbClr val="1F2328"/>
                </a:solidFill>
                <a:latin typeface="Calibri" pitchFamily="34" charset="0"/>
                <a:ea typeface="Calibri" pitchFamily="34" charset="-122"/>
                <a:cs typeface="Calibri" pitchFamily="34" charset="-120"/>
              </a:rPr>
              <a:t>Built with -fsanitize=address,undefined; exit status 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 4 · CO-2</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Every external command runs in its own process</a:t>
            </a:r>
            <a:endParaRPr lang="en-US" sz="3200" dirty="0"/>
          </a:p>
        </p:txBody>
      </p:sp>
      <p:sp>
        <p:nvSpPr>
          <p:cNvPr id="4" name="Shape 2"/>
          <p:cNvSpPr/>
          <p:nvPr/>
        </p:nvSpPr>
        <p:spPr>
          <a:xfrm>
            <a:off x="548640" y="1371600"/>
            <a:ext cx="1920240" cy="960120"/>
          </a:xfrm>
          <a:prstGeom prst="roundRect">
            <a:avLst>
              <a:gd name="adj" fmla="val 7619"/>
            </a:avLst>
          </a:prstGeom>
          <a:solidFill>
            <a:srgbClr val="0D1117"/>
          </a:solidFill>
          <a:ln w="12700">
            <a:solidFill>
              <a:srgbClr val="0D1117"/>
            </a:solidFill>
            <a:prstDash val="solid"/>
          </a:ln>
        </p:spPr>
        <p:txBody>
          <a:bodyPr/>
          <a:lstStyle/>
          <a:p>
            <a:endParaRPr lang="en-IN"/>
          </a:p>
        </p:txBody>
      </p:sp>
      <p:sp>
        <p:nvSpPr>
          <p:cNvPr id="5" name="Text 3"/>
          <p:cNvSpPr txBox="1"/>
          <p:nvPr/>
        </p:nvSpPr>
        <p:spPr>
          <a:xfrm>
            <a:off x="548640" y="1371600"/>
            <a:ext cx="1920240" cy="960120"/>
          </a:xfrm>
          <a:prstGeom prst="rect">
            <a:avLst/>
          </a:prstGeom>
          <a:noFill/>
          <a:ln/>
        </p:spPr>
        <p:txBody>
          <a:bodyPr wrap="square" lIns="635" tIns="635" rIns="635" bIns="635" rtlCol="0" anchor="ctr"/>
          <a:lstStyle/>
          <a:p>
            <a:pPr marL="0" indent="0" algn="ctr">
              <a:buNone/>
            </a:pPr>
            <a:r>
              <a:rPr lang="en-US" sz="1600" b="1" dirty="0">
                <a:solidFill>
                  <a:srgbClr val="3FB950"/>
                </a:solidFill>
                <a:latin typeface="Courier New" pitchFamily="34" charset="0"/>
                <a:ea typeface="Courier New" pitchFamily="34" charset="-122"/>
                <a:cs typeface="Courier New" pitchFamily="34" charset="-120"/>
              </a:rPr>
              <a:t>Shell</a:t>
            </a:r>
            <a:endParaRPr lang="en-US" sz="1600" dirty="0"/>
          </a:p>
          <a:p>
            <a:pPr marL="0" indent="0" algn="ctr">
              <a:buNone/>
            </a:pPr>
            <a:r>
              <a:rPr lang="en-US" sz="1300" dirty="0">
                <a:solidFill>
                  <a:srgbClr val="C9D1D9"/>
                </a:solidFill>
              </a:rPr>
              <a:t>parent process</a:t>
            </a:r>
            <a:endParaRPr lang="en-US" sz="1600" dirty="0"/>
          </a:p>
        </p:txBody>
      </p:sp>
      <p:sp>
        <p:nvSpPr>
          <p:cNvPr id="6" name="Shape 4"/>
          <p:cNvSpPr/>
          <p:nvPr/>
        </p:nvSpPr>
        <p:spPr>
          <a:xfrm>
            <a:off x="2487168" y="1847088"/>
            <a:ext cx="329184" cy="0"/>
          </a:xfrm>
          <a:prstGeom prst="line">
            <a:avLst/>
          </a:prstGeom>
          <a:noFill/>
          <a:ln w="22225">
            <a:solidFill>
              <a:srgbClr val="57606A"/>
            </a:solidFill>
            <a:prstDash val="solid"/>
            <a:tailEnd type="triangle"/>
          </a:ln>
        </p:spPr>
        <p:txBody>
          <a:bodyPr/>
          <a:lstStyle/>
          <a:p>
            <a:endParaRPr lang="en-IN"/>
          </a:p>
        </p:txBody>
      </p:sp>
      <p:sp>
        <p:nvSpPr>
          <p:cNvPr id="7" name="Shape 5"/>
          <p:cNvSpPr/>
          <p:nvPr/>
        </p:nvSpPr>
        <p:spPr>
          <a:xfrm>
            <a:off x="2834640" y="1371600"/>
            <a:ext cx="19202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8" name="Text 6"/>
          <p:cNvSpPr txBox="1"/>
          <p:nvPr/>
        </p:nvSpPr>
        <p:spPr>
          <a:xfrm>
            <a:off x="2834640" y="1371600"/>
            <a:ext cx="1920240" cy="960120"/>
          </a:xfrm>
          <a:prstGeom prst="rect">
            <a:avLst/>
          </a:prstGeom>
          <a:noFill/>
          <a:ln/>
        </p:spPr>
        <p:txBody>
          <a:bodyPr wrap="square" lIns="635" tIns="635" rIns="635" bIns="635" rtlCol="0" anchor="ctr"/>
          <a:lstStyle/>
          <a:p>
            <a:pPr marL="0" indent="0" algn="ctr">
              <a:buNone/>
            </a:pPr>
            <a:r>
              <a:rPr lang="en-US" sz="1600" b="1" dirty="0">
                <a:solidFill>
                  <a:srgbClr val="1A7F37"/>
                </a:solidFill>
                <a:latin typeface="Courier New" pitchFamily="34" charset="0"/>
                <a:ea typeface="Courier New" pitchFamily="34" charset="-122"/>
                <a:cs typeface="Courier New" pitchFamily="34" charset="-120"/>
              </a:rPr>
              <a:t>fork()</a:t>
            </a:r>
            <a:endParaRPr lang="en-US" sz="1600" dirty="0"/>
          </a:p>
          <a:p>
            <a:pPr marL="0" indent="0" algn="ctr">
              <a:buNone/>
            </a:pPr>
            <a:r>
              <a:rPr lang="en-US" sz="1300" dirty="0">
                <a:solidFill>
                  <a:srgbClr val="57606A"/>
                </a:solidFill>
              </a:rPr>
              <a:t>copies the shell</a:t>
            </a:r>
            <a:endParaRPr lang="en-US" sz="1600" dirty="0"/>
          </a:p>
        </p:txBody>
      </p:sp>
      <p:sp>
        <p:nvSpPr>
          <p:cNvPr id="9" name="Shape 7"/>
          <p:cNvSpPr/>
          <p:nvPr/>
        </p:nvSpPr>
        <p:spPr>
          <a:xfrm>
            <a:off x="4773168" y="1847088"/>
            <a:ext cx="329184" cy="0"/>
          </a:xfrm>
          <a:prstGeom prst="line">
            <a:avLst/>
          </a:prstGeom>
          <a:noFill/>
          <a:ln w="22225">
            <a:solidFill>
              <a:srgbClr val="57606A"/>
            </a:solidFill>
            <a:prstDash val="solid"/>
            <a:tailEnd type="triangle"/>
          </a:ln>
        </p:spPr>
        <p:txBody>
          <a:bodyPr/>
          <a:lstStyle/>
          <a:p>
            <a:endParaRPr lang="en-IN"/>
          </a:p>
        </p:txBody>
      </p:sp>
      <p:sp>
        <p:nvSpPr>
          <p:cNvPr id="10" name="Shape 8"/>
          <p:cNvSpPr/>
          <p:nvPr/>
        </p:nvSpPr>
        <p:spPr>
          <a:xfrm>
            <a:off x="5120640" y="1371600"/>
            <a:ext cx="19202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11" name="Text 9"/>
          <p:cNvSpPr txBox="1"/>
          <p:nvPr/>
        </p:nvSpPr>
        <p:spPr>
          <a:xfrm>
            <a:off x="5120640" y="1371600"/>
            <a:ext cx="1920240" cy="960120"/>
          </a:xfrm>
          <a:prstGeom prst="rect">
            <a:avLst/>
          </a:prstGeom>
          <a:noFill/>
          <a:ln/>
        </p:spPr>
        <p:txBody>
          <a:bodyPr wrap="square" lIns="635" tIns="635" rIns="635" bIns="635" rtlCol="0" anchor="ctr"/>
          <a:lstStyle/>
          <a:p>
            <a:pPr marL="0" indent="0" algn="ctr">
              <a:buNone/>
            </a:pPr>
            <a:r>
              <a:rPr lang="en-US" sz="1600" b="1" dirty="0">
                <a:solidFill>
                  <a:srgbClr val="1A7F37"/>
                </a:solidFill>
                <a:latin typeface="Courier New" pitchFamily="34" charset="0"/>
                <a:ea typeface="Courier New" pitchFamily="34" charset="-122"/>
                <a:cs typeface="Courier New" pitchFamily="34" charset="-120"/>
              </a:rPr>
              <a:t>execvp()</a:t>
            </a:r>
            <a:endParaRPr lang="en-US" sz="1600" dirty="0"/>
          </a:p>
          <a:p>
            <a:pPr marL="0" indent="0" algn="ctr">
              <a:buNone/>
            </a:pPr>
            <a:r>
              <a:rPr lang="en-US" sz="1300" dirty="0">
                <a:solidFill>
                  <a:srgbClr val="57606A"/>
                </a:solidFill>
              </a:rPr>
              <a:t>child becomes ls</a:t>
            </a:r>
            <a:endParaRPr lang="en-US" sz="1600" dirty="0"/>
          </a:p>
        </p:txBody>
      </p:sp>
      <p:sp>
        <p:nvSpPr>
          <p:cNvPr id="12" name="Shape 10"/>
          <p:cNvSpPr/>
          <p:nvPr/>
        </p:nvSpPr>
        <p:spPr>
          <a:xfrm>
            <a:off x="7059168" y="1847088"/>
            <a:ext cx="329184" cy="0"/>
          </a:xfrm>
          <a:prstGeom prst="line">
            <a:avLst/>
          </a:prstGeom>
          <a:noFill/>
          <a:ln w="22225">
            <a:solidFill>
              <a:srgbClr val="57606A"/>
            </a:solidFill>
            <a:prstDash val="solid"/>
            <a:tailEnd type="triangle"/>
          </a:ln>
        </p:spPr>
        <p:txBody>
          <a:bodyPr/>
          <a:lstStyle/>
          <a:p>
            <a:endParaRPr lang="en-IN"/>
          </a:p>
        </p:txBody>
      </p:sp>
      <p:sp>
        <p:nvSpPr>
          <p:cNvPr id="13" name="Shape 11"/>
          <p:cNvSpPr/>
          <p:nvPr/>
        </p:nvSpPr>
        <p:spPr>
          <a:xfrm>
            <a:off x="7406640" y="1371600"/>
            <a:ext cx="19202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14" name="Text 12"/>
          <p:cNvSpPr txBox="1"/>
          <p:nvPr/>
        </p:nvSpPr>
        <p:spPr>
          <a:xfrm>
            <a:off x="7406640" y="1371600"/>
            <a:ext cx="1920240" cy="960120"/>
          </a:xfrm>
          <a:prstGeom prst="rect">
            <a:avLst/>
          </a:prstGeom>
          <a:noFill/>
          <a:ln/>
        </p:spPr>
        <p:txBody>
          <a:bodyPr wrap="square" lIns="635" tIns="635" rIns="635" bIns="635" rtlCol="0" anchor="ctr"/>
          <a:lstStyle/>
          <a:p>
            <a:pPr marL="0" indent="0" algn="ctr">
              <a:buNone/>
            </a:pPr>
            <a:r>
              <a:rPr lang="en-US" sz="1600" b="1" dirty="0">
                <a:solidFill>
                  <a:srgbClr val="1A7F37"/>
                </a:solidFill>
                <a:latin typeface="Courier New" pitchFamily="34" charset="0"/>
                <a:ea typeface="Courier New" pitchFamily="34" charset="-122"/>
                <a:cs typeface="Courier New" pitchFamily="34" charset="-120"/>
              </a:rPr>
              <a:t>exit</a:t>
            </a:r>
            <a:endParaRPr lang="en-US" sz="1600" dirty="0"/>
          </a:p>
          <a:p>
            <a:pPr marL="0" indent="0" algn="ctr">
              <a:buNone/>
            </a:pPr>
            <a:r>
              <a:rPr lang="en-US" sz="1300" dirty="0">
                <a:solidFill>
                  <a:srgbClr val="57606A"/>
                </a:solidFill>
              </a:rPr>
              <a:t>program finishes</a:t>
            </a:r>
            <a:endParaRPr lang="en-US" sz="1600" dirty="0"/>
          </a:p>
        </p:txBody>
      </p:sp>
      <p:sp>
        <p:nvSpPr>
          <p:cNvPr id="15" name="Shape 13"/>
          <p:cNvSpPr/>
          <p:nvPr/>
        </p:nvSpPr>
        <p:spPr>
          <a:xfrm>
            <a:off x="9345168" y="1847088"/>
            <a:ext cx="329184" cy="0"/>
          </a:xfrm>
          <a:prstGeom prst="line">
            <a:avLst/>
          </a:prstGeom>
          <a:noFill/>
          <a:ln w="22225">
            <a:solidFill>
              <a:srgbClr val="57606A"/>
            </a:solidFill>
            <a:prstDash val="solid"/>
            <a:tailEnd type="triangle"/>
          </a:ln>
        </p:spPr>
        <p:txBody>
          <a:bodyPr/>
          <a:lstStyle/>
          <a:p>
            <a:endParaRPr lang="en-IN"/>
          </a:p>
        </p:txBody>
      </p:sp>
      <p:sp>
        <p:nvSpPr>
          <p:cNvPr id="16" name="Shape 14"/>
          <p:cNvSpPr/>
          <p:nvPr/>
        </p:nvSpPr>
        <p:spPr>
          <a:xfrm>
            <a:off x="9692640" y="1371600"/>
            <a:ext cx="19202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17" name="Text 15"/>
          <p:cNvSpPr txBox="1"/>
          <p:nvPr/>
        </p:nvSpPr>
        <p:spPr>
          <a:xfrm>
            <a:off x="9692640" y="1371600"/>
            <a:ext cx="1920240" cy="960120"/>
          </a:xfrm>
          <a:prstGeom prst="rect">
            <a:avLst/>
          </a:prstGeom>
          <a:noFill/>
          <a:ln/>
        </p:spPr>
        <p:txBody>
          <a:bodyPr wrap="square" lIns="635" tIns="635" rIns="635" bIns="635" rtlCol="0" anchor="ctr"/>
          <a:lstStyle/>
          <a:p>
            <a:pPr marL="0" indent="0" algn="ctr">
              <a:buNone/>
            </a:pPr>
            <a:r>
              <a:rPr lang="en-US" sz="1600" b="1" dirty="0">
                <a:solidFill>
                  <a:srgbClr val="1A7F37"/>
                </a:solidFill>
                <a:latin typeface="Courier New" pitchFamily="34" charset="0"/>
                <a:ea typeface="Courier New" pitchFamily="34" charset="-122"/>
                <a:cs typeface="Courier New" pitchFamily="34" charset="-120"/>
              </a:rPr>
              <a:t>waitpid()</a:t>
            </a:r>
            <a:endParaRPr lang="en-US" sz="1600" dirty="0"/>
          </a:p>
          <a:p>
            <a:pPr marL="0" indent="0" algn="ctr">
              <a:buNone/>
            </a:pPr>
            <a:r>
              <a:rPr lang="en-US" sz="1300" dirty="0">
                <a:solidFill>
                  <a:srgbClr val="57606A"/>
                </a:solidFill>
              </a:rPr>
              <a:t>parent reaps it</a:t>
            </a:r>
            <a:endParaRPr lang="en-US" sz="1600" dirty="0"/>
          </a:p>
        </p:txBody>
      </p:sp>
      <p:pic>
        <p:nvPicPr>
          <p:cNvPr id="18" name="Image 0" descr="ShellForge running echo, ls /usr, date and whoami, and reporting an unknown command"/>
          <p:cNvPicPr>
            <a:picLocks noChangeAspect="1"/>
          </p:cNvPicPr>
          <p:nvPr/>
        </p:nvPicPr>
        <p:blipFill>
          <a:blip r:embed="rId3"/>
          <a:stretch>
            <a:fillRect/>
          </a:stretch>
        </p:blipFill>
        <p:spPr>
          <a:xfrm>
            <a:off x="548640" y="2743200"/>
            <a:ext cx="4993813" cy="3657600"/>
          </a:xfrm>
          <a:prstGeom prst="rect">
            <a:avLst/>
          </a:prstGeom>
        </p:spPr>
      </p:pic>
      <p:sp>
        <p:nvSpPr>
          <p:cNvPr id="19" name="Text 16"/>
          <p:cNvSpPr txBox="1"/>
          <p:nvPr/>
        </p:nvSpPr>
        <p:spPr>
          <a:xfrm>
            <a:off x="6035040" y="2834640"/>
            <a:ext cx="5577840" cy="3566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Exit status read with WIFEXITED and WEXITSTATUS; signals with WIFSIGNALED</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If execvp() fails, the child calls _exit(), so a second copy of the shell never keeps running</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stdout and stderr are flushed before fork(), so buffered text is not printed twice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Unknown commands print an error and the shell keeps running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 5 · CO-2</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Built-ins change the shell itself</a:t>
            </a:r>
            <a:endParaRPr lang="en-US" sz="3200" dirty="0"/>
          </a:p>
        </p:txBody>
      </p:sp>
      <p:pic>
        <p:nvPicPr>
          <p:cNvPr id="4" name="Image 0" descr="ShellForge help, pwd, cd, env and cd error handling"/>
          <p:cNvPicPr>
            <a:picLocks noChangeAspect="1"/>
          </p:cNvPicPr>
          <p:nvPr/>
        </p:nvPicPr>
        <p:blipFill>
          <a:blip r:embed="rId3"/>
          <a:stretch>
            <a:fillRect/>
          </a:stretch>
        </p:blipFill>
        <p:spPr>
          <a:xfrm>
            <a:off x="548640" y="1325880"/>
            <a:ext cx="4014050" cy="5257800"/>
          </a:xfrm>
          <a:prstGeom prst="rect">
            <a:avLst/>
          </a:prstGeom>
        </p:spPr>
      </p:pic>
      <p:sp>
        <p:nvSpPr>
          <p:cNvPr id="5" name="Shape 2"/>
          <p:cNvSpPr/>
          <p:nvPr/>
        </p:nvSpPr>
        <p:spPr>
          <a:xfrm>
            <a:off x="5303520" y="1371600"/>
            <a:ext cx="6309360" cy="1783080"/>
          </a:xfrm>
          <a:prstGeom prst="roundRect">
            <a:avLst>
              <a:gd name="adj" fmla="val 5128"/>
            </a:avLst>
          </a:prstGeom>
          <a:solidFill>
            <a:srgbClr val="0D1117"/>
          </a:solidFill>
          <a:ln w="12700">
            <a:solidFill>
              <a:srgbClr val="0D1117"/>
            </a:solidFill>
            <a:prstDash val="solid"/>
          </a:ln>
        </p:spPr>
        <p:txBody>
          <a:bodyPr/>
          <a:lstStyle/>
          <a:p>
            <a:endParaRPr lang="en-IN"/>
          </a:p>
        </p:txBody>
      </p:sp>
      <p:sp>
        <p:nvSpPr>
          <p:cNvPr id="6" name="Text 3"/>
          <p:cNvSpPr txBox="1"/>
          <p:nvPr/>
        </p:nvSpPr>
        <p:spPr>
          <a:xfrm>
            <a:off x="5577840" y="1554480"/>
            <a:ext cx="5760720" cy="411480"/>
          </a:xfrm>
          <a:prstGeom prst="rect">
            <a:avLst/>
          </a:prstGeom>
          <a:noFill/>
          <a:ln/>
        </p:spPr>
        <p:txBody>
          <a:bodyPr wrap="square" lIns="0" tIns="0" rIns="0" bIns="0" rtlCol="0" anchor="ctr"/>
          <a:lstStyle/>
          <a:p>
            <a:pPr marL="0" indent="0">
              <a:buNone/>
            </a:pPr>
            <a:r>
              <a:rPr lang="en-US" sz="1900" b="1" dirty="0">
                <a:solidFill>
                  <a:srgbClr val="3FB950"/>
                </a:solidFill>
                <a:latin typeface="Calibri" pitchFamily="34" charset="0"/>
                <a:ea typeface="Calibri" pitchFamily="34" charset="-122"/>
                <a:cs typeface="Calibri" pitchFamily="34" charset="-120"/>
              </a:rPr>
              <a:t>Why cd can't be forked</a:t>
            </a:r>
            <a:endParaRPr lang="en-US" sz="1900" dirty="0"/>
          </a:p>
        </p:txBody>
      </p:sp>
      <p:sp>
        <p:nvSpPr>
          <p:cNvPr id="7" name="Text 4"/>
          <p:cNvSpPr txBox="1"/>
          <p:nvPr/>
        </p:nvSpPr>
        <p:spPr>
          <a:xfrm>
            <a:off x="5577840" y="2011680"/>
            <a:ext cx="5760720" cy="10058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The working directory belongs to each process. A child's chdir() would vanish when it exits, so cd has to run inside the shell. The tests prove it: cd /tmp, then pwd prints /tmp.</a:t>
            </a:r>
            <a:endParaRPr lang="en-US" sz="1500" dirty="0"/>
          </a:p>
        </p:txBody>
      </p:sp>
      <p:sp>
        <p:nvSpPr>
          <p:cNvPr id="8" name="Text 5"/>
          <p:cNvSpPr txBox="1"/>
          <p:nvPr/>
        </p:nvSpPr>
        <p:spPr>
          <a:xfrm>
            <a:off x="5303520" y="3429000"/>
            <a:ext cx="47244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cd</a:t>
            </a:r>
            <a:endParaRPr lang="en-US" sz="1300" dirty="0"/>
          </a:p>
        </p:txBody>
      </p:sp>
      <p:sp>
        <p:nvSpPr>
          <p:cNvPr id="9" name="Text 6"/>
          <p:cNvSpPr txBox="1"/>
          <p:nvPr/>
        </p:nvSpPr>
        <p:spPr>
          <a:xfrm>
            <a:off x="5903976" y="3429000"/>
            <a:ext cx="57150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pwd</a:t>
            </a:r>
            <a:endParaRPr lang="en-US" sz="1300" dirty="0"/>
          </a:p>
        </p:txBody>
      </p:sp>
      <p:sp>
        <p:nvSpPr>
          <p:cNvPr id="10" name="Text 7"/>
          <p:cNvSpPr txBox="1"/>
          <p:nvPr/>
        </p:nvSpPr>
        <p:spPr>
          <a:xfrm>
            <a:off x="6603492" y="3429000"/>
            <a:ext cx="57150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env</a:t>
            </a:r>
            <a:endParaRPr lang="en-US" sz="1300" dirty="0"/>
          </a:p>
        </p:txBody>
      </p:sp>
      <p:sp>
        <p:nvSpPr>
          <p:cNvPr id="11" name="Text 8"/>
          <p:cNvSpPr txBox="1"/>
          <p:nvPr/>
        </p:nvSpPr>
        <p:spPr>
          <a:xfrm>
            <a:off x="7303008" y="3429000"/>
            <a:ext cx="76962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clear</a:t>
            </a:r>
            <a:endParaRPr lang="en-US" sz="1300" dirty="0"/>
          </a:p>
        </p:txBody>
      </p:sp>
      <p:sp>
        <p:nvSpPr>
          <p:cNvPr id="12" name="Text 9"/>
          <p:cNvSpPr txBox="1"/>
          <p:nvPr/>
        </p:nvSpPr>
        <p:spPr>
          <a:xfrm>
            <a:off x="8200644" y="342900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help</a:t>
            </a:r>
            <a:endParaRPr lang="en-US" sz="1300" dirty="0"/>
          </a:p>
        </p:txBody>
      </p:sp>
      <p:sp>
        <p:nvSpPr>
          <p:cNvPr id="13" name="Text 10"/>
          <p:cNvSpPr txBox="1"/>
          <p:nvPr/>
        </p:nvSpPr>
        <p:spPr>
          <a:xfrm>
            <a:off x="8999220" y="3429000"/>
            <a:ext cx="670560" cy="347472"/>
          </a:xfrm>
          <a:prstGeom prst="roundRect">
            <a:avLst>
              <a:gd name="adj" fmla="val 15789"/>
            </a:avLst>
          </a:prstGeom>
          <a:solidFill>
            <a:srgbClr val="0D1117"/>
          </a:solidFill>
          <a:ln w="9525">
            <a:solidFill>
              <a:srgbClr val="0D1117"/>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exit</a:t>
            </a:r>
            <a:endParaRPr lang="en-US" sz="1300" dirty="0"/>
          </a:p>
        </p:txBody>
      </p:sp>
      <p:sp>
        <p:nvSpPr>
          <p:cNvPr id="14" name="Text 11"/>
          <p:cNvSpPr txBox="1"/>
          <p:nvPr/>
        </p:nvSpPr>
        <p:spPr>
          <a:xfrm>
            <a:off x="5303520" y="4069080"/>
            <a:ext cx="630936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PWD is updated on every cd</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Unset variables print (not set) instead of crashing</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Errors handled: missing directory, too many arguments</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Anything else still goes to fork() and execvp()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 6 · CO-3</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Two programs, one pipe</a:t>
            </a:r>
            <a:endParaRPr lang="en-US" sz="3200" dirty="0"/>
          </a:p>
        </p:txBody>
      </p:sp>
      <p:sp>
        <p:nvSpPr>
          <p:cNvPr id="4" name="Shape 2"/>
          <p:cNvSpPr/>
          <p:nvPr/>
        </p:nvSpPr>
        <p:spPr>
          <a:xfrm>
            <a:off x="822960" y="1417320"/>
            <a:ext cx="28346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5" name="Text 3"/>
          <p:cNvSpPr txBox="1"/>
          <p:nvPr/>
        </p:nvSpPr>
        <p:spPr>
          <a:xfrm>
            <a:off x="822960" y="1417320"/>
            <a:ext cx="2834640" cy="960120"/>
          </a:xfrm>
          <a:prstGeom prst="rect">
            <a:avLst/>
          </a:prstGeom>
          <a:noFill/>
          <a:ln/>
        </p:spPr>
        <p:txBody>
          <a:bodyPr wrap="square" lIns="635" tIns="635" rIns="635" bIns="635" rtlCol="0" anchor="ctr"/>
          <a:lstStyle/>
          <a:p>
            <a:pPr marL="0" indent="0" algn="ctr">
              <a:buNone/>
            </a:pPr>
            <a:r>
              <a:rPr lang="en-US" sz="1700" b="1" dirty="0">
                <a:solidFill>
                  <a:srgbClr val="1A7F37"/>
                </a:solidFill>
                <a:latin typeface="Courier New" pitchFamily="34" charset="0"/>
                <a:ea typeface="Courier New" pitchFamily="34" charset="-122"/>
                <a:cs typeface="Courier New" pitchFamily="34" charset="-120"/>
              </a:rPr>
              <a:t>ls /usr</a:t>
            </a:r>
            <a:endParaRPr lang="en-US" sz="1700" dirty="0"/>
          </a:p>
          <a:p>
            <a:pPr marL="0" indent="0" algn="ctr">
              <a:buNone/>
            </a:pPr>
            <a:r>
              <a:rPr lang="en-US" sz="1300" dirty="0">
                <a:solidFill>
                  <a:srgbClr val="57606A"/>
                </a:solidFill>
              </a:rPr>
              <a:t>child 1</a:t>
            </a:r>
            <a:endParaRPr lang="en-US" sz="1700" dirty="0"/>
          </a:p>
        </p:txBody>
      </p:sp>
      <p:sp>
        <p:nvSpPr>
          <p:cNvPr id="6" name="Shape 4"/>
          <p:cNvSpPr/>
          <p:nvPr/>
        </p:nvSpPr>
        <p:spPr>
          <a:xfrm>
            <a:off x="4663440" y="1417320"/>
            <a:ext cx="2834640" cy="960120"/>
          </a:xfrm>
          <a:prstGeom prst="roundRect">
            <a:avLst>
              <a:gd name="adj" fmla="val 7619"/>
            </a:avLst>
          </a:prstGeom>
          <a:solidFill>
            <a:srgbClr val="0D1117"/>
          </a:solidFill>
          <a:ln w="12700">
            <a:solidFill>
              <a:srgbClr val="0D1117"/>
            </a:solidFill>
            <a:prstDash val="solid"/>
          </a:ln>
        </p:spPr>
        <p:txBody>
          <a:bodyPr/>
          <a:lstStyle/>
          <a:p>
            <a:endParaRPr lang="en-IN"/>
          </a:p>
        </p:txBody>
      </p:sp>
      <p:sp>
        <p:nvSpPr>
          <p:cNvPr id="7" name="Text 5"/>
          <p:cNvSpPr txBox="1"/>
          <p:nvPr/>
        </p:nvSpPr>
        <p:spPr>
          <a:xfrm>
            <a:off x="4663440" y="1417320"/>
            <a:ext cx="2834640" cy="960120"/>
          </a:xfrm>
          <a:prstGeom prst="rect">
            <a:avLst/>
          </a:prstGeom>
          <a:noFill/>
          <a:ln/>
        </p:spPr>
        <p:txBody>
          <a:bodyPr wrap="square" lIns="635" tIns="635" rIns="635" bIns="635" rtlCol="0" anchor="ctr"/>
          <a:lstStyle/>
          <a:p>
            <a:pPr marL="0" indent="0" algn="ctr">
              <a:buNone/>
            </a:pPr>
            <a:r>
              <a:rPr lang="en-US" sz="1700" b="1" dirty="0">
                <a:solidFill>
                  <a:srgbClr val="3FB950"/>
                </a:solidFill>
                <a:latin typeface="Courier New" pitchFamily="34" charset="0"/>
                <a:ea typeface="Courier New" pitchFamily="34" charset="-122"/>
                <a:cs typeface="Courier New" pitchFamily="34" charset="-120"/>
              </a:rPr>
              <a:t>pipe()</a:t>
            </a:r>
            <a:endParaRPr lang="en-US" sz="1700" dirty="0"/>
          </a:p>
          <a:p>
            <a:pPr marL="0" indent="0" algn="ctr">
              <a:buNone/>
            </a:pPr>
            <a:r>
              <a:rPr lang="en-US" sz="1300" dirty="0">
                <a:solidFill>
                  <a:srgbClr val="C9D1D9"/>
                </a:solidFill>
              </a:rPr>
              <a:t>kernel buffer</a:t>
            </a:r>
            <a:endParaRPr lang="en-US" sz="1700" dirty="0"/>
          </a:p>
        </p:txBody>
      </p:sp>
      <p:sp>
        <p:nvSpPr>
          <p:cNvPr id="8" name="Shape 6"/>
          <p:cNvSpPr/>
          <p:nvPr/>
        </p:nvSpPr>
        <p:spPr>
          <a:xfrm>
            <a:off x="8503920" y="1417320"/>
            <a:ext cx="2834640" cy="960120"/>
          </a:xfrm>
          <a:prstGeom prst="roundRect">
            <a:avLst>
              <a:gd name="adj" fmla="val 7619"/>
            </a:avLst>
          </a:prstGeom>
          <a:solidFill>
            <a:srgbClr val="F6F8FA"/>
          </a:solidFill>
          <a:ln w="12700">
            <a:solidFill>
              <a:srgbClr val="D0D7DE"/>
            </a:solidFill>
            <a:prstDash val="solid"/>
          </a:ln>
        </p:spPr>
        <p:txBody>
          <a:bodyPr/>
          <a:lstStyle/>
          <a:p>
            <a:endParaRPr lang="en-IN"/>
          </a:p>
        </p:txBody>
      </p:sp>
      <p:sp>
        <p:nvSpPr>
          <p:cNvPr id="9" name="Text 7"/>
          <p:cNvSpPr txBox="1"/>
          <p:nvPr/>
        </p:nvSpPr>
        <p:spPr>
          <a:xfrm>
            <a:off x="8503920" y="1417320"/>
            <a:ext cx="2834640" cy="960120"/>
          </a:xfrm>
          <a:prstGeom prst="rect">
            <a:avLst/>
          </a:prstGeom>
          <a:noFill/>
          <a:ln/>
        </p:spPr>
        <p:txBody>
          <a:bodyPr wrap="square" lIns="635" tIns="635" rIns="635" bIns="635" rtlCol="0" anchor="ctr"/>
          <a:lstStyle/>
          <a:p>
            <a:pPr marL="0" indent="0" algn="ctr">
              <a:buNone/>
            </a:pPr>
            <a:r>
              <a:rPr lang="en-US" sz="1700" b="1" dirty="0">
                <a:solidFill>
                  <a:srgbClr val="1A7F37"/>
                </a:solidFill>
                <a:latin typeface="Courier New" pitchFamily="34" charset="0"/>
                <a:ea typeface="Courier New" pitchFamily="34" charset="-122"/>
                <a:cs typeface="Courier New" pitchFamily="34" charset="-120"/>
              </a:rPr>
              <a:t>wc -l</a:t>
            </a:r>
            <a:endParaRPr lang="en-US" sz="1700" dirty="0"/>
          </a:p>
          <a:p>
            <a:pPr marL="0" indent="0" algn="ctr">
              <a:buNone/>
            </a:pPr>
            <a:r>
              <a:rPr lang="en-US" sz="1300" dirty="0">
                <a:solidFill>
                  <a:srgbClr val="57606A"/>
                </a:solidFill>
              </a:rPr>
              <a:t>child 2</a:t>
            </a:r>
            <a:endParaRPr lang="en-US" sz="1700" dirty="0"/>
          </a:p>
        </p:txBody>
      </p:sp>
      <p:sp>
        <p:nvSpPr>
          <p:cNvPr id="10" name="Shape 8"/>
          <p:cNvSpPr/>
          <p:nvPr/>
        </p:nvSpPr>
        <p:spPr>
          <a:xfrm>
            <a:off x="3703320" y="1901952"/>
            <a:ext cx="914400" cy="0"/>
          </a:xfrm>
          <a:prstGeom prst="line">
            <a:avLst/>
          </a:prstGeom>
          <a:noFill/>
          <a:ln w="22225">
            <a:solidFill>
              <a:srgbClr val="57606A"/>
            </a:solidFill>
            <a:prstDash val="solid"/>
            <a:tailEnd type="triangle"/>
          </a:ln>
        </p:spPr>
        <p:txBody>
          <a:bodyPr/>
          <a:lstStyle/>
          <a:p>
            <a:endParaRPr lang="en-IN"/>
          </a:p>
        </p:txBody>
      </p:sp>
      <p:sp>
        <p:nvSpPr>
          <p:cNvPr id="11" name="Shape 9"/>
          <p:cNvSpPr/>
          <p:nvPr/>
        </p:nvSpPr>
        <p:spPr>
          <a:xfrm>
            <a:off x="7543800" y="1901952"/>
            <a:ext cx="914400" cy="0"/>
          </a:xfrm>
          <a:prstGeom prst="line">
            <a:avLst/>
          </a:prstGeom>
          <a:noFill/>
          <a:ln w="22225">
            <a:solidFill>
              <a:srgbClr val="57606A"/>
            </a:solidFill>
            <a:prstDash val="solid"/>
            <a:tailEnd type="triangle"/>
          </a:ln>
        </p:spPr>
        <p:txBody>
          <a:bodyPr/>
          <a:lstStyle/>
          <a:p>
            <a:endParaRPr lang="en-IN"/>
          </a:p>
        </p:txBody>
      </p:sp>
      <p:sp>
        <p:nvSpPr>
          <p:cNvPr id="12" name="Text 10"/>
          <p:cNvSpPr txBox="1"/>
          <p:nvPr/>
        </p:nvSpPr>
        <p:spPr>
          <a:xfrm>
            <a:off x="3520440" y="2487168"/>
            <a:ext cx="1280160" cy="274320"/>
          </a:xfrm>
          <a:prstGeom prst="rect">
            <a:avLst/>
          </a:prstGeom>
          <a:noFill/>
          <a:ln/>
        </p:spPr>
        <p:txBody>
          <a:bodyPr wrap="square" lIns="0" tIns="0" rIns="0" bIns="0" rtlCol="0" anchor="ctr"/>
          <a:lstStyle/>
          <a:p>
            <a:pPr marL="0" indent="0" algn="ctr">
              <a:buNone/>
            </a:pPr>
            <a:r>
              <a:rPr lang="en-US" sz="1100" dirty="0">
                <a:solidFill>
                  <a:srgbClr val="57606A"/>
                </a:solidFill>
                <a:latin typeface="Courier New" pitchFamily="34" charset="0"/>
                <a:ea typeface="Courier New" pitchFamily="34" charset="-122"/>
                <a:cs typeface="Courier New" pitchFamily="34" charset="-120"/>
              </a:rPr>
              <a:t>stdout → fd[1]</a:t>
            </a:r>
            <a:endParaRPr lang="en-US" sz="1100" dirty="0"/>
          </a:p>
        </p:txBody>
      </p:sp>
      <p:sp>
        <p:nvSpPr>
          <p:cNvPr id="13" name="Text 11"/>
          <p:cNvSpPr txBox="1"/>
          <p:nvPr/>
        </p:nvSpPr>
        <p:spPr>
          <a:xfrm>
            <a:off x="7360920" y="2487168"/>
            <a:ext cx="1280160" cy="274320"/>
          </a:xfrm>
          <a:prstGeom prst="rect">
            <a:avLst/>
          </a:prstGeom>
          <a:noFill/>
          <a:ln/>
        </p:spPr>
        <p:txBody>
          <a:bodyPr wrap="square" lIns="0" tIns="0" rIns="0" bIns="0" rtlCol="0" anchor="ctr"/>
          <a:lstStyle/>
          <a:p>
            <a:pPr marL="0" indent="0" algn="ctr">
              <a:buNone/>
            </a:pPr>
            <a:r>
              <a:rPr lang="en-US" sz="1100" dirty="0">
                <a:solidFill>
                  <a:srgbClr val="57606A"/>
                </a:solidFill>
                <a:latin typeface="Courier New" pitchFamily="34" charset="0"/>
                <a:ea typeface="Courier New" pitchFamily="34" charset="-122"/>
                <a:cs typeface="Courier New" pitchFamily="34" charset="-120"/>
              </a:rPr>
              <a:t>fd[0] → stdin</a:t>
            </a:r>
            <a:endParaRPr lang="en-US" sz="1100" dirty="0"/>
          </a:p>
        </p:txBody>
      </p:sp>
      <p:pic>
        <p:nvPicPr>
          <p:cNvPr id="14" name="Image 0" descr="ShellForge running ls | wc -l, echo | wc -w, an unspaced cat|head pipe and ls | grep"/>
          <p:cNvPicPr>
            <a:picLocks noChangeAspect="1"/>
          </p:cNvPicPr>
          <p:nvPr/>
        </p:nvPicPr>
        <p:blipFill>
          <a:blip r:embed="rId3"/>
          <a:stretch>
            <a:fillRect/>
          </a:stretch>
        </p:blipFill>
        <p:spPr>
          <a:xfrm>
            <a:off x="548640" y="2971800"/>
            <a:ext cx="4585942" cy="3474720"/>
          </a:xfrm>
          <a:prstGeom prst="rect">
            <a:avLst/>
          </a:prstGeom>
        </p:spPr>
      </p:pic>
      <p:sp>
        <p:nvSpPr>
          <p:cNvPr id="15" name="Text 12"/>
          <p:cNvSpPr txBox="1"/>
          <p:nvPr/>
        </p:nvSpPr>
        <p:spPr>
          <a:xfrm>
            <a:off x="5943600" y="3063240"/>
            <a:ext cx="566928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dup2() connects each child to its end of the pipe</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Works with or without spaces around the pipe symbol</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Every unused pipe end is closed, so the reader sees end-of-file and nothing hangs</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A leading or trailing | is a syntax error; pipelines have two stages, as this chapter specifies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WEEK 6 · CO-3</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Talking between processes</a:t>
            </a:r>
            <a:endParaRPr lang="en-US" sz="3200" dirty="0"/>
          </a:p>
        </p:txBody>
      </p:sp>
      <p:pic>
        <p:nvPicPr>
          <p:cNvPr id="4" name="Image 0" descr="ShellForge --demo-ipc: parent to child and child to parent messages with process IDs, and EOF detection"/>
          <p:cNvPicPr>
            <a:picLocks noChangeAspect="1"/>
          </p:cNvPicPr>
          <p:nvPr/>
        </p:nvPicPr>
        <p:blipFill>
          <a:blip r:embed="rId3"/>
          <a:stretch>
            <a:fillRect/>
          </a:stretch>
        </p:blipFill>
        <p:spPr>
          <a:xfrm>
            <a:off x="548640" y="1325880"/>
            <a:ext cx="5847956" cy="4754880"/>
          </a:xfrm>
          <a:prstGeom prst="rect">
            <a:avLst/>
          </a:prstGeom>
        </p:spPr>
      </p:pic>
      <p:sp>
        <p:nvSpPr>
          <p:cNvPr id="5" name="Text 2"/>
          <p:cNvSpPr txBox="1"/>
          <p:nvPr/>
        </p:nvSpPr>
        <p:spPr>
          <a:xfrm>
            <a:off x="6949440" y="1417320"/>
            <a:ext cx="502920" cy="502920"/>
          </a:xfrm>
          <a:prstGeom prst="ellipse">
            <a:avLst/>
          </a:prstGeom>
          <a:solidFill>
            <a:srgbClr val="0D1117"/>
          </a:solidFill>
          <a:ln/>
        </p:spPr>
        <p:txBody>
          <a:bodyPr wrap="square" lIns="0" tIns="0" rIns="0" bIns="0" rtlCol="0" anchor="ctr"/>
          <a:lstStyle/>
          <a:p>
            <a:pPr marL="0" indent="0" algn="ctr">
              <a:buNone/>
            </a:pPr>
            <a:r>
              <a:rPr lang="en-US" sz="1600" b="1" dirty="0">
                <a:solidFill>
                  <a:srgbClr val="3FB950"/>
                </a:solidFill>
                <a:latin typeface="Courier New" pitchFamily="34" charset="0"/>
                <a:ea typeface="Courier New" pitchFamily="34" charset="-122"/>
                <a:cs typeface="Courier New" pitchFamily="34" charset="-120"/>
              </a:rPr>
              <a:t>1</a:t>
            </a:r>
            <a:endParaRPr lang="en-US" sz="1600" dirty="0"/>
          </a:p>
        </p:txBody>
      </p:sp>
      <p:sp>
        <p:nvSpPr>
          <p:cNvPr id="6" name="Text 3"/>
          <p:cNvSpPr txBox="1"/>
          <p:nvPr/>
        </p:nvSpPr>
        <p:spPr>
          <a:xfrm>
            <a:off x="7635240" y="1417320"/>
            <a:ext cx="3977640" cy="457200"/>
          </a:xfrm>
          <a:prstGeom prst="rect">
            <a:avLst/>
          </a:prstGeom>
          <a:noFill/>
          <a:ln/>
        </p:spPr>
        <p:txBody>
          <a:bodyPr wrap="square" lIns="0" tIns="0" rIns="0" bIns="0" rtlCol="0" anchor="ctr"/>
          <a:lstStyle/>
          <a:p>
            <a:pPr marL="0" indent="0">
              <a:buNone/>
            </a:pPr>
            <a:r>
              <a:rPr lang="en-US" sz="1800" b="1" dirty="0">
                <a:solidFill>
                  <a:srgbClr val="1F2328"/>
                </a:solidFill>
                <a:latin typeface="Calibri" pitchFamily="34" charset="0"/>
                <a:ea typeface="Calibri" pitchFamily="34" charset="-122"/>
                <a:cs typeface="Calibri" pitchFamily="34" charset="-120"/>
              </a:rPr>
              <a:t>Parent → child</a:t>
            </a:r>
            <a:endParaRPr lang="en-US" sz="1800" dirty="0"/>
          </a:p>
        </p:txBody>
      </p:sp>
      <p:sp>
        <p:nvSpPr>
          <p:cNvPr id="7" name="Text 4"/>
          <p:cNvSpPr txBox="1"/>
          <p:nvPr/>
        </p:nvSpPr>
        <p:spPr>
          <a:xfrm>
            <a:off x="7635240" y="1920240"/>
            <a:ext cx="3977640" cy="73152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The parent writes, the child reads; each closes the end it does not use.</a:t>
            </a:r>
            <a:endParaRPr lang="en-US" sz="1500" dirty="0"/>
          </a:p>
        </p:txBody>
      </p:sp>
      <p:sp>
        <p:nvSpPr>
          <p:cNvPr id="8" name="Text 5"/>
          <p:cNvSpPr txBox="1"/>
          <p:nvPr/>
        </p:nvSpPr>
        <p:spPr>
          <a:xfrm>
            <a:off x="6949440" y="2834640"/>
            <a:ext cx="502920" cy="502920"/>
          </a:xfrm>
          <a:prstGeom prst="ellipse">
            <a:avLst/>
          </a:prstGeom>
          <a:solidFill>
            <a:srgbClr val="0D1117"/>
          </a:solidFill>
          <a:ln/>
        </p:spPr>
        <p:txBody>
          <a:bodyPr wrap="square" lIns="0" tIns="0" rIns="0" bIns="0" rtlCol="0" anchor="ctr"/>
          <a:lstStyle/>
          <a:p>
            <a:pPr marL="0" indent="0" algn="ctr">
              <a:buNone/>
            </a:pPr>
            <a:r>
              <a:rPr lang="en-US" sz="1600" b="1" dirty="0">
                <a:solidFill>
                  <a:srgbClr val="3FB950"/>
                </a:solidFill>
                <a:latin typeface="Courier New" pitchFamily="34" charset="0"/>
                <a:ea typeface="Courier New" pitchFamily="34" charset="-122"/>
                <a:cs typeface="Courier New" pitchFamily="34" charset="-120"/>
              </a:rPr>
              <a:t>2</a:t>
            </a:r>
            <a:endParaRPr lang="en-US" sz="1600" dirty="0"/>
          </a:p>
        </p:txBody>
      </p:sp>
      <p:sp>
        <p:nvSpPr>
          <p:cNvPr id="9" name="Text 6"/>
          <p:cNvSpPr txBox="1"/>
          <p:nvPr/>
        </p:nvSpPr>
        <p:spPr>
          <a:xfrm>
            <a:off x="7635240" y="2834640"/>
            <a:ext cx="3977640" cy="457200"/>
          </a:xfrm>
          <a:prstGeom prst="rect">
            <a:avLst/>
          </a:prstGeom>
          <a:noFill/>
          <a:ln/>
        </p:spPr>
        <p:txBody>
          <a:bodyPr wrap="square" lIns="0" tIns="0" rIns="0" bIns="0" rtlCol="0" anchor="ctr"/>
          <a:lstStyle/>
          <a:p>
            <a:pPr marL="0" indent="0">
              <a:buNone/>
            </a:pPr>
            <a:r>
              <a:rPr lang="en-US" sz="1800" b="1" dirty="0">
                <a:solidFill>
                  <a:srgbClr val="1F2328"/>
                </a:solidFill>
                <a:latin typeface="Calibri" pitchFamily="34" charset="0"/>
                <a:ea typeface="Calibri" pitchFamily="34" charset="-122"/>
                <a:cs typeface="Calibri" pitchFamily="34" charset="-120"/>
              </a:rPr>
              <a:t>Child → parent</a:t>
            </a:r>
            <a:endParaRPr lang="en-US" sz="1800" dirty="0"/>
          </a:p>
        </p:txBody>
      </p:sp>
      <p:sp>
        <p:nvSpPr>
          <p:cNvPr id="10" name="Text 7"/>
          <p:cNvSpPr txBox="1"/>
          <p:nvPr/>
        </p:nvSpPr>
        <p:spPr>
          <a:xfrm>
            <a:off x="7635240" y="3337560"/>
            <a:ext cx="3977640" cy="73152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The same idea with the pipe in the other direction.</a:t>
            </a:r>
            <a:endParaRPr lang="en-US" sz="1500" dirty="0"/>
          </a:p>
        </p:txBody>
      </p:sp>
      <p:sp>
        <p:nvSpPr>
          <p:cNvPr id="11" name="Text 8"/>
          <p:cNvSpPr txBox="1"/>
          <p:nvPr/>
        </p:nvSpPr>
        <p:spPr>
          <a:xfrm>
            <a:off x="6949440" y="4251960"/>
            <a:ext cx="502920" cy="502920"/>
          </a:xfrm>
          <a:prstGeom prst="ellipse">
            <a:avLst/>
          </a:prstGeom>
          <a:solidFill>
            <a:srgbClr val="0D1117"/>
          </a:solidFill>
          <a:ln/>
        </p:spPr>
        <p:txBody>
          <a:bodyPr wrap="square" lIns="0" tIns="0" rIns="0" bIns="0" rtlCol="0" anchor="ctr"/>
          <a:lstStyle/>
          <a:p>
            <a:pPr marL="0" indent="0" algn="ctr">
              <a:buNone/>
            </a:pPr>
            <a:r>
              <a:rPr lang="en-US" sz="1600" b="1" dirty="0">
                <a:solidFill>
                  <a:srgbClr val="3FB950"/>
                </a:solidFill>
                <a:latin typeface="Courier New" pitchFamily="34" charset="0"/>
                <a:ea typeface="Courier New" pitchFamily="34" charset="-122"/>
                <a:cs typeface="Courier New" pitchFamily="34" charset="-120"/>
              </a:rPr>
              <a:t>3</a:t>
            </a:r>
            <a:endParaRPr lang="en-US" sz="1600" dirty="0"/>
          </a:p>
        </p:txBody>
      </p:sp>
      <p:sp>
        <p:nvSpPr>
          <p:cNvPr id="12" name="Text 9"/>
          <p:cNvSpPr txBox="1"/>
          <p:nvPr/>
        </p:nvSpPr>
        <p:spPr>
          <a:xfrm>
            <a:off x="7635240" y="4251960"/>
            <a:ext cx="3977640" cy="457200"/>
          </a:xfrm>
          <a:prstGeom prst="rect">
            <a:avLst/>
          </a:prstGeom>
          <a:noFill/>
          <a:ln/>
        </p:spPr>
        <p:txBody>
          <a:bodyPr wrap="square" lIns="0" tIns="0" rIns="0" bIns="0" rtlCol="0" anchor="ctr"/>
          <a:lstStyle/>
          <a:p>
            <a:pPr marL="0" indent="0">
              <a:buNone/>
            </a:pPr>
            <a:r>
              <a:rPr lang="en-US" sz="1800" b="1" dirty="0">
                <a:solidFill>
                  <a:srgbClr val="1F2328"/>
                </a:solidFill>
                <a:latin typeface="Calibri" pitchFamily="34" charset="0"/>
                <a:ea typeface="Calibri" pitchFamily="34" charset="-122"/>
                <a:cs typeface="Calibri" pitchFamily="34" charset="-120"/>
              </a:rPr>
              <a:t>End-of-file</a:t>
            </a:r>
            <a:endParaRPr lang="en-US" sz="1800" dirty="0"/>
          </a:p>
        </p:txBody>
      </p:sp>
      <p:sp>
        <p:nvSpPr>
          <p:cNvPr id="13" name="Text 10"/>
          <p:cNvSpPr txBox="1"/>
          <p:nvPr/>
        </p:nvSpPr>
        <p:spPr>
          <a:xfrm>
            <a:off x="7635240" y="4754880"/>
            <a:ext cx="3977640" cy="731520"/>
          </a:xfrm>
          <a:prstGeom prst="rect">
            <a:avLst/>
          </a:prstGeom>
          <a:noFill/>
          <a:ln/>
        </p:spPr>
        <p:txBody>
          <a:bodyPr wrap="square" lIns="0" tIns="0" rIns="0" bIns="0" rtlCol="0" anchor="t"/>
          <a:lstStyle/>
          <a:p>
            <a:pPr marL="0" indent="0">
              <a:buNone/>
            </a:pPr>
            <a:r>
              <a:rPr lang="en-US" sz="1500" dirty="0">
                <a:solidFill>
                  <a:srgbClr val="1F2328"/>
                </a:solidFill>
                <a:latin typeface="Calibri" pitchFamily="34" charset="0"/>
                <a:ea typeface="Calibri" pitchFamily="34" charset="-122"/>
                <a:cs typeface="Calibri" pitchFamily="34" charset="-120"/>
              </a:rPr>
              <a:t>Once every write end is closed, read() returns 0.</a:t>
            </a:r>
            <a:endParaRPr lang="en-US" sz="1500" dirty="0"/>
          </a:p>
        </p:txBody>
      </p:sp>
      <p:sp>
        <p:nvSpPr>
          <p:cNvPr id="14" name="Text 11"/>
          <p:cNvSpPr txBox="1"/>
          <p:nvPr/>
        </p:nvSpPr>
        <p:spPr>
          <a:xfrm>
            <a:off x="6949440" y="5760720"/>
            <a:ext cx="4663440" cy="457200"/>
          </a:xfrm>
          <a:prstGeom prst="rect">
            <a:avLst/>
          </a:prstGeom>
          <a:noFill/>
          <a:ln/>
        </p:spPr>
        <p:txBody>
          <a:bodyPr wrap="square" lIns="0" tIns="0" rIns="0" bIns="0" rtlCol="0" anchor="ctr"/>
          <a:lstStyle/>
          <a:p>
            <a:pPr marL="0" indent="0">
              <a:buNone/>
            </a:pPr>
            <a:r>
              <a:rPr lang="en-US" sz="1200" i="1" dirty="0">
                <a:solidFill>
                  <a:srgbClr val="57606A"/>
                </a:solidFill>
                <a:latin typeface="Calibri" pitchFamily="34" charset="0"/>
                <a:ea typeface="Calibri" pitchFamily="34" charset="-122"/>
                <a:cs typeface="Calibri" pitchFamily="34" charset="-120"/>
              </a:rPr>
              <a:t>Run it with ./bin/shellforge --demo-ipc, or type demo-ipc at the prompt.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TESTING</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76 automated checks, all passing</a:t>
            </a:r>
            <a:endParaRPr lang="en-US" sz="3200" dirty="0"/>
          </a:p>
        </p:txBody>
      </p:sp>
      <p:graphicFrame>
        <p:nvGraphicFramePr>
          <p:cNvPr id="4" name="Chart 0"/>
          <p:cNvGraphicFramePr/>
          <p:nvPr/>
        </p:nvGraphicFramePr>
        <p:xfrm>
          <a:off x="548640" y="1371600"/>
          <a:ext cx="65836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4526280"/>
            <a:ext cx="658368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make test runs all three suites in the gcc:13 container</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Each suite rebuilds the shell with AddressSanitizer and UBSan, and fails on any report</a:t>
            </a:r>
            <a:endParaRPr lang="en-US" sz="1500" dirty="0"/>
          </a:p>
          <a:p>
            <a:pPr marL="342900" indent="-342900">
              <a:spcAft>
                <a:spcPts val="800"/>
              </a:spcAft>
              <a:buSzPct val="100000"/>
              <a:buChar char="•"/>
            </a:pPr>
            <a:r>
              <a:rPr lang="en-US" sz="1500" dirty="0">
                <a:solidFill>
                  <a:srgbClr val="1F2328"/>
                </a:solidFill>
                <a:latin typeface="Calibri" pitchFamily="34" charset="0"/>
                <a:ea typeface="Calibri" pitchFamily="34" charset="-122"/>
                <a:cs typeface="Calibri" pitchFamily="34" charset="-120"/>
              </a:rPr>
              <a:t>Error paths are tested too: bad commands, bad cd, pipe syntax errors</a:t>
            </a:r>
            <a:endParaRPr lang="en-US" sz="1500" dirty="0"/>
          </a:p>
        </p:txBody>
      </p:sp>
      <p:pic>
        <p:nvPicPr>
          <p:cNvPr id="6" name="Image 0" descr="make test output for the Week 6 suite: 23 passed, 0 failed"/>
          <p:cNvPicPr>
            <a:picLocks noChangeAspect="1"/>
          </p:cNvPicPr>
          <p:nvPr/>
        </p:nvPicPr>
        <p:blipFill>
          <a:blip r:embed="rId4"/>
          <a:stretch>
            <a:fillRect/>
          </a:stretch>
        </p:blipFill>
        <p:spPr>
          <a:xfrm>
            <a:off x="7843125" y="1234440"/>
            <a:ext cx="3424710" cy="525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Where ShellForge differs from the handbook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383280"/>
        </p:xfrm>
        <a:graphic>
          <a:graphicData uri="http://schemas.openxmlformats.org/drawingml/2006/table">
            <a:tbl>
              <a:tblPr/>
              <a:tblGrid>
                <a:gridCol w="39319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Handbook listing</a:t>
                      </a:r>
                      <a:endParaRPr lang="en-US" sz="14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D1117"/>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ShellForge</a:t>
                      </a:r>
                      <a:endParaRPr lang="en-US" sz="14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D1117"/>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D1117"/>
                    </a:solidFill>
                  </a:tcPr>
                </a:tc>
                <a:extLst>
                  <a:ext uri="{0D108BD9-81ED-4DB2-BD59-A6C34878D82A}">
                    <a16:rowId xmlns:a16="http://schemas.microsoft.com/office/drawing/2014/main" val="10000"/>
                  </a:ext>
                </a:extLst>
              </a:tr>
              <a:tr h="868680">
                <a:tc>
                  <a:txBody>
                    <a:bodyPr/>
                    <a:lstStyle/>
                    <a:p>
                      <a:pPr marL="0" indent="0">
                        <a:buNone/>
                      </a:pPr>
                      <a:r>
                        <a:rPr lang="en-US" sz="1200" dirty="0">
                          <a:solidFill>
                            <a:srgbClr val="1F2328"/>
                          </a:solidFill>
                          <a:latin typeface="Courier New" pitchFamily="34" charset="0"/>
                          <a:ea typeface="Courier New" pitchFamily="34" charset="-122"/>
                          <a:cs typeface="Courier New" pitchFamily="34" charset="-120"/>
                        </a:rPr>
                        <a:t>Week 3: #include ""../include/..." has a stray quote, and the Makefile target has no prerequisites</a:t>
                      </a:r>
                      <a:endParaRPr lang="en-US" sz="1200" dirty="0">
                        <a:latin typeface="Courier New" charset="0"/>
                        <a:ea typeface="Courier New" charset="0"/>
                        <a:cs typeface="Courier New"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Keeps -Iinclude and an object-file Makefile</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The listing does not compile, and its target never rebuilds</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extLst>
                  <a:ext uri="{0D108BD9-81ED-4DB2-BD59-A6C34878D82A}">
                    <a16:rowId xmlns:a16="http://schemas.microsoft.com/office/drawing/2014/main" val="10001"/>
                  </a:ext>
                </a:extLst>
              </a:tr>
              <a:tr h="731520">
                <a:tc>
                  <a:txBody>
                    <a:bodyPr/>
                    <a:lstStyle/>
                    <a:p>
                      <a:pPr marL="0" indent="0">
                        <a:buNone/>
                      </a:pPr>
                      <a:r>
                        <a:rPr lang="en-US" sz="1200" dirty="0">
                          <a:solidFill>
                            <a:srgbClr val="1F2328"/>
                          </a:solidFill>
                          <a:latin typeface="Courier New" pitchFamily="34" charset="0"/>
                          <a:ea typeface="Courier New" pitchFamily="34" charset="-122"/>
                          <a:cs typeface="Courier New" pitchFamily="34" charset="-120"/>
                        </a:rPr>
                        <a:t>Week 5 env: printf("%s", getenv("USER"))</a:t>
                      </a:r>
                      <a:endParaRPr lang="en-US" sz="1200" dirty="0">
                        <a:latin typeface="Courier New" charset="0"/>
                        <a:ea typeface="Courier New" charset="0"/>
                        <a:cs typeface="Courier New"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Prints (not set) when a variable is unset</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Passing NULL to printf is undefined behaviour</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200" dirty="0">
                          <a:solidFill>
                            <a:srgbClr val="1F2328"/>
                          </a:solidFill>
                          <a:latin typeface="Courier New" pitchFamily="34" charset="0"/>
                          <a:ea typeface="Courier New" pitchFamily="34" charset="-122"/>
                          <a:cs typeface="Courier New" pitchFamily="34" charset="-120"/>
                        </a:rPr>
                        <a:t>Week 5 clear: system("clear")</a:t>
                      </a:r>
                      <a:endParaRPr lang="en-US" sz="1200" dirty="0">
                        <a:latin typeface="Courier New" charset="0"/>
                        <a:ea typeface="Courier New" charset="0"/>
                        <a:cs typeface="Courier New"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Writes the ANSI clear-screen code</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No extra shell process, and clear is missing from many images</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extLst>
                  <a:ext uri="{0D108BD9-81ED-4DB2-BD59-A6C34878D82A}">
                    <a16:rowId xmlns:a16="http://schemas.microsoft.com/office/drawing/2014/main" val="10003"/>
                  </a:ext>
                </a:extLst>
              </a:tr>
              <a:tr h="640080">
                <a:tc>
                  <a:txBody>
                    <a:bodyPr/>
                    <a:lstStyle/>
                    <a:p>
                      <a:pPr marL="0" indent="0">
                        <a:buNone/>
                      </a:pPr>
                      <a:r>
                        <a:rPr lang="en-US" sz="1200" dirty="0">
                          <a:solidFill>
                            <a:srgbClr val="1F2328"/>
                          </a:solidFill>
                          <a:latin typeface="Courier New" pitchFamily="34" charset="0"/>
                          <a:ea typeface="Courier New" pitchFamily="34" charset="-122"/>
                          <a:cs typeface="Courier New" pitchFamily="34" charset="-120"/>
                        </a:rPr>
                        <a:t>Week 5 exit: calls exit() directly</a:t>
                      </a:r>
                      <a:endParaRPr lang="en-US" sz="1200" dirty="0">
                        <a:latin typeface="Courier New" charset="0"/>
                        <a:ea typeface="Courier New" charset="0"/>
                        <a:cs typeface="Courier New"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Returns to main(), which frees memory first</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Calibri" pitchFamily="34" charset="0"/>
                          <a:ea typeface="Calibri" pitchFamily="34" charset="-122"/>
                          <a:cs typeface="Calibri" pitchFamily="34" charset="-120"/>
                        </a:rPr>
                        <a:t>Keeps the leak checker clean</a:t>
                      </a:r>
                      <a:endParaRPr lang="en-US" sz="1300" dirty="0">
                        <a:latin typeface="Calibri" charset="0"/>
                        <a:ea typeface="Calibri" charset="0"/>
                        <a:cs typeface="Calibri" charset="0"/>
                      </a:endParaRPr>
                    </a:p>
                  </a:txBody>
                  <a:tcPr marL="109728" marR="109728" marT="73152" marB="73152"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5440680"/>
            <a:ext cx="11064240" cy="777240"/>
          </a:xfrm>
          <a:prstGeom prst="roundRect">
            <a:avLst>
              <a:gd name="adj" fmla="val 11765"/>
            </a:avLst>
          </a:prstGeom>
          <a:solidFill>
            <a:srgbClr val="F6F8FA"/>
          </a:solidFill>
          <a:ln w="12700">
            <a:solidFill>
              <a:srgbClr val="F6F8FA"/>
            </a:solidFill>
            <a:prstDash val="solid"/>
          </a:ln>
        </p:spPr>
        <p:txBody>
          <a:bodyPr/>
          <a:lstStyle/>
          <a:p>
            <a:endParaRPr lang="en-IN"/>
          </a:p>
        </p:txBody>
      </p:sp>
      <p:sp>
        <p:nvSpPr>
          <p:cNvPr id="6" name="Text 3"/>
          <p:cNvSpPr txBox="1"/>
          <p:nvPr/>
        </p:nvSpPr>
        <p:spPr>
          <a:xfrm>
            <a:off x="777240" y="5440680"/>
            <a:ext cx="10607040" cy="777240"/>
          </a:xfrm>
          <a:prstGeom prst="rect">
            <a:avLst/>
          </a:prstGeom>
          <a:noFill/>
          <a:ln/>
        </p:spPr>
        <p:txBody>
          <a:bodyPr wrap="square" lIns="0" tIns="0" rIns="0" bIns="0" rtlCol="0" anchor="ctr"/>
          <a:lstStyle/>
          <a:p>
            <a:pPr marL="0" indent="0">
              <a:buNone/>
            </a:pPr>
            <a:r>
              <a:rPr lang="en-US" sz="1400" dirty="0">
                <a:solidFill>
                  <a:srgbClr val="1F2328"/>
                </a:solidFill>
                <a:latin typeface="Calibri" pitchFamily="34" charset="0"/>
                <a:ea typeface="Calibri" pitchFamily="34" charset="-122"/>
                <a:cs typeface="Calibri" pitchFamily="34" charset="-120"/>
              </a:rPr>
              <a:t>Also: pipes and IPC were first filed as Week 5. They were relabelled Week 6 to match the handbook; the code did not change.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HISTORY</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Built in four commits</a:t>
            </a:r>
            <a:endParaRPr lang="en-US" sz="3200" dirty="0"/>
          </a:p>
        </p:txBody>
      </p:sp>
      <p:sp>
        <p:nvSpPr>
          <p:cNvPr id="4" name="Shape 2"/>
          <p:cNvSpPr/>
          <p:nvPr/>
        </p:nvSpPr>
        <p:spPr>
          <a:xfrm>
            <a:off x="1828800" y="2148840"/>
            <a:ext cx="8531352" cy="0"/>
          </a:xfrm>
          <a:prstGeom prst="line">
            <a:avLst/>
          </a:prstGeom>
          <a:noFill/>
          <a:ln w="25400">
            <a:solidFill>
              <a:srgbClr val="D0D7DE"/>
            </a:solidFill>
            <a:prstDash val="solid"/>
          </a:ln>
        </p:spPr>
        <p:txBody>
          <a:bodyPr/>
          <a:lstStyle/>
          <a:p>
            <a:endParaRPr lang="en-IN"/>
          </a:p>
        </p:txBody>
      </p:sp>
      <p:sp>
        <p:nvSpPr>
          <p:cNvPr id="5" name="Shape 3"/>
          <p:cNvSpPr/>
          <p:nvPr/>
        </p:nvSpPr>
        <p:spPr>
          <a:xfrm>
            <a:off x="1673352" y="1993392"/>
            <a:ext cx="310896" cy="310896"/>
          </a:xfrm>
          <a:prstGeom prst="ellipse">
            <a:avLst/>
          </a:prstGeom>
          <a:solidFill>
            <a:srgbClr val="0D1117"/>
          </a:solidFill>
          <a:ln w="25400">
            <a:solidFill>
              <a:srgbClr val="FFFFFF"/>
            </a:solidFill>
            <a:prstDash val="solid"/>
          </a:ln>
        </p:spPr>
        <p:txBody>
          <a:bodyPr/>
          <a:lstStyle/>
          <a:p>
            <a:endParaRPr lang="en-IN"/>
          </a:p>
        </p:txBody>
      </p:sp>
      <p:sp>
        <p:nvSpPr>
          <p:cNvPr id="6" name="Text 4"/>
          <p:cNvSpPr txBox="1"/>
          <p:nvPr/>
        </p:nvSpPr>
        <p:spPr>
          <a:xfrm>
            <a:off x="548640" y="1417320"/>
            <a:ext cx="2560320" cy="365760"/>
          </a:xfrm>
          <a:prstGeom prst="rect">
            <a:avLst/>
          </a:prstGeom>
          <a:noFill/>
          <a:ln/>
        </p:spPr>
        <p:txBody>
          <a:bodyPr wrap="square" lIns="0" tIns="0" rIns="0" bIns="0" rtlCol="0" anchor="ctr"/>
          <a:lstStyle/>
          <a:p>
            <a:pPr marL="0" indent="0" algn="ctr">
              <a:buNone/>
            </a:pPr>
            <a:r>
              <a:rPr lang="en-US" sz="1500" b="1" dirty="0">
                <a:solidFill>
                  <a:srgbClr val="1F2328"/>
                </a:solidFill>
                <a:latin typeface="Calibri" pitchFamily="34" charset="0"/>
                <a:ea typeface="Calibri" pitchFamily="34" charset="-122"/>
                <a:cs typeface="Calibri" pitchFamily="34" charset="-120"/>
              </a:rPr>
              <a:t>11 Aug 2026</a:t>
            </a:r>
            <a:endParaRPr lang="en-US" sz="1500" dirty="0"/>
          </a:p>
        </p:txBody>
      </p:sp>
      <p:sp>
        <p:nvSpPr>
          <p:cNvPr id="7" name="Text 5"/>
          <p:cNvSpPr txBox="1"/>
          <p:nvPr/>
        </p:nvSpPr>
        <p:spPr>
          <a:xfrm>
            <a:off x="548640" y="2468880"/>
            <a:ext cx="2560320" cy="731520"/>
          </a:xfrm>
          <a:prstGeom prst="rect">
            <a:avLst/>
          </a:prstGeom>
          <a:noFill/>
          <a:ln/>
        </p:spPr>
        <p:txBody>
          <a:bodyPr wrap="square" lIns="0" tIns="0" rIns="0" bIns="0" rtlCol="0" anchor="t"/>
          <a:lstStyle/>
          <a:p>
            <a:pPr marL="0" indent="0" algn="ctr">
              <a:buNone/>
            </a:pPr>
            <a:r>
              <a:rPr lang="en-US" sz="1400" dirty="0">
                <a:solidFill>
                  <a:srgbClr val="57606A"/>
                </a:solidFill>
                <a:latin typeface="Calibri" pitchFamily="34" charset="0"/>
                <a:ea typeface="Calibri" pitchFamily="34" charset="-122"/>
                <a:cs typeface="Calibri" pitchFamily="34" charset="-120"/>
              </a:rPr>
              <a:t>Project structure created</a:t>
            </a:r>
            <a:endParaRPr lang="en-US" sz="1400" dirty="0"/>
          </a:p>
        </p:txBody>
      </p:sp>
      <p:sp>
        <p:nvSpPr>
          <p:cNvPr id="8" name="Shape 6"/>
          <p:cNvSpPr/>
          <p:nvPr/>
        </p:nvSpPr>
        <p:spPr>
          <a:xfrm>
            <a:off x="4517136" y="1993392"/>
            <a:ext cx="310896" cy="310896"/>
          </a:xfrm>
          <a:prstGeom prst="ellipse">
            <a:avLst/>
          </a:prstGeom>
          <a:solidFill>
            <a:srgbClr val="0D1117"/>
          </a:solidFill>
          <a:ln w="25400">
            <a:solidFill>
              <a:srgbClr val="FFFFFF"/>
            </a:solidFill>
            <a:prstDash val="solid"/>
          </a:ln>
        </p:spPr>
        <p:txBody>
          <a:bodyPr/>
          <a:lstStyle/>
          <a:p>
            <a:endParaRPr lang="en-IN"/>
          </a:p>
        </p:txBody>
      </p:sp>
      <p:sp>
        <p:nvSpPr>
          <p:cNvPr id="9" name="Text 7"/>
          <p:cNvSpPr txBox="1"/>
          <p:nvPr/>
        </p:nvSpPr>
        <p:spPr>
          <a:xfrm>
            <a:off x="3392424" y="1417320"/>
            <a:ext cx="2560320" cy="365760"/>
          </a:xfrm>
          <a:prstGeom prst="rect">
            <a:avLst/>
          </a:prstGeom>
          <a:noFill/>
          <a:ln/>
        </p:spPr>
        <p:txBody>
          <a:bodyPr wrap="square" lIns="0" tIns="0" rIns="0" bIns="0" rtlCol="0" anchor="ctr"/>
          <a:lstStyle/>
          <a:p>
            <a:pPr marL="0" indent="0" algn="ctr">
              <a:buNone/>
            </a:pPr>
            <a:r>
              <a:rPr lang="en-US" sz="1500" b="1" dirty="0">
                <a:solidFill>
                  <a:srgbClr val="1F2328"/>
                </a:solidFill>
                <a:latin typeface="Calibri" pitchFamily="34" charset="0"/>
                <a:ea typeface="Calibri" pitchFamily="34" charset="-122"/>
                <a:cs typeface="Calibri" pitchFamily="34" charset="-120"/>
              </a:rPr>
              <a:t>17 Aug 2026</a:t>
            </a:r>
            <a:endParaRPr lang="en-US" sz="1500" dirty="0"/>
          </a:p>
        </p:txBody>
      </p:sp>
      <p:sp>
        <p:nvSpPr>
          <p:cNvPr id="10" name="Text 8"/>
          <p:cNvSpPr txBox="1"/>
          <p:nvPr/>
        </p:nvSpPr>
        <p:spPr>
          <a:xfrm>
            <a:off x="3392424" y="2468880"/>
            <a:ext cx="2560320" cy="731520"/>
          </a:xfrm>
          <a:prstGeom prst="rect">
            <a:avLst/>
          </a:prstGeom>
          <a:noFill/>
          <a:ln/>
        </p:spPr>
        <p:txBody>
          <a:bodyPr wrap="square" lIns="0" tIns="0" rIns="0" bIns="0" rtlCol="0" anchor="t"/>
          <a:lstStyle/>
          <a:p>
            <a:pPr marL="0" indent="0" algn="ctr">
              <a:buNone/>
            </a:pPr>
            <a:r>
              <a:rPr lang="en-US" sz="1400" dirty="0">
                <a:solidFill>
                  <a:srgbClr val="57606A"/>
                </a:solidFill>
                <a:latin typeface="Calibri" pitchFamily="34" charset="0"/>
                <a:ea typeface="Calibri" pitchFamily="34" charset="-122"/>
                <a:cs typeface="Calibri" pitchFamily="34" charset="-120"/>
              </a:rPr>
              <a:t>Weeks 1–2: REPL and dynamic input</a:t>
            </a:r>
            <a:endParaRPr lang="en-US" sz="1400" dirty="0"/>
          </a:p>
        </p:txBody>
      </p:sp>
      <p:sp>
        <p:nvSpPr>
          <p:cNvPr id="11" name="Shape 9"/>
          <p:cNvSpPr/>
          <p:nvPr/>
        </p:nvSpPr>
        <p:spPr>
          <a:xfrm>
            <a:off x="7360920" y="1993392"/>
            <a:ext cx="310896" cy="310896"/>
          </a:xfrm>
          <a:prstGeom prst="ellipse">
            <a:avLst/>
          </a:prstGeom>
          <a:solidFill>
            <a:srgbClr val="0D1117"/>
          </a:solidFill>
          <a:ln w="25400">
            <a:solidFill>
              <a:srgbClr val="FFFFFF"/>
            </a:solidFill>
            <a:prstDash val="solid"/>
          </a:ln>
        </p:spPr>
        <p:txBody>
          <a:bodyPr/>
          <a:lstStyle/>
          <a:p>
            <a:endParaRPr lang="en-IN"/>
          </a:p>
        </p:txBody>
      </p:sp>
      <p:sp>
        <p:nvSpPr>
          <p:cNvPr id="12" name="Text 10"/>
          <p:cNvSpPr txBox="1"/>
          <p:nvPr/>
        </p:nvSpPr>
        <p:spPr>
          <a:xfrm>
            <a:off x="6236208" y="1417320"/>
            <a:ext cx="2560320" cy="365760"/>
          </a:xfrm>
          <a:prstGeom prst="rect">
            <a:avLst/>
          </a:prstGeom>
          <a:noFill/>
          <a:ln/>
        </p:spPr>
        <p:txBody>
          <a:bodyPr wrap="square" lIns="0" tIns="0" rIns="0" bIns="0" rtlCol="0" anchor="ctr"/>
          <a:lstStyle/>
          <a:p>
            <a:pPr marL="0" indent="0" algn="ctr">
              <a:buNone/>
            </a:pPr>
            <a:r>
              <a:rPr lang="en-US" sz="1500" b="1" dirty="0">
                <a:solidFill>
                  <a:srgbClr val="1F2328"/>
                </a:solidFill>
                <a:latin typeface="Calibri" pitchFamily="34" charset="0"/>
                <a:ea typeface="Calibri" pitchFamily="34" charset="-122"/>
                <a:cs typeface="Calibri" pitchFamily="34" charset="-120"/>
              </a:rPr>
              <a:t>11 Sep 2026</a:t>
            </a:r>
            <a:endParaRPr lang="en-US" sz="1500" dirty="0"/>
          </a:p>
        </p:txBody>
      </p:sp>
      <p:sp>
        <p:nvSpPr>
          <p:cNvPr id="13" name="Text 11"/>
          <p:cNvSpPr txBox="1"/>
          <p:nvPr/>
        </p:nvSpPr>
        <p:spPr>
          <a:xfrm>
            <a:off x="6236208" y="2468880"/>
            <a:ext cx="2560320" cy="731520"/>
          </a:xfrm>
          <a:prstGeom prst="rect">
            <a:avLst/>
          </a:prstGeom>
          <a:noFill/>
          <a:ln/>
        </p:spPr>
        <p:txBody>
          <a:bodyPr wrap="square" lIns="0" tIns="0" rIns="0" bIns="0" rtlCol="0" anchor="t"/>
          <a:lstStyle/>
          <a:p>
            <a:pPr marL="0" indent="0" algn="ctr">
              <a:buNone/>
            </a:pPr>
            <a:r>
              <a:rPr lang="en-US" sz="1400" dirty="0">
                <a:solidFill>
                  <a:srgbClr val="57606A"/>
                </a:solidFill>
                <a:latin typeface="Calibri" pitchFamily="34" charset="0"/>
                <a:ea typeface="Calibri" pitchFamily="34" charset="-122"/>
                <a:cs typeface="Calibri" pitchFamily="34" charset="-120"/>
              </a:rPr>
              <a:t>Week 3: strtok() parser</a:t>
            </a:r>
            <a:endParaRPr lang="en-US" sz="1400" dirty="0"/>
          </a:p>
        </p:txBody>
      </p:sp>
      <p:sp>
        <p:nvSpPr>
          <p:cNvPr id="14" name="Shape 12"/>
          <p:cNvSpPr/>
          <p:nvPr/>
        </p:nvSpPr>
        <p:spPr>
          <a:xfrm>
            <a:off x="10204704" y="1993392"/>
            <a:ext cx="310896" cy="310896"/>
          </a:xfrm>
          <a:prstGeom prst="ellipse">
            <a:avLst/>
          </a:prstGeom>
          <a:solidFill>
            <a:srgbClr val="1A7F37"/>
          </a:solidFill>
          <a:ln w="25400">
            <a:solidFill>
              <a:srgbClr val="FFFFFF"/>
            </a:solidFill>
            <a:prstDash val="solid"/>
          </a:ln>
        </p:spPr>
        <p:txBody>
          <a:bodyPr/>
          <a:lstStyle/>
          <a:p>
            <a:endParaRPr lang="en-IN"/>
          </a:p>
        </p:txBody>
      </p:sp>
      <p:sp>
        <p:nvSpPr>
          <p:cNvPr id="15" name="Text 13"/>
          <p:cNvSpPr txBox="1"/>
          <p:nvPr/>
        </p:nvSpPr>
        <p:spPr>
          <a:xfrm>
            <a:off x="9079992" y="1417320"/>
            <a:ext cx="2560320" cy="365760"/>
          </a:xfrm>
          <a:prstGeom prst="rect">
            <a:avLst/>
          </a:prstGeom>
          <a:noFill/>
          <a:ln/>
        </p:spPr>
        <p:txBody>
          <a:bodyPr wrap="square" lIns="0" tIns="0" rIns="0" bIns="0" rtlCol="0" anchor="ctr"/>
          <a:lstStyle/>
          <a:p>
            <a:pPr marL="0" indent="0" algn="ctr">
              <a:buNone/>
            </a:pPr>
            <a:r>
              <a:rPr lang="en-US" sz="1500" b="1" dirty="0">
                <a:solidFill>
                  <a:srgbClr val="1F2328"/>
                </a:solidFill>
                <a:latin typeface="Calibri" pitchFamily="34" charset="0"/>
                <a:ea typeface="Calibri" pitchFamily="34" charset="-122"/>
                <a:cs typeface="Calibri" pitchFamily="34" charset="-120"/>
              </a:rPr>
              <a:t>16 Sep 2026</a:t>
            </a:r>
            <a:endParaRPr lang="en-US" sz="1500" dirty="0"/>
          </a:p>
        </p:txBody>
      </p:sp>
      <p:sp>
        <p:nvSpPr>
          <p:cNvPr id="16" name="Text 14"/>
          <p:cNvSpPr txBox="1"/>
          <p:nvPr/>
        </p:nvSpPr>
        <p:spPr>
          <a:xfrm>
            <a:off x="9079992" y="2468880"/>
            <a:ext cx="2560320" cy="731520"/>
          </a:xfrm>
          <a:prstGeom prst="rect">
            <a:avLst/>
          </a:prstGeom>
          <a:noFill/>
          <a:ln/>
        </p:spPr>
        <p:txBody>
          <a:bodyPr wrap="square" lIns="0" tIns="0" rIns="0" bIns="0" rtlCol="0" anchor="t"/>
          <a:lstStyle/>
          <a:p>
            <a:pPr marL="0" indent="0" algn="ctr">
              <a:buNone/>
            </a:pPr>
            <a:r>
              <a:rPr lang="en-US" sz="1400" dirty="0">
                <a:solidFill>
                  <a:srgbClr val="57606A"/>
                </a:solidFill>
                <a:latin typeface="Calibri" pitchFamily="34" charset="0"/>
                <a:ea typeface="Calibri" pitchFamily="34" charset="-122"/>
                <a:cs typeface="Calibri" pitchFamily="34" charset="-120"/>
              </a:rPr>
              <a:t>Weeks 4–6: processes, built-ins, pipes and IPC</a:t>
            </a:r>
            <a:endParaRPr lang="en-US" sz="1400" dirty="0"/>
          </a:p>
        </p:txBody>
      </p:sp>
      <p:pic>
        <p:nvPicPr>
          <p:cNvPr id="17" name="Image 0" descr="git log of subjects/OSSP showing four commits from 11 Aug to 16 Sep 2026"/>
          <p:cNvPicPr>
            <a:picLocks noChangeAspect="1"/>
          </p:cNvPicPr>
          <p:nvPr/>
        </p:nvPicPr>
        <p:blipFill>
          <a:blip r:embed="rId3"/>
          <a:stretch>
            <a:fillRect/>
          </a:stretch>
        </p:blipFill>
        <p:spPr>
          <a:xfrm>
            <a:off x="1985310" y="3520440"/>
            <a:ext cx="8190899" cy="21945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972800" cy="274320"/>
          </a:xfrm>
          <a:prstGeom prst="rect">
            <a:avLst/>
          </a:prstGeom>
          <a:noFill/>
          <a:ln/>
        </p:spPr>
        <p:txBody>
          <a:bodyPr wrap="square" lIns="0" tIns="0" rIns="0" bIns="0" rtlCol="0" anchor="ctr"/>
          <a:lstStyle/>
          <a:p>
            <a:pPr marL="0" indent="0">
              <a:buNone/>
            </a:pPr>
            <a:r>
              <a:rPr lang="en-US" sz="1200" b="1" kern="0" spc="300" dirty="0">
                <a:solidFill>
                  <a:srgbClr val="3FB950"/>
                </a:solidFill>
                <a:latin typeface="Calibri" pitchFamily="34" charset="0"/>
                <a:ea typeface="Calibri" pitchFamily="34" charset="-122"/>
                <a:cs typeface="Calibri" pitchFamily="34" charset="-120"/>
              </a:rPr>
              <a:t>NEXT</a:t>
            </a:r>
            <a:endParaRPr lang="en-US" sz="1200" dirty="0"/>
          </a:p>
        </p:txBody>
      </p:sp>
      <p:sp>
        <p:nvSpPr>
          <p:cNvPr id="3" name="Text 1"/>
          <p:cNvSpPr txBox="1"/>
          <p:nvPr/>
        </p:nvSpPr>
        <p:spPr>
          <a:xfrm>
            <a:off x="548640" y="731520"/>
            <a:ext cx="1097280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What's left in the syllabus</a:t>
            </a:r>
            <a:endParaRPr lang="en-US" sz="3400" dirty="0"/>
          </a:p>
        </p:txBody>
      </p:sp>
      <p:sp>
        <p:nvSpPr>
          <p:cNvPr id="4" name="Shape 2"/>
          <p:cNvSpPr/>
          <p:nvPr/>
        </p:nvSpPr>
        <p:spPr>
          <a:xfrm>
            <a:off x="548640" y="1828800"/>
            <a:ext cx="2606040" cy="2926080"/>
          </a:xfrm>
          <a:prstGeom prst="roundRect">
            <a:avLst>
              <a:gd name="adj" fmla="val 3509"/>
            </a:avLst>
          </a:prstGeom>
          <a:solidFill>
            <a:srgbClr val="161B22"/>
          </a:solidFill>
          <a:ln w="12700">
            <a:solidFill>
              <a:srgbClr val="30363D"/>
            </a:solidFill>
            <a:prstDash val="solid"/>
          </a:ln>
        </p:spPr>
        <p:txBody>
          <a:bodyPr/>
          <a:lstStyle/>
          <a:p>
            <a:endParaRPr lang="en-IN"/>
          </a:p>
        </p:txBody>
      </p:sp>
      <p:sp>
        <p:nvSpPr>
          <p:cNvPr id="5" name="Text 3"/>
          <p:cNvSpPr txBox="1"/>
          <p:nvPr/>
        </p:nvSpPr>
        <p:spPr>
          <a:xfrm>
            <a:off x="822960" y="2103120"/>
            <a:ext cx="670560" cy="347472"/>
          </a:xfrm>
          <a:prstGeom prst="roundRect">
            <a:avLst>
              <a:gd name="adj" fmla="val 15789"/>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CO-3</a:t>
            </a:r>
            <a:endParaRPr lang="en-US" sz="1300" dirty="0"/>
          </a:p>
        </p:txBody>
      </p:sp>
      <p:sp>
        <p:nvSpPr>
          <p:cNvPr id="6" name="Text 4"/>
          <p:cNvSpPr txBox="1"/>
          <p:nvPr/>
        </p:nvSpPr>
        <p:spPr>
          <a:xfrm>
            <a:off x="822960" y="2651760"/>
            <a:ext cx="2103120" cy="73152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Signals and job control</a:t>
            </a:r>
            <a:endParaRPr lang="en-US" sz="1900" dirty="0"/>
          </a:p>
        </p:txBody>
      </p:sp>
      <p:sp>
        <p:nvSpPr>
          <p:cNvPr id="7" name="Text 5"/>
          <p:cNvSpPr txBox="1"/>
          <p:nvPr/>
        </p:nvSpPr>
        <p:spPr>
          <a:xfrm>
            <a:off x="822960" y="3474720"/>
            <a:ext cx="2103120" cy="1143000"/>
          </a:xfrm>
          <a:prstGeom prst="rect">
            <a:avLst/>
          </a:prstGeom>
          <a:noFill/>
          <a:ln/>
        </p:spPr>
        <p:txBody>
          <a:bodyPr wrap="square" lIns="0" tIns="0" rIns="0" bIns="0" rtlCol="0" anchor="t"/>
          <a:lstStyle/>
          <a:p>
            <a:pPr marL="0" indent="0">
              <a:buNone/>
            </a:pPr>
            <a:r>
              <a:rPr lang="en-US" sz="1400" dirty="0">
                <a:solidFill>
                  <a:srgbClr val="C9D1D9"/>
                </a:solidFill>
                <a:latin typeface="Calibri" pitchFamily="34" charset="0"/>
                <a:ea typeface="Calibri" pitchFamily="34" charset="-122"/>
                <a:cs typeface="Calibri" pitchFamily="34" charset="-120"/>
              </a:rPr>
              <a:t>Signals, named pipes (FIFOs), process groups, sessions</a:t>
            </a:r>
            <a:endParaRPr lang="en-US" sz="1400" dirty="0"/>
          </a:p>
        </p:txBody>
      </p:sp>
      <p:sp>
        <p:nvSpPr>
          <p:cNvPr id="8" name="Shape 6"/>
          <p:cNvSpPr/>
          <p:nvPr/>
        </p:nvSpPr>
        <p:spPr>
          <a:xfrm>
            <a:off x="3383280" y="1828800"/>
            <a:ext cx="2606040" cy="2926080"/>
          </a:xfrm>
          <a:prstGeom prst="roundRect">
            <a:avLst>
              <a:gd name="adj" fmla="val 3509"/>
            </a:avLst>
          </a:prstGeom>
          <a:solidFill>
            <a:srgbClr val="161B22"/>
          </a:solidFill>
          <a:ln w="12700">
            <a:solidFill>
              <a:srgbClr val="30363D"/>
            </a:solidFill>
            <a:prstDash val="solid"/>
          </a:ln>
        </p:spPr>
        <p:txBody>
          <a:bodyPr/>
          <a:lstStyle/>
          <a:p>
            <a:endParaRPr lang="en-IN"/>
          </a:p>
        </p:txBody>
      </p:sp>
      <p:sp>
        <p:nvSpPr>
          <p:cNvPr id="9" name="Text 7"/>
          <p:cNvSpPr txBox="1"/>
          <p:nvPr/>
        </p:nvSpPr>
        <p:spPr>
          <a:xfrm>
            <a:off x="3657600" y="2103120"/>
            <a:ext cx="670560" cy="347472"/>
          </a:xfrm>
          <a:prstGeom prst="roundRect">
            <a:avLst>
              <a:gd name="adj" fmla="val 15789"/>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CO-4</a:t>
            </a:r>
            <a:endParaRPr lang="en-US" sz="1300" dirty="0"/>
          </a:p>
        </p:txBody>
      </p:sp>
      <p:sp>
        <p:nvSpPr>
          <p:cNvPr id="10" name="Text 8"/>
          <p:cNvSpPr txBox="1"/>
          <p:nvPr/>
        </p:nvSpPr>
        <p:spPr>
          <a:xfrm>
            <a:off x="3657600" y="2651760"/>
            <a:ext cx="2103120" cy="73152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Memory</a:t>
            </a:r>
            <a:endParaRPr lang="en-US" sz="1900" dirty="0"/>
          </a:p>
        </p:txBody>
      </p:sp>
      <p:sp>
        <p:nvSpPr>
          <p:cNvPr id="11" name="Text 9"/>
          <p:cNvSpPr txBox="1"/>
          <p:nvPr/>
        </p:nvSpPr>
        <p:spPr>
          <a:xfrm>
            <a:off x="3657600" y="3474720"/>
            <a:ext cx="2103120" cy="1143000"/>
          </a:xfrm>
          <a:prstGeom prst="rect">
            <a:avLst/>
          </a:prstGeom>
          <a:noFill/>
          <a:ln/>
        </p:spPr>
        <p:txBody>
          <a:bodyPr wrap="square" lIns="0" tIns="0" rIns="0" bIns="0" rtlCol="0" anchor="t"/>
          <a:lstStyle/>
          <a:p>
            <a:pPr marL="0" indent="0">
              <a:buNone/>
            </a:pPr>
            <a:r>
              <a:rPr lang="en-US" sz="1400" dirty="0">
                <a:solidFill>
                  <a:srgbClr val="C9D1D9"/>
                </a:solidFill>
                <a:latin typeface="Calibri" pitchFamily="34" charset="0"/>
                <a:ea typeface="Calibri" pitchFamily="34" charset="-122"/>
                <a:cs typeface="Calibri" pitchFamily="34" charset="-120"/>
              </a:rPr>
              <a:t>Virtual memory, mmap, page faults, memory debugging</a:t>
            </a:r>
            <a:endParaRPr lang="en-US" sz="1400" dirty="0"/>
          </a:p>
        </p:txBody>
      </p:sp>
      <p:sp>
        <p:nvSpPr>
          <p:cNvPr id="12" name="Shape 10"/>
          <p:cNvSpPr/>
          <p:nvPr/>
        </p:nvSpPr>
        <p:spPr>
          <a:xfrm>
            <a:off x="6217920" y="1828800"/>
            <a:ext cx="2606040" cy="2926080"/>
          </a:xfrm>
          <a:prstGeom prst="roundRect">
            <a:avLst>
              <a:gd name="adj" fmla="val 3509"/>
            </a:avLst>
          </a:prstGeom>
          <a:solidFill>
            <a:srgbClr val="161B22"/>
          </a:solidFill>
          <a:ln w="12700">
            <a:solidFill>
              <a:srgbClr val="30363D"/>
            </a:solidFill>
            <a:prstDash val="solid"/>
          </a:ln>
        </p:spPr>
        <p:txBody>
          <a:bodyPr/>
          <a:lstStyle/>
          <a:p>
            <a:endParaRPr lang="en-IN"/>
          </a:p>
        </p:txBody>
      </p:sp>
      <p:sp>
        <p:nvSpPr>
          <p:cNvPr id="13" name="Text 11"/>
          <p:cNvSpPr txBox="1"/>
          <p:nvPr/>
        </p:nvSpPr>
        <p:spPr>
          <a:xfrm>
            <a:off x="6492240" y="2103120"/>
            <a:ext cx="670560" cy="347472"/>
          </a:xfrm>
          <a:prstGeom prst="roundRect">
            <a:avLst>
              <a:gd name="adj" fmla="val 15789"/>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CO-5</a:t>
            </a:r>
            <a:endParaRPr lang="en-US" sz="1300" dirty="0"/>
          </a:p>
        </p:txBody>
      </p:sp>
      <p:sp>
        <p:nvSpPr>
          <p:cNvPr id="14" name="Text 12"/>
          <p:cNvSpPr txBox="1"/>
          <p:nvPr/>
        </p:nvSpPr>
        <p:spPr>
          <a:xfrm>
            <a:off x="6492240" y="2651760"/>
            <a:ext cx="2103120" cy="73152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Files and I/O</a:t>
            </a:r>
            <a:endParaRPr lang="en-US" sz="1900" dirty="0"/>
          </a:p>
        </p:txBody>
      </p:sp>
      <p:sp>
        <p:nvSpPr>
          <p:cNvPr id="15" name="Text 13"/>
          <p:cNvSpPr txBox="1"/>
          <p:nvPr/>
        </p:nvSpPr>
        <p:spPr>
          <a:xfrm>
            <a:off x="6492240" y="3474720"/>
            <a:ext cx="2103120" cy="1143000"/>
          </a:xfrm>
          <a:prstGeom prst="rect">
            <a:avLst/>
          </a:prstGeom>
          <a:noFill/>
          <a:ln/>
        </p:spPr>
        <p:txBody>
          <a:bodyPr wrap="square" lIns="0" tIns="0" rIns="0" bIns="0" rtlCol="0" anchor="t"/>
          <a:lstStyle/>
          <a:p>
            <a:pPr marL="0" indent="0">
              <a:buNone/>
            </a:pPr>
            <a:r>
              <a:rPr lang="en-US" sz="1400" dirty="0">
                <a:solidFill>
                  <a:srgbClr val="C9D1D9"/>
                </a:solidFill>
                <a:latin typeface="Calibri" pitchFamily="34" charset="0"/>
                <a:ea typeface="Calibri" pitchFamily="34" charset="-122"/>
                <a:cs typeface="Calibri" pitchFamily="34" charset="-120"/>
              </a:rPr>
              <a:t>File descriptors, open/read/write/close, directories, buffered I/O</a:t>
            </a:r>
            <a:endParaRPr lang="en-US" sz="1400" dirty="0"/>
          </a:p>
        </p:txBody>
      </p:sp>
      <p:sp>
        <p:nvSpPr>
          <p:cNvPr id="16" name="Shape 14"/>
          <p:cNvSpPr/>
          <p:nvPr/>
        </p:nvSpPr>
        <p:spPr>
          <a:xfrm>
            <a:off x="9052560" y="1828800"/>
            <a:ext cx="2606040" cy="2926080"/>
          </a:xfrm>
          <a:prstGeom prst="roundRect">
            <a:avLst>
              <a:gd name="adj" fmla="val 3509"/>
            </a:avLst>
          </a:prstGeom>
          <a:solidFill>
            <a:srgbClr val="161B22"/>
          </a:solidFill>
          <a:ln w="12700">
            <a:solidFill>
              <a:srgbClr val="30363D"/>
            </a:solidFill>
            <a:prstDash val="solid"/>
          </a:ln>
        </p:spPr>
        <p:txBody>
          <a:bodyPr/>
          <a:lstStyle/>
          <a:p>
            <a:endParaRPr lang="en-IN"/>
          </a:p>
        </p:txBody>
      </p:sp>
      <p:sp>
        <p:nvSpPr>
          <p:cNvPr id="17" name="Text 15"/>
          <p:cNvSpPr txBox="1"/>
          <p:nvPr/>
        </p:nvSpPr>
        <p:spPr>
          <a:xfrm>
            <a:off x="9326880" y="2103120"/>
            <a:ext cx="670560" cy="347472"/>
          </a:xfrm>
          <a:prstGeom prst="roundRect">
            <a:avLst>
              <a:gd name="adj" fmla="val 15789"/>
            </a:avLst>
          </a:prstGeom>
          <a:solidFill>
            <a:srgbClr val="161B22"/>
          </a:solidFill>
          <a:ln w="9525">
            <a:solidFill>
              <a:srgbClr val="30363D"/>
            </a:solidFill>
          </a:ln>
        </p:spPr>
        <p:txBody>
          <a:bodyPr wrap="square" lIns="0" tIns="0" rIns="0" bIns="0" rtlCol="0" anchor="ctr"/>
          <a:lstStyle/>
          <a:p>
            <a:pPr marL="0" indent="0" algn="ctr">
              <a:buNone/>
            </a:pPr>
            <a:r>
              <a:rPr lang="en-US" sz="1300" b="1" dirty="0">
                <a:solidFill>
                  <a:srgbClr val="3FB950"/>
                </a:solidFill>
                <a:latin typeface="Courier New" pitchFamily="34" charset="0"/>
                <a:ea typeface="Courier New" pitchFamily="34" charset="-122"/>
                <a:cs typeface="Courier New" pitchFamily="34" charset="-120"/>
              </a:rPr>
              <a:t>CO-6</a:t>
            </a:r>
            <a:endParaRPr lang="en-US" sz="1300" dirty="0"/>
          </a:p>
        </p:txBody>
      </p:sp>
      <p:sp>
        <p:nvSpPr>
          <p:cNvPr id="18" name="Text 16"/>
          <p:cNvSpPr txBox="1"/>
          <p:nvPr/>
        </p:nvSpPr>
        <p:spPr>
          <a:xfrm>
            <a:off x="9326880" y="2651760"/>
            <a:ext cx="2103120" cy="731520"/>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Threads and sync</a:t>
            </a:r>
            <a:endParaRPr lang="en-US" sz="1900" dirty="0"/>
          </a:p>
        </p:txBody>
      </p:sp>
      <p:sp>
        <p:nvSpPr>
          <p:cNvPr id="19" name="Text 17"/>
          <p:cNvSpPr txBox="1"/>
          <p:nvPr/>
        </p:nvSpPr>
        <p:spPr>
          <a:xfrm>
            <a:off x="9326880" y="3474720"/>
            <a:ext cx="2103120" cy="1143000"/>
          </a:xfrm>
          <a:prstGeom prst="rect">
            <a:avLst/>
          </a:prstGeom>
          <a:noFill/>
          <a:ln/>
        </p:spPr>
        <p:txBody>
          <a:bodyPr wrap="square" lIns="0" tIns="0" rIns="0" bIns="0" rtlCol="0" anchor="t"/>
          <a:lstStyle/>
          <a:p>
            <a:pPr marL="0" indent="0">
              <a:buNone/>
            </a:pPr>
            <a:r>
              <a:rPr lang="en-US" sz="1400" dirty="0">
                <a:solidFill>
                  <a:srgbClr val="C9D1D9"/>
                </a:solidFill>
                <a:latin typeface="Calibri" pitchFamily="34" charset="0"/>
                <a:ea typeface="Calibri" pitchFamily="34" charset="-122"/>
                <a:cs typeface="Calibri" pitchFamily="34" charset="-120"/>
              </a:rPr>
              <a:t>POSIX threads, mutexes, condition variables, semaphores, deadlock</a:t>
            </a:r>
            <a:endParaRPr lang="en-US" sz="1400" dirty="0"/>
          </a:p>
        </p:txBody>
      </p:sp>
      <p:sp>
        <p:nvSpPr>
          <p:cNvPr id="20" name="Text 18"/>
          <p:cNvSpPr txBox="1"/>
          <p:nvPr/>
        </p:nvSpPr>
        <p:spPr>
          <a:xfrm>
            <a:off x="548640" y="5166360"/>
            <a:ext cx="10972800" cy="411480"/>
          </a:xfrm>
          <a:prstGeom prst="rect">
            <a:avLst/>
          </a:prstGeom>
          <a:noFill/>
          <a:ln/>
        </p:spPr>
        <p:txBody>
          <a:bodyPr wrap="square" lIns="0" tIns="0" rIns="0" bIns="0" rtlCol="0" anchor="ctr"/>
          <a:lstStyle/>
          <a:p>
            <a:pPr marL="0" indent="0">
              <a:buNone/>
            </a:pPr>
            <a:r>
              <a:rPr lang="en-US" sz="1800" dirty="0">
                <a:solidFill>
                  <a:srgbClr val="C9D1D9"/>
                </a:solidFill>
                <a:latin typeface="Calibri" pitchFamily="34" charset="0"/>
                <a:ea typeface="Calibri" pitchFamily="34" charset="-122"/>
                <a:cs typeface="Calibri" pitchFamily="34" charset="-120"/>
              </a:rPr>
              <a:t>Week 7 starts with the next handbook chapter.</a:t>
            </a:r>
            <a:endParaRPr lang="en-US" sz="1800" dirty="0"/>
          </a:p>
        </p:txBody>
      </p:sp>
      <p:sp>
        <p:nvSpPr>
          <p:cNvPr id="21" name="Text 19"/>
          <p:cNvSpPr txBox="1"/>
          <p:nvPr/>
        </p:nvSpPr>
        <p:spPr>
          <a:xfrm>
            <a:off x="548640" y="5989320"/>
            <a:ext cx="4572000" cy="365760"/>
          </a:xfrm>
          <a:prstGeom prst="rect">
            <a:avLst/>
          </a:prstGeom>
          <a:noFill/>
          <a:ln/>
        </p:spPr>
        <p:txBody>
          <a:bodyPr wrap="square" lIns="0" tIns="0" rIns="0" bIns="0" rtlCol="0" anchor="ctr"/>
          <a:lstStyle/>
          <a:p>
            <a:pPr marL="0" indent="0">
              <a:buNone/>
            </a:pPr>
            <a:r>
              <a:rPr lang="en-US" sz="1600" b="1" dirty="0">
                <a:solidFill>
                  <a:srgbClr val="3FB950"/>
                </a:solidFill>
                <a:latin typeface="Courier New" pitchFamily="34" charset="0"/>
                <a:ea typeface="Courier New" pitchFamily="34" charset="-122"/>
                <a:cs typeface="Courier New" pitchFamily="34" charset="-120"/>
              </a:rPr>
              <a:t>myshell&gt; exit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marL="0" indent="0">
              <a:buNone/>
            </a:pPr>
            <a:r>
              <a:rPr lang="en-US" sz="1200" b="1" kern="0" spc="300" dirty="0">
                <a:solidFill>
                  <a:srgbClr val="1A7F37"/>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548640" y="594360"/>
            <a:ext cx="11064240" cy="640080"/>
          </a:xfrm>
          <a:prstGeom prst="rect">
            <a:avLst/>
          </a:prstGeom>
          <a:noFill/>
          <a:ln/>
        </p:spPr>
        <p:txBody>
          <a:bodyPr wrap="square" lIns="0" tIns="0" rIns="0" bIns="0" rtlCol="0" anchor="ctr"/>
          <a:lstStyle/>
          <a:p>
            <a:pPr marL="0" indent="0">
              <a:buNone/>
            </a:pPr>
            <a:r>
              <a:rPr lang="en-US" sz="3200" b="1" dirty="0">
                <a:solidFill>
                  <a:srgbClr val="1F2328"/>
                </a:solidFill>
                <a:latin typeface="Calibri" pitchFamily="34" charset="0"/>
                <a:ea typeface="Calibri" pitchFamily="34" charset="-122"/>
                <a:cs typeface="Calibri" pitchFamily="34" charset="-120"/>
              </a:rPr>
              <a:t>Test logs: Weeks 4, 5 and 6</a:t>
            </a:r>
            <a:endParaRPr lang="en-US" sz="3200" dirty="0"/>
          </a:p>
        </p:txBody>
      </p:sp>
      <p:pic>
        <p:nvPicPr>
          <p:cNvPr id="4" name="Image 0" descr="make test output. Week 4 suite: 21 passed, 0 failed"/>
          <p:cNvPicPr>
            <a:picLocks noChangeAspect="1"/>
          </p:cNvPicPr>
          <p:nvPr/>
        </p:nvPicPr>
        <p:blipFill>
          <a:blip r:embed="rId3"/>
          <a:stretch>
            <a:fillRect/>
          </a:stretch>
        </p:blipFill>
        <p:spPr>
          <a:xfrm>
            <a:off x="548640" y="1280160"/>
            <a:ext cx="3707645" cy="5349240"/>
          </a:xfrm>
          <a:prstGeom prst="rect">
            <a:avLst/>
          </a:prstGeom>
        </p:spPr>
      </p:pic>
      <p:pic>
        <p:nvPicPr>
          <p:cNvPr id="5" name="Image 1" descr="make test output. Week 5 suite: 32 passed, 0 failed"/>
          <p:cNvPicPr>
            <a:picLocks noChangeAspect="1"/>
          </p:cNvPicPr>
          <p:nvPr/>
        </p:nvPicPr>
        <p:blipFill>
          <a:blip r:embed="rId4"/>
          <a:stretch>
            <a:fillRect/>
          </a:stretch>
        </p:blipFill>
        <p:spPr>
          <a:xfrm>
            <a:off x="4576325" y="1280160"/>
            <a:ext cx="2855381" cy="5349240"/>
          </a:xfrm>
          <a:prstGeom prst="rect">
            <a:avLst/>
          </a:prstGeom>
        </p:spPr>
      </p:pic>
      <p:pic>
        <p:nvPicPr>
          <p:cNvPr id="6" name="Image 2" descr="make test output. Week 6 suite: 23 passed, 0 failed"/>
          <p:cNvPicPr>
            <a:picLocks noChangeAspect="1"/>
          </p:cNvPicPr>
          <p:nvPr/>
        </p:nvPicPr>
        <p:blipFill>
          <a:blip r:embed="rId5"/>
          <a:stretch>
            <a:fillRect/>
          </a:stretch>
        </p:blipFill>
        <p:spPr>
          <a:xfrm>
            <a:off x="7751746" y="1280160"/>
            <a:ext cx="3484270" cy="5349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1893</Words>
  <Application>Microsoft Office PowerPoint</Application>
  <PresentationFormat>Widescreen</PresentationFormat>
  <Paragraphs>240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ShellForge: OSSP Weeks 1-6</dc:title>
  <dc:subject>PptxGenJS Presentation</dc:subject>
  <dc:creator>PptxGenJS</dc:creator>
  <cp:lastModifiedBy>Lucky 994</cp:lastModifiedBy>
  <cp:revision>2</cp:revision>
  <dcterms:created xsi:type="dcterms:W3CDTF">2026-09-18T08:40:44Z</dcterms:created>
  <dcterms:modified xsi:type="dcterms:W3CDTF">2026-09-24T04:34:56Z</dcterms:modified>
</cp:coreProperties>
</file>